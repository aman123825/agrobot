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481328"/>
            <a:ext cx="5120640" cy="355031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" y="1481328"/>
            <a:ext cx="13716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83080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8BFF"/>
                </a:solidFill>
                <a:latin typeface="Segoe UI"/>
              </a:rPr>
              <a:t>IDEAS KICKOFF  ·  IIT BOMBAY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12848"/>
            <a:ext cx="576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600" b="1">
                <a:solidFill>
                  <a:srgbClr val="F2F5FF"/>
                </a:solidFill>
                <a:latin typeface="Segoe UI"/>
              </a:rPr>
              <a:t>AgriRover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0040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8E9BC4"/>
                </a:solidFill>
                <a:latin typeface="Segoe UI"/>
              </a:rPr>
              <a:t>A production-intent agricultural scouting rover: dual-controller firmware, on-device AI inference, and a fully parametric CAD build.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480560"/>
            <a:ext cx="1737360" cy="1060704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480560"/>
            <a:ext cx="38100" cy="1060704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4636008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3D8BFF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5102352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E9BC4"/>
                </a:solidFill>
                <a:latin typeface="Segoe UI"/>
              </a:rPr>
              <a:t>CONTROLLERS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2" y="4480560"/>
            <a:ext cx="1737360" cy="1060704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42032" y="4480560"/>
            <a:ext cx="38100" cy="1060704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1488" y="4636008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3D8BFF"/>
                </a:solidFill>
                <a:latin typeface="Consolas"/>
              </a:rPr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5102352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E9BC4"/>
                </a:solidFill>
                <a:latin typeface="Segoe UI"/>
              </a:rPr>
              <a:t>CAD PARTS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25696" y="4480560"/>
            <a:ext cx="1737360" cy="1060704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25696" y="4480560"/>
            <a:ext cx="38100" cy="1060704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4636008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3D8BFF"/>
                </a:solidFill>
                <a:latin typeface="Consolas"/>
              </a:rPr>
              <a:t>12,137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5102352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8E9BC4"/>
                </a:solidFill>
                <a:latin typeface="Segoe UI"/>
              </a:rPr>
              <a:t>LINES OF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8704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8E9BC4"/>
                </a:solidFill>
                <a:latin typeface="Consolas"/>
              </a:rPr>
              <a:t>Vivek Kumar Gupta   ·   Shreyash Wagh   ·   Hitanshu Kapadiya   ·   Pritish Nandy</a:t>
            </a:r>
          </a:p>
        </p:txBody>
      </p:sp>
      <p:sp>
        <p:nvSpPr>
          <p:cNvPr id="21" name="footer-page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01/10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WHAT EXISTS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2F5FF"/>
                </a:solidFill>
                <a:latin typeface="Segoe UI"/>
              </a:rPr>
              <a:t>A built system, not a concept sketch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27632"/>
            <a:ext cx="13716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w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" y="197510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2F5FF"/>
                </a:solidFill>
                <a:latin typeface="Segoe UI"/>
              </a:rPr>
              <a:t>Shipped in this repository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551176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2F5FF"/>
                </a:solidFill>
                <a:latin typeface="Segoe UI"/>
              </a:rPr>
              <a:t>ESP32 firmware (PlatformIO + FreeRTOS) for drive, sensing, dosing and MQTT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008376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944368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2F5FF"/>
                </a:solidFill>
                <a:latin typeface="Segoe UI"/>
              </a:rPr>
              <a:t>71 Raspberry Pi Python modules: AI inference, EKF pose fusion, path planning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465576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01568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2F5FF"/>
                </a:solidFill>
                <a:latin typeface="Segoe UI"/>
              </a:rPr>
              <a:t>A ROS 2 package with sensor, drive, AI and mission nodes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922776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858768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2F5FF"/>
                </a:solidFill>
                <a:latin typeface="Segoe UI"/>
              </a:rPr>
              <a:t>Fusion 360 script that generates the whole rover to scale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379976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315968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2F5FF"/>
                </a:solidFill>
                <a:latin typeface="Segoe UI"/>
              </a:rPr>
              <a:t>11 pytest modules covering AI interfaces, navigation, data and stop logic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1965960"/>
            <a:ext cx="5074920" cy="370332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1965960"/>
            <a:ext cx="507492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2203704"/>
            <a:ext cx="4562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REPOSITORY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62432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2624328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116 C++ / Python source 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29580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95808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12,137 across firmware, pi, ros2, cad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32918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3291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11 design documents in docs/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6255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BOM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3625596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110 components + 15 gap-audit items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395935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959352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3 Colab notebooks + dataset builder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2552" y="429310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deploy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4293108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systemd, MQTT TLS, Pi hardening</a:t>
            </a:r>
          </a:p>
        </p:txBody>
      </p:sp>
      <p:sp>
        <p:nvSpPr>
          <p:cNvPr id="33" name="footer-source"/>
          <p:cNvSpPr txBox="1"/>
          <p:nvPr/>
        </p:nvSpPr>
        <p:spPr>
          <a:xfrm>
            <a:off x="658368" y="629107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E9BC4"/>
                </a:solidFill>
                <a:latin typeface="Consolas"/>
              </a:rPr>
              <a:t>SOURCE   README.md</a:t>
            </a:r>
          </a:p>
        </p:txBody>
      </p:sp>
      <p:sp>
        <p:nvSpPr>
          <p:cNvPr id="34" name="footer-page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02/10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COMMERCIAL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2F5FF"/>
                </a:solidFill>
                <a:latin typeface="Segoe UI"/>
              </a:rPr>
              <a:t>Tomato crop-protection, Narayangaon/Junnar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27632"/>
            <a:ext cx="13716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3852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2F5FF"/>
                </a:solidFill>
                <a:latin typeface="Segoe UI"/>
              </a:rPr>
              <a:t>Weekly repeatable sentinel sample and trap read  →  count and geotag suspected problems  →  compare against an economic threshold  →  trigger a full-row scan only when risk justifies it  →  agronomist-reviewed action  →  record treatment and pre-harvest interval  →  revisit and verify.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035808"/>
            <a:ext cx="10881360" cy="1270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31012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2F5FF"/>
                </a:solidFill>
                <a:latin typeface="Segoe UI"/>
              </a:rPr>
              <a:t>Why this cluster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3813047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749039"/>
            <a:ext cx="470001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F5FF"/>
                </a:solidFill>
                <a:latin typeface="Segoe UI"/>
              </a:rPr>
              <a:t>2023-24 tomato area: Nashik 22,040 ha, Pune 4,772 ha, Ahmednagar 4,324 ha, Solapur 4,072 ha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471415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407407"/>
            <a:ext cx="470001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F5FF"/>
                </a:solidFill>
                <a:latin typeface="Segoe UI"/>
              </a:rPr>
              <a:t>KVK Narayangaon provides local agronomy; a tomato FPO aggregates the route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129783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065775"/>
            <a:ext cx="4700016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F5FF"/>
                </a:solidFill>
                <a:latin typeface="Segoe UI"/>
              </a:rPr>
              <a:t>Concentration dense enough to test operating economics, not just technology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310128"/>
            <a:ext cx="5074920" cy="237744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3310128"/>
            <a:ext cx="507492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3547872"/>
            <a:ext cx="4562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Segoe UI"/>
              </a:rPr>
              <a:t>SCOPE LIMITS STATED IN THE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39684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pilot 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3968496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pesticide application stays 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430225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NPK probe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4302252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not used to prescribe fertilizer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463600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500 ml tank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4636008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spot treatment only, not full-field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496976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496976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not a universal farm robot</a:t>
            </a:r>
          </a:p>
        </p:txBody>
      </p:sp>
      <p:sp>
        <p:nvSpPr>
          <p:cNvPr id="26" name="footer-source"/>
          <p:cNvSpPr txBox="1"/>
          <p:nvPr/>
        </p:nvSpPr>
        <p:spPr>
          <a:xfrm>
            <a:off x="658368" y="629107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E9BC4"/>
                </a:solidFill>
                <a:latin typeface="Consolas"/>
              </a:rPr>
              <a:t>SOURCE   research/AGRIROVER_MARKET_ADOPTION_RESEARCH.md   README.md</a:t>
            </a:r>
          </a:p>
        </p:txBody>
      </p:sp>
      <p:sp>
        <p:nvSpPr>
          <p:cNvPr id="27" name="footer-page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03/10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2F5FF"/>
                </a:solidFill>
                <a:latin typeface="Segoe UI"/>
              </a:rPr>
              <a:t>Two controllers, split by timing guarantee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27632"/>
            <a:ext cx="13716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5257800" cy="278892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52578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03704"/>
            <a:ext cx="47457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REAL-TIME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2432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2624328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ESP32 DevKit V1 (WROOM-32)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80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2958084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FreeRTOS, both cores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core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3291840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driveTask - motor PWM, obstacle reaction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255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core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3625596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sensorTask - NPK, dosing, MQTT publish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5935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signalling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3959352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FreeRTOS EventGroup, not volatile bool</a:t>
            </a:r>
          </a:p>
        </p:txBody>
      </p:sp>
      <p:pic>
        <p:nvPicPr>
          <p:cNvPr id="19" name="Picture 18" descr="icw_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157984"/>
            <a:ext cx="310896" cy="31089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446520" y="1965960"/>
            <a:ext cx="5074920" cy="278892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1965960"/>
            <a:ext cx="507492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2203704"/>
            <a:ext cx="4562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INFERENCE TIER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262432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2624328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Raspberry Pi 5 + Hailo-8 AI HAT+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29580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throughput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295808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26 TOPS accelerator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2918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fallback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3291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Pi 4 + Coral USB Edge TPU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36255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workload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625596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obstacle, weed, leaf-disease paths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2552" y="395935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3959352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evidence capture, dashboard, OTA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29200"/>
            <a:ext cx="10561320" cy="658368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029200"/>
            <a:ext cx="38100" cy="658368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175504"/>
            <a:ext cx="10058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F2F5FF"/>
                </a:solidFill>
                <a:latin typeface="Segoe UI"/>
              </a:rPr>
              <a:t>Command link is HMAC-authenticated and encrypted   ·   heartbeat timeout 1500 ms halts the rover   ·   10 s lockout after repeated auth failures</a:t>
            </a:r>
          </a:p>
        </p:txBody>
      </p:sp>
      <p:sp>
        <p:nvSpPr>
          <p:cNvPr id="36" name="footer-source"/>
          <p:cNvSpPr txBox="1"/>
          <p:nvPr/>
        </p:nvSpPr>
        <p:spPr>
          <a:xfrm>
            <a:off x="658368" y="629107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E9BC4"/>
                </a:solidFill>
                <a:latin typeface="Consolas"/>
              </a:rPr>
              <a:t>SOURCE   README.md   firmware/include/config.h</a:t>
            </a:r>
          </a:p>
        </p:txBody>
      </p:sp>
      <p:sp>
        <p:nvSpPr>
          <p:cNvPr id="37" name="footer-page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04/10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FIRMWARE · ACTUATION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2F5FF"/>
                </a:solidFill>
                <a:latin typeface="Segoe UI"/>
              </a:rPr>
              <a:t>Drive and servo PWM on separate timers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27632"/>
            <a:ext cx="13716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5257800" cy="228600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52578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03704"/>
            <a:ext cx="47457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TANK DRIVE - 2X BTS7960 (IBT-2)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2432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GPIO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2624328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19 / 21 left, 22 / 23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80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2958084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PWM on RPWM fwd, LPWM rev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enable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3291840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R_EN + L_EN tied high to 3.3 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255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PWM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3625596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LEDC 1 kHz, 8-bit, duty 0-255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1965960"/>
            <a:ext cx="5074920" cy="228600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1965960"/>
            <a:ext cx="507492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02552" y="2203704"/>
            <a:ext cx="4562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SG90 SWEEP MOUNT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262432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GPIO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2624328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27, LEDC channel 4 → timer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29580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frame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6488" y="295808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50 Hz, 16-bit resolution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32918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3291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duty 1638 (0°) → 8192 (180°)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36255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startup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3625596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centred at 90°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526280"/>
            <a:ext cx="108813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8E9BC4"/>
                </a:solidFill>
                <a:latin typeface="Segoe UI"/>
              </a:rPr>
              <a:t>Channel 4 is deliberately on timer 2 so the servo's 20 ms frame can never collide with the 1 kHz drive PWM on timers 0 and 1. Moving from L298N to BTS7960 freed GPIO 32/33.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13892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SEQUENTIAL DOSING STATE MACHINE — MOTORS HELD STOPPED WHILE THE PROBE IS IN SOIL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532120"/>
            <a:ext cx="2048256" cy="603504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5532120"/>
            <a:ext cx="38100" cy="603504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632704"/>
            <a:ext cx="1773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F5FF"/>
                </a:solidFill>
                <a:latin typeface="Segoe UI"/>
              </a:rPr>
              <a:t>pre-soak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70448"/>
            <a:ext cx="1773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1500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79776" y="5532120"/>
            <a:ext cx="2048256" cy="603504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79776" y="5532120"/>
            <a:ext cx="38100" cy="603504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44368" y="5632704"/>
            <a:ext cx="1773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F5FF"/>
                </a:solidFill>
                <a:latin typeface="Segoe UI"/>
              </a:rPr>
              <a:t>extend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5870448"/>
            <a:ext cx="1773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4000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01184" y="5532120"/>
            <a:ext cx="2048256" cy="603504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01184" y="5532120"/>
            <a:ext cx="38100" cy="603504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65776" y="5632704"/>
            <a:ext cx="1773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F5FF"/>
                </a:solidFill>
                <a:latin typeface="Segoe UI"/>
              </a:rPr>
              <a:t>dwell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5776" y="5870448"/>
            <a:ext cx="1773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800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22592" y="5532120"/>
            <a:ext cx="2048256" cy="603504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22592" y="5532120"/>
            <a:ext cx="38100" cy="603504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87184" y="5632704"/>
            <a:ext cx="1773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F5FF"/>
                </a:solidFill>
                <a:latin typeface="Segoe UI"/>
              </a:rPr>
              <a:t>micro-dose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87184" y="5870448"/>
            <a:ext cx="1773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1500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5532120"/>
            <a:ext cx="2048256" cy="603504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5532120"/>
            <a:ext cx="38100" cy="603504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08592" y="5632704"/>
            <a:ext cx="1773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2F5FF"/>
                </a:solidFill>
                <a:latin typeface="Segoe UI"/>
              </a:rPr>
              <a:t>retract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08592" y="5870448"/>
            <a:ext cx="17739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4000 ms</a:t>
            </a:r>
          </a:p>
        </p:txBody>
      </p:sp>
      <p:sp>
        <p:nvSpPr>
          <p:cNvPr id="50" name="footer-source"/>
          <p:cNvSpPr txBox="1"/>
          <p:nvPr/>
        </p:nvSpPr>
        <p:spPr>
          <a:xfrm>
            <a:off x="658368" y="629107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E9BC4"/>
                </a:solidFill>
                <a:latin typeface="Consolas"/>
              </a:rPr>
              <a:t>SOURCE   firmware/include/pins.h   firmware/src/servo.cpp   firmware/include/config.h</a:t>
            </a:r>
          </a:p>
        </p:txBody>
      </p:sp>
      <p:sp>
        <p:nvSpPr>
          <p:cNvPr id="51" name="footer-page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05/10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MECHANICAL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2F5FF"/>
                </a:solidFill>
                <a:latin typeface="Segoe UI"/>
              </a:rPr>
              <a:t>Double-decker chassis, 320 × 450 mm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27632"/>
            <a:ext cx="13716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4937760" cy="356616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" y="2342692"/>
            <a:ext cx="4389120" cy="3175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1584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2F5FF"/>
                </a:solidFill>
                <a:latin typeface="Segoe UI"/>
              </a:rPr>
              <a:t>Top &amp; mast — GPS, camera, antenna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2415844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Z 257+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913278"/>
            <a:ext cx="4389120" cy="3175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986430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2F5FF"/>
                </a:solidFill>
                <a:latin typeface="Segoe UI"/>
              </a:rPr>
              <a:t>Sun canopy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986430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Z 254-257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697833"/>
            <a:ext cx="4389120" cy="3175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770985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2F5FF"/>
                </a:solidFill>
                <a:latin typeface="Segoe UI"/>
              </a:rPr>
              <a:t>Upper deck — compute, sensors,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3770985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Z 158-162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411065"/>
            <a:ext cx="4389120" cy="3175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484217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2F5FF"/>
                </a:solidFill>
                <a:latin typeface="Segoe UI"/>
              </a:rPr>
              <a:t>Lower deck — power, drive, fluid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4484217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Z 64-68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4297"/>
            <a:ext cx="4389120" cy="3175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5197449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F2F5FF"/>
                </a:solidFill>
                <a:latin typeface="Segoe UI"/>
              </a:rPr>
              <a:t>Underside — ultrasonics, actuator, NPK probe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5197449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Z -30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057400"/>
            <a:ext cx="5074920" cy="214884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46520" y="2057400"/>
            <a:ext cx="507492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2295144"/>
            <a:ext cx="4562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FUSION 360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271576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2715768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docs/mechanical-layout.md is source of truth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304952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304952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42 named, colour-coded components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33832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tree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38328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6 assembly groups, browser mirrors the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2552" y="371703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origin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3717036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chassis front-left corner, +Y toward rear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8056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2F5FF"/>
                </a:solidFill>
                <a:latin typeface="Segoe UI"/>
              </a:rPr>
              <a:t>Layout rules that drove the stack</a:t>
            </a:r>
          </a:p>
        </p:txBody>
      </p:sp>
      <p:sp>
        <p:nvSpPr>
          <p:cNvPr id="34" name="Oval 33"/>
          <p:cNvSpPr/>
          <p:nvPr/>
        </p:nvSpPr>
        <p:spPr>
          <a:xfrm>
            <a:off x="6446520" y="4910328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84264" y="4846320"/>
            <a:ext cx="483717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2F5FF"/>
                </a:solidFill>
                <a:latin typeface="Segoe UI"/>
              </a:rPr>
              <a:t>Fluid sits below electronics so leaks drain away</a:t>
            </a:r>
          </a:p>
        </p:txBody>
      </p:sp>
      <p:sp>
        <p:nvSpPr>
          <p:cNvPr id="36" name="Oval 35"/>
          <p:cNvSpPr/>
          <p:nvPr/>
        </p:nvSpPr>
        <p:spPr>
          <a:xfrm>
            <a:off x="6446520" y="5385816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84264" y="5321808"/>
            <a:ext cx="483717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2F5FF"/>
                </a:solidFill>
                <a:latin typeface="Segoe UI"/>
              </a:rPr>
              <a:t>MPU6050 at centre of gravity; GPS and LoRa on the mast, clear of BTS7960 RF noise</a:t>
            </a:r>
          </a:p>
        </p:txBody>
      </p:sp>
      <p:sp>
        <p:nvSpPr>
          <p:cNvPr id="38" name="Oval 37"/>
          <p:cNvSpPr/>
          <p:nvPr/>
        </p:nvSpPr>
        <p:spPr>
          <a:xfrm>
            <a:off x="6446520" y="5861304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84264" y="5797296"/>
            <a:ext cx="483717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2F5FF"/>
                </a:solidFill>
                <a:latin typeface="Segoe UI"/>
              </a:rPr>
              <a:t>Battery and tank low and centred for stability on uneven ground</a:t>
            </a:r>
          </a:p>
        </p:txBody>
      </p:sp>
      <p:sp>
        <p:nvSpPr>
          <p:cNvPr id="40" name="footer-source"/>
          <p:cNvSpPr txBox="1"/>
          <p:nvPr/>
        </p:nvSpPr>
        <p:spPr>
          <a:xfrm>
            <a:off x="658368" y="629107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E9BC4"/>
                </a:solidFill>
                <a:latin typeface="Consolas"/>
              </a:rPr>
              <a:t>SOURCE   docs/mechanical-layout.md   cad/AgriRoverPrototype/AgriRoverPrototype.py</a:t>
            </a:r>
          </a:p>
        </p:txBody>
      </p:sp>
      <p:sp>
        <p:nvSpPr>
          <p:cNvPr id="41" name="footer-page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06/10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SENSING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2F5FF"/>
                </a:solidFill>
                <a:latin typeface="Segoe UI"/>
              </a:rPr>
              <a:t>Layered stop logic and a verified pin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27632"/>
            <a:ext cx="13716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5257800" cy="292608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52578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03704"/>
            <a:ext cx="47457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SENSING BUSES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2432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RS485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2624328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NPK probe via MAX485, GPIO 17/16/4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580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analog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2958084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moisture 34, VBAT 35, TDS 36 (ADC1)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1-wire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336" y="3291840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DHT22 ambient on GPIO 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255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UART1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3625596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GPS Neo-6M, RX 39 / TX 15 for RTCM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5935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relays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3959352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pump 26, actuator 13, polarity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9310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I2C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336" y="4293108"/>
            <a:ext cx="2971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MPU6050, ADS1115, PCF8574, VL53L1X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1965960"/>
            <a:ext cx="5074920" cy="292608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1965960"/>
            <a:ext cx="507492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2" y="2203704"/>
            <a:ext cx="4562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STOP LAYERS (DESIGN CONTROLS)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262432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proximity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2624328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VL53L1X time-of-flight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2958084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2958084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obstacle inference on device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329184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attitude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3291840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IMU tilt threshold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552" y="3625596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link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3625596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heartbeat watchdog, 1500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552" y="395935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motor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6488" y="3959352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stall detection via ACS712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2552" y="429310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E9BC4"/>
                </a:solidFill>
                <a:latin typeface="Consolas"/>
              </a:rPr>
              <a:t>manual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6488" y="4293108"/>
            <a:ext cx="2788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F2F5FF"/>
                </a:solidFill>
                <a:latin typeface="Segoe UI"/>
              </a:rPr>
              <a:t>E-STOP on the upper deck + Telegram /stop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13892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8E9BC4"/>
                </a:solidFill>
                <a:latin typeface="Segoe UI"/>
              </a:rPr>
              <a:t>GPIO 34/35/36/39 are input-only, so every analog sensor is placed on ADC1. GPIO 15 is a strapping pin whose required boot level matches an idle UART TX line, which is why GPS TX can safely live there.</a:t>
            </a:r>
          </a:p>
        </p:txBody>
      </p:sp>
      <p:sp>
        <p:nvSpPr>
          <p:cNvPr id="37" name="footer-source"/>
          <p:cNvSpPr txBox="1"/>
          <p:nvPr/>
        </p:nvSpPr>
        <p:spPr>
          <a:xfrm>
            <a:off x="658368" y="629107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E9BC4"/>
                </a:solidFill>
                <a:latin typeface="Consolas"/>
              </a:rPr>
              <a:t>SOURCE   firmware/include/pins.h   README.md</a:t>
            </a:r>
          </a:p>
        </p:txBody>
      </p:sp>
      <p:sp>
        <p:nvSpPr>
          <p:cNvPr id="38" name="footer-page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07/10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HONEST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2F5FF"/>
                </a:solidFill>
                <a:latin typeface="Segoe UI"/>
              </a:rPr>
              <a:t>What is built vs. what is proven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27632"/>
            <a:ext cx="13716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5257800" cy="365760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52578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VERIFIED IN REPOSITORY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97480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2633472"/>
            <a:ext cx="45171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F5FF"/>
                </a:solidFill>
                <a:latin typeface="Segoe UI"/>
              </a:rPr>
              <a:t>Firmware, Pi services, ROS 2 nodes, CAD, wiring and BOMs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46120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3182112"/>
            <a:ext cx="45171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F5FF"/>
                </a:solidFill>
                <a:latin typeface="Segoe UI"/>
              </a:rPr>
              <a:t>Simulation that runs with no hardware attached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794760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3730752"/>
            <a:ext cx="45171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F5FF"/>
                </a:solidFill>
                <a:latin typeface="Segoe UI"/>
              </a:rPr>
              <a:t>Automated test suite over AI interfaces and stop logic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343400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4279392"/>
            <a:ext cx="45171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F5FF"/>
                </a:solidFill>
                <a:latin typeface="Segoe UI"/>
              </a:rPr>
              <a:t>Encrypted, authenticated Pi ↔ ESP32 command link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892040"/>
            <a:ext cx="68580" cy="68580"/>
          </a:xfrm>
          <a:prstGeom prst="ellipse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" y="4828032"/>
            <a:ext cx="45171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F5FF"/>
                </a:solidFill>
                <a:latin typeface="Segoe UI"/>
              </a:rPr>
              <a:t>Model OTA and active-learning frame capture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1965960"/>
            <a:ext cx="5074920" cy="365760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965960"/>
            <a:ext cx="5074920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221284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A623"/>
                </a:solidFill>
                <a:latin typeface="Segoe UI"/>
              </a:rPr>
              <a:t>NOT YET ESTABLISHED</a:t>
            </a:r>
          </a:p>
        </p:txBody>
      </p:sp>
      <p:sp>
        <p:nvSpPr>
          <p:cNvPr id="22" name="Oval 21"/>
          <p:cNvSpPr/>
          <p:nvPr/>
        </p:nvSpPr>
        <p:spPr>
          <a:xfrm>
            <a:off x="6702552" y="2697480"/>
            <a:ext cx="68580" cy="685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0296" y="2633472"/>
            <a:ext cx="43342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F5FF"/>
                </a:solidFill>
                <a:latin typeface="Segoe UI"/>
              </a:rPr>
              <a:t>Crop-detection accuracy on local tomato classes</a:t>
            </a:r>
          </a:p>
        </p:txBody>
      </p:sp>
      <p:sp>
        <p:nvSpPr>
          <p:cNvPr id="24" name="Oval 23"/>
          <p:cNvSpPr/>
          <p:nvPr/>
        </p:nvSpPr>
        <p:spPr>
          <a:xfrm>
            <a:off x="6702552" y="3246120"/>
            <a:ext cx="68580" cy="685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0296" y="3182112"/>
            <a:ext cx="43342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F5FF"/>
                </a:solidFill>
                <a:latin typeface="Segoe UI"/>
              </a:rPr>
              <a:t>Productive acres per day and route density</a:t>
            </a:r>
          </a:p>
        </p:txBody>
      </p:sp>
      <p:sp>
        <p:nvSpPr>
          <p:cNvPr id="26" name="Oval 25"/>
          <p:cNvSpPr/>
          <p:nvPr/>
        </p:nvSpPr>
        <p:spPr>
          <a:xfrm>
            <a:off x="6702552" y="3794760"/>
            <a:ext cx="68580" cy="685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0296" y="3730752"/>
            <a:ext cx="43342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F5FF"/>
                </a:solidFill>
                <a:latin typeface="Segoe UI"/>
              </a:rPr>
              <a:t>Field reliability and ruggedness</a:t>
            </a:r>
          </a:p>
        </p:txBody>
      </p:sp>
      <p:sp>
        <p:nvSpPr>
          <p:cNvPr id="28" name="Oval 27"/>
          <p:cNvSpPr/>
          <p:nvPr/>
        </p:nvSpPr>
        <p:spPr>
          <a:xfrm>
            <a:off x="6702552" y="4343400"/>
            <a:ext cx="68580" cy="685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0296" y="4279392"/>
            <a:ext cx="43342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F5FF"/>
                </a:solidFill>
                <a:latin typeface="Segoe UI"/>
              </a:rPr>
              <a:t>Chemical reduction, yield protection, rupee savings</a:t>
            </a:r>
          </a:p>
        </p:txBody>
      </p:sp>
      <p:sp>
        <p:nvSpPr>
          <p:cNvPr id="30" name="Oval 29"/>
          <p:cNvSpPr/>
          <p:nvPr/>
        </p:nvSpPr>
        <p:spPr>
          <a:xfrm>
            <a:off x="6702552" y="4892040"/>
            <a:ext cx="68580" cy="685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0296" y="4828032"/>
            <a:ext cx="43342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F2F5FF"/>
                </a:solidFill>
                <a:latin typeface="Segoe UI"/>
              </a:rPr>
              <a:t>Willingness to pay and payback period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870448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E9BC4"/>
                </a:solidFill>
                <a:latin typeface="Segoe UI"/>
              </a:rPr>
              <a:t>The README states this explicitly. Nothing in this deck claims a field result.</a:t>
            </a:r>
          </a:p>
        </p:txBody>
      </p:sp>
      <p:sp>
        <p:nvSpPr>
          <p:cNvPr id="33" name="footer-source"/>
          <p:cNvSpPr txBox="1"/>
          <p:nvPr/>
        </p:nvSpPr>
        <p:spPr>
          <a:xfrm>
            <a:off x="658368" y="629107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E9BC4"/>
                </a:solidFill>
                <a:latin typeface="Consolas"/>
              </a:rPr>
              <a:t>SOURCE   README.md   research/AGRIROVER_MARKET_ADOPTION_RESEARCH.md</a:t>
            </a:r>
          </a:p>
        </p:txBody>
      </p:sp>
      <p:sp>
        <p:nvSpPr>
          <p:cNvPr id="34" name="footer-page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08/10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NEXT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2F5FF"/>
                </a:solidFill>
                <a:latin typeface="Segoe UI"/>
              </a:rPr>
              <a:t>Validation gates before any paid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27632"/>
            <a:ext cx="13716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103120"/>
            <a:ext cx="2048256" cy="320040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103120"/>
            <a:ext cx="2048256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377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8BF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889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2F5FF"/>
                </a:solidFill>
                <a:latin typeface="Segoe UI"/>
              </a:rPr>
              <a:t>Supervised traversal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2044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E9BC4"/>
                </a:solidFill>
                <a:latin typeface="Segoe UI"/>
              </a:rPr>
              <a:t>Physical drive tests with the layered stop logic active in a real row.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2103120"/>
            <a:ext cx="2048256" cy="320040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79776" y="2103120"/>
            <a:ext cx="2048256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0944" y="2377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8BFF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27889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2F5FF"/>
                </a:solidFill>
                <a:latin typeface="Segoe UI"/>
              </a:rPr>
              <a:t>Local tomato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352044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E9BC4"/>
                </a:solidFill>
                <a:latin typeface="Segoe UI"/>
              </a:rPr>
              <a:t>Collect and label local classes; held-out per-class validation.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01184" y="2103120"/>
            <a:ext cx="2048256" cy="320040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01184" y="2103120"/>
            <a:ext cx="2048256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2377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8BFF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27889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2F5FF"/>
                </a:solidFill>
                <a:latin typeface="Segoe UI"/>
              </a:rPr>
              <a:t>Hailo export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352044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E9BC4"/>
                </a:solidFill>
                <a:latin typeface="Segoe UI"/>
              </a:rPr>
              <a:t>Compile and benchmark the model chain on the Hailo-8 accelerator.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22592" y="2103120"/>
            <a:ext cx="2048256" cy="320040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22592" y="2103120"/>
            <a:ext cx="2048256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2377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8BFF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7889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2F5FF"/>
                </a:solidFill>
                <a:latin typeface="Segoe UI"/>
              </a:rPr>
              <a:t>Row navigation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52044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E9BC4"/>
                </a:solidFill>
                <a:latin typeface="Segoe UI"/>
              </a:rPr>
              <a:t>Camera-based row following and boundary behaviour beyond GPS geotags.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103120"/>
            <a:ext cx="2048256" cy="320040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2103120"/>
            <a:ext cx="2048256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5168" y="237744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D8BFF"/>
                </a:solidFill>
                <a:latin typeface="Consola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278892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F2F5FF"/>
                </a:solidFill>
                <a:latin typeface="Segoe UI"/>
              </a:rPr>
              <a:t>12-grower pilot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3520440"/>
            <a:ext cx="1645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8E9BC4"/>
                </a:solidFill>
                <a:latin typeface="Segoe UI"/>
              </a:rPr>
              <a:t>Paired pilot with KVK / agronomist review and calibrated measurement.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6235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F5A623"/>
                </a:solidFill>
                <a:latin typeface="Segoe UI"/>
              </a:rPr>
              <a:t>Repo analysis also flags open engineering items to close first: a 45× flow-configuration conflict, and a savings tracker that currently mixes incompatible units.</a:t>
            </a:r>
          </a:p>
        </p:txBody>
      </p:sp>
      <p:sp>
        <p:nvSpPr>
          <p:cNvPr id="32" name="footer-source"/>
          <p:cNvSpPr txBox="1"/>
          <p:nvPr/>
        </p:nvSpPr>
        <p:spPr>
          <a:xfrm>
            <a:off x="658368" y="6291072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E9BC4"/>
                </a:solidFill>
                <a:latin typeface="Consolas"/>
              </a:rPr>
              <a:t>SOURCE   research/AGRIROVER_MARKET_ADOPTION_RESEARCH.md   README.md</a:t>
            </a:r>
          </a:p>
        </p:txBody>
      </p:sp>
      <p:sp>
        <p:nvSpPr>
          <p:cNvPr id="33" name="footer-page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09/10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8BFF"/>
                </a:solidFill>
                <a:latin typeface="Segoe U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2F5FF"/>
                </a:solidFill>
                <a:latin typeface="Segoe UI"/>
              </a:rPr>
              <a:t>IIT Bombay · Mechanical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27632"/>
            <a:ext cx="1371600" cy="38100"/>
          </a:xfrm>
          <a:prstGeom prst="rect">
            <a:avLst/>
          </a:prstGeom>
          <a:solidFill>
            <a:srgbClr val="3D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194560"/>
            <a:ext cx="2606040" cy="288036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99616" y="2487168"/>
            <a:ext cx="914400" cy="914400"/>
          </a:xfrm>
          <a:prstGeom prst="ellipse">
            <a:avLst/>
          </a:prstGeom>
          <a:solidFill>
            <a:srgbClr val="0A0F24"/>
          </a:solidFill>
          <a:ln w="19050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2F5FF"/>
                </a:solidFill>
                <a:latin typeface="Segoe UI"/>
              </a:rPr>
              <a:t>Vivek Kumar Gupta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33087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D8BFF"/>
                </a:solidFill>
                <a:latin typeface="Consolas"/>
              </a:rPr>
              <a:t>25B2269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8E9BC4"/>
                </a:solidFill>
                <a:latin typeface="Segoe UI"/>
              </a:rPr>
              <a:t>B.Tech 2029 · Uttar Pradesh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2194560"/>
            <a:ext cx="2606040" cy="288036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7096" y="2487168"/>
            <a:ext cx="914400" cy="914400"/>
          </a:xfrm>
          <a:prstGeom prst="ellipse">
            <a:avLst/>
          </a:prstGeom>
          <a:solidFill>
            <a:srgbClr val="0A0F24"/>
          </a:solidFill>
          <a:ln w="19050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611880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2F5FF"/>
                </a:solidFill>
                <a:latin typeface="Segoe UI"/>
              </a:rPr>
              <a:t>Shreyash Wagh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133087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D8BFF"/>
                </a:solidFill>
                <a:latin typeface="Consolas"/>
              </a:rPr>
              <a:t>25B2227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434840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8E9BC4"/>
                </a:solidFill>
                <a:latin typeface="Segoe UI"/>
              </a:rPr>
              <a:t>B.Tech 2029 · Nashik, Maharashtra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194560"/>
            <a:ext cx="2606040" cy="288036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94576" y="2487168"/>
            <a:ext cx="914400" cy="914400"/>
          </a:xfrm>
          <a:prstGeom prst="ellipse">
            <a:avLst/>
          </a:prstGeom>
          <a:solidFill>
            <a:srgbClr val="0A0F24"/>
          </a:solidFill>
          <a:ln w="19050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611880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2F5FF"/>
                </a:solidFill>
                <a:latin typeface="Segoe UI"/>
              </a:rPr>
              <a:t>Hitanshu Kapadiya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133087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D8BFF"/>
                </a:solidFill>
                <a:latin typeface="Consolas"/>
              </a:rPr>
              <a:t>25B2228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434840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8E9BC4"/>
                </a:solidFill>
                <a:latin typeface="Segoe UI"/>
              </a:rPr>
              <a:t>B.Tech 2029 · Gujarat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50808" y="2194560"/>
            <a:ext cx="2606040" cy="2880360"/>
          </a:xfrm>
          <a:prstGeom prst="rect">
            <a:avLst/>
          </a:prstGeom>
          <a:solidFill>
            <a:srgbClr val="14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92056" y="2487168"/>
            <a:ext cx="914400" cy="914400"/>
          </a:xfrm>
          <a:prstGeom prst="ellipse">
            <a:avLst/>
          </a:prstGeom>
          <a:solidFill>
            <a:srgbClr val="0A0F24"/>
          </a:solidFill>
          <a:ln w="19050">
            <a:solidFill>
              <a:srgbClr val="3D8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3611880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2F5FF"/>
                </a:solidFill>
                <a:latin typeface="Segoe UI"/>
              </a:rPr>
              <a:t>Pritish Nandy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33087"/>
            <a:ext cx="227685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D8BFF"/>
                </a:solidFill>
                <a:latin typeface="Consolas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434840"/>
            <a:ext cx="2276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8E9BC4"/>
                </a:solidFill>
                <a:latin typeface="Segoe UI"/>
              </a:rPr>
              <a:t>Team member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44068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8BFF"/>
                </a:solidFill>
                <a:latin typeface="Consolas"/>
              </a:rPr>
              <a:t>github.com/aman123825/agrobot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797296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8E9BC4"/>
                </a:solidFill>
                <a:latin typeface="Segoe UI"/>
              </a:rPr>
              <a:t>Roll numbers and details for the first three are from IDEAS_team_members.csv; the repository holds no record for Pritish Nandy, so no details are asserted.</a:t>
            </a:r>
          </a:p>
        </p:txBody>
      </p:sp>
      <p:sp>
        <p:nvSpPr>
          <p:cNvPr id="28" name="footer-page"/>
          <p:cNvSpPr txBox="1"/>
          <p:nvPr/>
        </p:nvSpPr>
        <p:spPr>
          <a:xfrm>
            <a:off x="11064240" y="6291072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8E9BC4"/>
                </a:solidFill>
                <a:latin typeface="Consolas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