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theme" Target="theme/theme1.xml"/><Relationship Id="rId15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53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1"/>
          <p:cNvSpPr/>
          <p:nvPr/>
        </p:nvSpPr>
        <p:spPr>
          <a:xfrm>
            <a:off x="0" y="4160520"/>
            <a:ext cx="12192000" cy="10972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2"/>
          <p:cNvSpPr/>
          <p:nvPr/>
        </p:nvSpPr>
        <p:spPr>
          <a:xfrm>
            <a:off x="0" y="4270248"/>
            <a:ext cx="12192000" cy="36576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brand"/>
          <p:cNvSpPr txBox="1"/>
          <p:nvPr/>
        </p:nvSpPr>
        <p:spPr>
          <a:xfrm>
            <a:off x="731520" y="1554480"/>
            <a:ext cx="10607040" cy="12801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6600" b="1" dirty="0">
                <a:solidFill>
                  <a:srgbClr val="FFFFFF"/>
                </a:solidFill>
                <a:latin typeface="Calibri"/>
              </a:rPr>
              <a:t>AgriRover</a:t>
            </a:r>
          </a:p>
        </p:txBody>
      </p:sp>
      <p:sp>
        <p:nvSpPr>
          <p:cNvPr id="23" name="tag"/>
          <p:cNvSpPr txBox="1"/>
          <p:nvPr/>
        </p:nvSpPr>
        <p:spPr>
          <a:xfrm>
            <a:off x="777240" y="2788920"/>
            <a:ext cx="10607040" cy="9144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66BB6A"/>
                </a:solidFill>
                <a:latin typeface="Calibri"/>
              </a:rPr>
              <a:t>Precision farming for every small farm</a:t>
            </a:r>
          </a:p>
        </p:txBody>
      </p:sp>
      <p:sp>
        <p:nvSpPr>
          <p:cNvPr id="24" name="sub"/>
          <p:cNvSpPr txBox="1"/>
          <p:nvPr/>
        </p:nvSpPr>
        <p:spPr>
          <a:xfrm>
            <a:off x="777240" y="4434840"/>
            <a:ext cx="10607040" cy="10972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500" dirty="0">
                <a:solidFill>
                  <a:srgbClr val="F3F8F1"/>
                </a:solidFill>
                <a:latin typeface="Calibri"/>
              </a:rPr>
              <a:t>Affordable autonomous rover: soil-NPK sensing - AI weed &amp; disease detection - per-plant micro-dosing</a:t>
            </a:r>
          </a:p>
        </p:txBody>
      </p:sp>
      <p:sp>
        <p:nvSpPr>
          <p:cNvPr id="25" name="prog"/>
          <p:cNvSpPr txBox="1"/>
          <p:nvPr/>
        </p:nvSpPr>
        <p:spPr>
          <a:xfrm>
            <a:off x="777240" y="5577840"/>
            <a:ext cx="10607040" cy="6400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66BB6A"/>
                </a:solidFill>
                <a:latin typeface="Calibri"/>
              </a:rPr>
              <a:t>IITB-Groww INV.ENT  -  Track A    |    Team (IIT Bombay): Hitanshu Kapadiya, Vivek Gupta, Shreyash Wagh, Pritish Nandy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nd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ent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548640" y="146304"/>
            <a:ext cx="1097280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700" b="1" dirty="0">
                <a:solidFill>
                  <a:srgbClr val="FFFFFF"/>
                </a:solidFill>
                <a:latin typeface="Calibri"/>
              </a:rPr>
              <a:t>Problem &amp; Validation</a:t>
            </a:r>
          </a:p>
        </p:txBody>
      </p:sp>
      <p:sp>
        <p:nvSpPr>
          <p:cNvPr id="13" name="foot"/>
          <p:cNvSpPr txBox="1"/>
          <p:nvPr/>
        </p:nvSpPr>
        <p:spPr>
          <a:xfrm>
            <a:off x="548640" y="6364224"/>
            <a:ext cx="109728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AgriRover  -  IITB-Groww INV.ENT  -  Track A  -  Team of 4 (IIT Bombay)</a:t>
            </a:r>
          </a:p>
        </p:txBody>
      </p:sp>
      <p:sp>
        <p:nvSpPr>
          <p:cNvPr id="30" name="b"/>
          <p:cNvSpPr txBox="1"/>
          <p:nvPr/>
        </p:nvSpPr>
        <p:spPr>
          <a:xfrm>
            <a:off x="548640" y="1325880"/>
            <a:ext cx="10698480" cy="47548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2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The problem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~86% of India's farm holdings are under 2 ha (Agri Census 2015-16) - too small for big machinery.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Farmers fertilize by guesswork - no affordable way to sense soil NPK or dose per plant.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Fertilizer use is NPK-imbalanced vs the ideal 4:2:1 (FAI); excess urea wastes money and degrades soil.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Soil Health Cards are underused and lab tests take 2-3 weeks, so habit wins.</a:t>
            </a:r>
          </a:p>
          <a:p>
            <a:pPr marL="0" indent="0" algn="l">
              <a:spcBef>
                <a:spcPts val="0"/>
              </a:spcBef>
              <a:spcAft>
                <a:spcPts val="22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Validation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Field visits and talks with local farmers &amp; input dealers: uniform hand-broadcasting and guesswork dosing is the clear norm.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nd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ent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548640" y="146304"/>
            <a:ext cx="1097280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700" b="1" dirty="0">
                <a:solidFill>
                  <a:srgbClr val="FFFFFF"/>
                </a:solidFill>
                <a:latin typeface="Calibri"/>
              </a:rPr>
              <a:t>Solution &amp; Innovation</a:t>
            </a:r>
          </a:p>
        </p:txBody>
      </p:sp>
      <p:sp>
        <p:nvSpPr>
          <p:cNvPr id="13" name="foot"/>
          <p:cNvSpPr txBox="1"/>
          <p:nvPr/>
        </p:nvSpPr>
        <p:spPr>
          <a:xfrm>
            <a:off x="548640" y="6364224"/>
            <a:ext cx="109728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AgriRover  -  IITB-Groww INV.ENT  -  Track A  -  Team of 4 (IIT Bombay)</a:t>
            </a:r>
          </a:p>
        </p:txBody>
      </p:sp>
      <p:sp>
        <p:nvSpPr>
          <p:cNvPr id="30" name="b"/>
          <p:cNvSpPr txBox="1"/>
          <p:nvPr/>
        </p:nvSpPr>
        <p:spPr>
          <a:xfrm>
            <a:off x="548640" y="1325880"/>
            <a:ext cx="10698480" cy="47548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2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AgriRover - a low-cost autonomous farm rover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Senses soil NPK (7-in-1 RS485 probe) plus moisture, TDS and temperature in-field.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AI vision (YOLOv8n on a Coral Edge TPU) detects weeds and crop disease.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Targeted micro-dosing: liquid fertilizer + plant-by-plant aimed spraying (pan/tilt nozzle).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Autonomous snake-route navigation: GPS + EKF + vision geo-tagging (10-20 cm).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Modular tools: grass cutter, seed sower, weeder, sprayer.</a:t>
            </a:r>
          </a:p>
          <a:p>
            <a:pPr marL="0" indent="0" algn="l">
              <a:spcBef>
                <a:spcPts val="0"/>
              </a:spcBef>
              <a:spcAft>
                <a:spcPts val="22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Why it's different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Per-plant precision on small farms at a fraction of big-ag machinery cost.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nd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ent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548640" y="146304"/>
            <a:ext cx="1097280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700" b="1" dirty="0">
                <a:solidFill>
                  <a:srgbClr val="FFFFFF"/>
                </a:solidFill>
                <a:latin typeface="Calibri"/>
              </a:rPr>
              <a:t>Why AgriRover?  (vs alternatives)</a:t>
            </a:r>
          </a:p>
        </p:txBody>
      </p:sp>
      <p:sp>
        <p:nvSpPr>
          <p:cNvPr id="13" name="foot"/>
          <p:cNvSpPr txBox="1"/>
          <p:nvPr/>
        </p:nvSpPr>
        <p:spPr>
          <a:xfrm>
            <a:off x="548640" y="6364224"/>
            <a:ext cx="109728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AgriRover  -  IITB-Groww INV.ENT  -  Track A  -  Team of 4 (IIT Bombay)</a:t>
            </a:r>
          </a:p>
        </p:txBody>
      </p:sp>
      <p:graphicFrame>
        <p:nvGraphicFramePr>
          <p:cNvPr id="40" name="tbl"/>
          <p:cNvGraphicFramePr/>
          <p:nvPr/>
        </p:nvGraphicFramePr>
        <p:xfrm>
          <a:off x="457200" y="1371600"/>
          <a:ext cx="11155680" cy="396849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00400"/>
                <a:gridCol w="2103120"/>
                <a:gridCol w="2057400"/>
                <a:gridCol w="1828800"/>
                <a:gridCol w="196596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Capability</a:t>
                      </a:r>
                    </a:p>
                  </a:txBody>
                  <a:tcPr marL="64008" marR="64008" marT="18288" marB="18288" anchor="ctr">
                    <a:solidFill>
                      <a:srgbClr val="3747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/>
                        </a:rPr>
                        <a:t>AgriRover</a:t>
                      </a:r>
                    </a:p>
                  </a:txBody>
                  <a:tcPr marL="64008" marR="64008" marT="18288" marB="18288" anchor="ctr">
                    <a:solidFill>
                      <a:srgbClr val="14532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Big precision-ag (tractors)</a:t>
                      </a:r>
                    </a:p>
                  </a:txBody>
                  <a:tcPr marL="64008" marR="64008" marT="18288" marB="18288" anchor="ctr">
                    <a:solidFill>
                      <a:srgbClr val="3747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Agri spray drones</a:t>
                      </a:r>
                    </a:p>
                  </a:txBody>
                  <a:tcPr marL="64008" marR="64008" marT="18288" marB="18288" anchor="ctr">
                    <a:solidFill>
                      <a:srgbClr val="3747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Manual + dealer / lab</a:t>
                      </a:r>
                    </a:p>
                  </a:txBody>
                  <a:tcPr marL="64008" marR="64008" marT="18288" marB="18288" anchor="ctr">
                    <a:solidFill>
                      <a:srgbClr val="37474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1A2421"/>
                          </a:solidFill>
                          <a:latin typeface="Calibri"/>
                        </a:rPr>
                        <a:t>Affordable for small (&lt;2 ha) farms</a:t>
                      </a:r>
                    </a:p>
                  </a:txBody>
                  <a:tcPr marL="64008" marR="64008" marT="18288" marB="18288" anchor="ctr">
                    <a:solidFill>
                      <a:srgbClr val="E7F1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4008" marR="64008" marT="18288" marB="18288" anchor="ctr">
                    <a:solidFill>
                      <a:srgbClr val="DDEF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C62828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B26A00"/>
                          </a:solidFill>
                          <a:latin typeface="Calibri"/>
                        </a:rPr>
                        <a:t>Partly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/>
                        </a:rPr>
                        <a:t>Yes*</a:t>
                      </a:r>
                    </a:p>
                  </a:txBody>
                  <a:tcPr marL="64008" marR="64008" marT="18288" marB="18288" anchor="ctr">
                    <a:solidFill>
                      <a:srgbClr val="DDEFD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1A2421"/>
                          </a:solidFill>
                          <a:latin typeface="Calibri"/>
                        </a:rPr>
                        <a:t>Instant on-board soil NPK sensing</a:t>
                      </a:r>
                    </a:p>
                  </a:txBody>
                  <a:tcPr marL="64008" marR="64008" marT="18288" marB="18288" anchor="ctr">
                    <a:solidFill>
                      <a:srgbClr val="E7F1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4008" marR="64008" marT="18288" marB="18288" anchor="ctr">
                    <a:solidFill>
                      <a:srgbClr val="DDEF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C62828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C62828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B26A00"/>
                          </a:solidFill>
                          <a:latin typeface="Calibri"/>
                        </a:rPr>
                        <a:t>Lab, 2-3 wks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1A2421"/>
                          </a:solidFill>
                          <a:latin typeface="Calibri"/>
                        </a:rPr>
                        <a:t>Per-plant targeted micro-dosing</a:t>
                      </a:r>
                    </a:p>
                  </a:txBody>
                  <a:tcPr marL="64008" marR="64008" marT="18288" marB="18288" anchor="ctr">
                    <a:solidFill>
                      <a:srgbClr val="E7F1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4008" marR="64008" marT="18288" marB="18288" anchor="ctr">
                    <a:solidFill>
                      <a:srgbClr val="DDEF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C62828"/>
                          </a:solidFill>
                          <a:latin typeface="Calibri"/>
                        </a:rPr>
                        <a:t>Broadcast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B26A00"/>
                          </a:solidFill>
                          <a:latin typeface="Calibri"/>
                        </a:rPr>
                        <a:t>Limited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C62828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1A2421"/>
                          </a:solidFill>
                          <a:latin typeface="Calibri"/>
                        </a:rPr>
                        <a:t>AI weed &amp; disease detection</a:t>
                      </a:r>
                    </a:p>
                  </a:txBody>
                  <a:tcPr marL="64008" marR="64008" marT="18288" marB="18288" anchor="ctr">
                    <a:solidFill>
                      <a:srgbClr val="E7F1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4008" marR="64008" marT="18288" marB="18288" anchor="ctr">
                    <a:solidFill>
                      <a:srgbClr val="DDEF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B26A00"/>
                          </a:solidFill>
                          <a:latin typeface="Calibri"/>
                        </a:rPr>
                        <a:t>Some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B26A00"/>
                          </a:solidFill>
                          <a:latin typeface="Calibri"/>
                        </a:rPr>
                        <a:t>Some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C62828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1A2421"/>
                          </a:solidFill>
                          <a:latin typeface="Calibri"/>
                        </a:rPr>
                        <a:t>Fully autonomous ground robot</a:t>
                      </a:r>
                    </a:p>
                  </a:txBody>
                  <a:tcPr marL="64008" marR="64008" marT="18288" marB="18288" anchor="ctr">
                    <a:solidFill>
                      <a:srgbClr val="E7F1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4008" marR="64008" marT="18288" marB="18288" anchor="ctr">
                    <a:solidFill>
                      <a:srgbClr val="DDEF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B26A00"/>
                          </a:solidFill>
                          <a:latin typeface="Calibri"/>
                        </a:rPr>
                        <a:t>Operator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B26A00"/>
                          </a:solidFill>
                          <a:latin typeface="Calibri"/>
                        </a:rPr>
                        <a:t>Pilot-flown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C62828"/>
                          </a:solidFill>
                          <a:latin typeface="Calibri"/>
                        </a:rPr>
                        <a:t>Manual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1A2421"/>
                          </a:solidFill>
                          <a:latin typeface="Calibri"/>
                        </a:rPr>
                        <a:t>Indicative cost</a:t>
                      </a:r>
                    </a:p>
                  </a:txBody>
                  <a:tcPr marL="64008" marR="64008" marT="18288" marB="18288" anchor="ctr">
                    <a:solidFill>
                      <a:srgbClr val="E7F1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/>
                        </a:rPr>
                        <a:t>Rs 30-48K</a:t>
                      </a:r>
                    </a:p>
                  </a:txBody>
                  <a:tcPr marL="64008" marR="64008" marT="18288" marB="18288" anchor="ctr">
                    <a:solidFill>
                      <a:srgbClr val="DDEF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C62828"/>
                          </a:solidFill>
                          <a:latin typeface="Calibri"/>
                        </a:rPr>
                        <a:t>Lakhs+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B26A00"/>
                          </a:solidFill>
                          <a:latin typeface="Calibri"/>
                        </a:rPr>
                        <a:t>Rs 50K-5L+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B26A00"/>
                          </a:solidFill>
                          <a:latin typeface="Calibri"/>
                        </a:rPr>
                        <a:t>Recurring labour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1" name="edge"/>
          <p:cNvSpPr txBox="1"/>
          <p:nvPr/>
        </p:nvSpPr>
        <p:spPr>
          <a:xfrm>
            <a:off x="457200" y="5532120"/>
            <a:ext cx="11155680" cy="4114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4532D"/>
                </a:solidFill>
                <a:latin typeface="Calibri"/>
              </a:rPr>
              <a:t>Our edge: the only affordable, autonomous, per-plant solution purpose-built for India's small farms.</a:t>
            </a:r>
          </a:p>
        </p:txBody>
      </p:sp>
      <p:sp>
        <p:nvSpPr>
          <p:cNvPr id="42" name="fn"/>
          <p:cNvSpPr txBox="1"/>
          <p:nvPr/>
        </p:nvSpPr>
        <p:spPr>
          <a:xfrm>
            <a:off x="457200" y="5943600"/>
            <a:ext cx="1115568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i="1" dirty="0">
                <a:solidFill>
                  <a:srgbClr val="5B6B63"/>
                </a:solidFill>
                <a:latin typeface="Calibri"/>
              </a:rPr>
              <a:t>*Manual labour is cheap per use but recurring; AgriRover is a one-time low-cost asset that also senses soil and acts per plant.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nd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ent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548640" y="146304"/>
            <a:ext cx="1097280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700" b="1" dirty="0">
                <a:solidFill>
                  <a:srgbClr val="FFFFFF"/>
                </a:solidFill>
                <a:latin typeface="Calibri"/>
              </a:rPr>
              <a:t>Market Opportunity &amp; Scope</a:t>
            </a:r>
          </a:p>
        </p:txBody>
      </p:sp>
      <p:sp>
        <p:nvSpPr>
          <p:cNvPr id="13" name="foot"/>
          <p:cNvSpPr txBox="1"/>
          <p:nvPr/>
        </p:nvSpPr>
        <p:spPr>
          <a:xfrm>
            <a:off x="548640" y="6364224"/>
            <a:ext cx="109728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AgriRover  -  IITB-Groww INV.ENT  -  Track A  -  Team of 4 (IIT Bombay)</a:t>
            </a:r>
          </a:p>
        </p:txBody>
      </p:sp>
      <p:sp>
        <p:nvSpPr>
          <p:cNvPr id="50" name="sc"/>
          <p:cNvSpPr/>
          <p:nvPr/>
        </p:nvSpPr>
        <p:spPr>
          <a:xfrm>
            <a:off x="502920" y="1371600"/>
            <a:ext cx="4892040" cy="1298448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5875">
            <a:solidFill>
              <a:srgbClr val="2E7D32"/>
            </a:solidFill>
          </a:ln>
        </p:spPr>
        <p:txBody>
          <a:bodyPr/>
          <a:lstStyle/>
          <a:p/>
        </p:txBody>
      </p:sp>
      <p:sp>
        <p:nvSpPr>
          <p:cNvPr id="51" name="sct"/>
          <p:cNvSpPr/>
          <p:nvPr/>
        </p:nvSpPr>
        <p:spPr>
          <a:xfrm>
            <a:off x="502920" y="1371600"/>
            <a:ext cx="109728" cy="12984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52" name="sx"/>
          <p:cNvSpPr txBox="1"/>
          <p:nvPr/>
        </p:nvSpPr>
        <p:spPr>
          <a:xfrm>
            <a:off x="795528" y="1463040"/>
            <a:ext cx="4389120" cy="1115568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40"/>
              </a:spcAft>
              <a:buNone/>
            </a:pPr>
            <a:r>
              <a:rPr lang="en-US" sz="2600" b="1" dirty="0">
                <a:solidFill>
                  <a:srgbClr val="2E7D32"/>
                </a:solidFill>
                <a:latin typeface="Calibri"/>
              </a:rPr>
              <a:t>$2.5 Bn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1A2421"/>
                </a:solidFill>
                <a:latin typeface="Calibri"/>
              </a:rPr>
              <a:t>India agritech market by 2034 (from ~$0.97 Bn in 2025, ~10.6% CAGR).</a:t>
            </a:r>
          </a:p>
        </p:txBody>
      </p:sp>
      <p:sp>
        <p:nvSpPr>
          <p:cNvPr id="53" name="sc"/>
          <p:cNvSpPr/>
          <p:nvPr/>
        </p:nvSpPr>
        <p:spPr>
          <a:xfrm>
            <a:off x="502920" y="2788920"/>
            <a:ext cx="4892040" cy="1298448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5875">
            <a:solidFill>
              <a:srgbClr val="1565C0"/>
            </a:solidFill>
          </a:ln>
        </p:spPr>
        <p:txBody>
          <a:bodyPr/>
          <a:lstStyle/>
          <a:p/>
        </p:txBody>
      </p:sp>
      <p:sp>
        <p:nvSpPr>
          <p:cNvPr id="54" name="sct"/>
          <p:cNvSpPr/>
          <p:nvPr/>
        </p:nvSpPr>
        <p:spPr>
          <a:xfrm>
            <a:off x="502920" y="2788920"/>
            <a:ext cx="109728" cy="12984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txBody>
          <a:bodyPr/>
          <a:lstStyle/>
          <a:p/>
        </p:txBody>
      </p:sp>
      <p:sp>
        <p:nvSpPr>
          <p:cNvPr id="55" name="sx"/>
          <p:cNvSpPr txBox="1"/>
          <p:nvPr/>
        </p:nvSpPr>
        <p:spPr>
          <a:xfrm>
            <a:off x="795528" y="2880360"/>
            <a:ext cx="4389120" cy="1115568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40"/>
              </a:spcAft>
              <a:buNone/>
            </a:pPr>
            <a:r>
              <a:rPr lang="en-US" sz="2600" b="1" dirty="0">
                <a:solidFill>
                  <a:srgbClr val="1565C0"/>
                </a:solidFill>
                <a:latin typeface="Calibri"/>
              </a:rPr>
              <a:t>$739 Mn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1A2421"/>
                </a:solidFill>
                <a:latin typeface="Calibri"/>
              </a:rPr>
              <a:t>India precision-agriculture market by 2034 (~9.2% CAGR).</a:t>
            </a:r>
          </a:p>
        </p:txBody>
      </p:sp>
      <p:sp>
        <p:nvSpPr>
          <p:cNvPr id="56" name="sc"/>
          <p:cNvSpPr/>
          <p:nvPr/>
        </p:nvSpPr>
        <p:spPr>
          <a:xfrm>
            <a:off x="502920" y="4206240"/>
            <a:ext cx="4892040" cy="1298448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5875">
            <a:solidFill>
              <a:srgbClr val="EF6C00"/>
            </a:solidFill>
          </a:ln>
        </p:spPr>
        <p:txBody>
          <a:bodyPr/>
          <a:lstStyle/>
          <a:p/>
        </p:txBody>
      </p:sp>
      <p:sp>
        <p:nvSpPr>
          <p:cNvPr id="57" name="sct"/>
          <p:cNvSpPr/>
          <p:nvPr/>
        </p:nvSpPr>
        <p:spPr>
          <a:xfrm>
            <a:off x="502920" y="4206240"/>
            <a:ext cx="109728" cy="1298448"/>
          </a:xfrm>
          <a:prstGeom prst="rect">
            <a:avLst/>
          </a:prstGeom>
          <a:solidFill>
            <a:srgbClr val="EF6C00"/>
          </a:solidFill>
          <a:ln>
            <a:noFill/>
          </a:ln>
        </p:spPr>
        <p:txBody>
          <a:bodyPr/>
          <a:lstStyle/>
          <a:p/>
        </p:txBody>
      </p:sp>
      <p:sp>
        <p:nvSpPr>
          <p:cNvPr id="58" name="sx"/>
          <p:cNvSpPr txBox="1"/>
          <p:nvPr/>
        </p:nvSpPr>
        <p:spPr>
          <a:xfrm>
            <a:off x="795528" y="4297680"/>
            <a:ext cx="4389120" cy="1115568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40"/>
              </a:spcAft>
              <a:buNone/>
            </a:pPr>
            <a:r>
              <a:rPr lang="en-US" sz="2600" b="1" dirty="0">
                <a:solidFill>
                  <a:srgbClr val="EF6C00"/>
                </a:solidFill>
                <a:latin typeface="Calibri"/>
              </a:rPr>
              <a:t>~146 M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1A2421"/>
                </a:solidFill>
                <a:latin typeface="Calibri"/>
              </a:rPr>
              <a:t>farm holdings in India - 86% small/marginal (&lt;2 ha): our core market.</a:t>
            </a:r>
          </a:p>
        </p:txBody>
      </p:sp>
      <p:sp>
        <p:nvSpPr>
          <p:cNvPr id="59" name="scope"/>
          <p:cNvSpPr txBox="1"/>
          <p:nvPr/>
        </p:nvSpPr>
        <p:spPr>
          <a:xfrm>
            <a:off x="5715000" y="1371600"/>
            <a:ext cx="5394960" cy="45720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2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Scope - what it does today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350" dirty="0">
                <a:solidFill>
                  <a:srgbClr val="1A2421"/>
                </a:solidFill>
                <a:latin typeface="Calibri"/>
              </a:rPr>
              <a:t>Soil NPK sensing, AI weed/disease detection, targeted micro-dosing, autonomous navigation.</a:t>
            </a:r>
          </a:p>
          <a:p>
            <a:pPr marL="0" indent="0" algn="l">
              <a:spcBef>
                <a:spcPts val="0"/>
              </a:spcBef>
              <a:spcAft>
                <a:spcPts val="22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Scope - where it grows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350" dirty="0">
                <a:solidFill>
                  <a:srgbClr val="1A2421"/>
                </a:solidFill>
                <a:latin typeface="Calibri"/>
              </a:rPr>
              <a:t>Crops: vegetables, cotton, cereals, orchards, polyhouses.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350" dirty="0">
                <a:solidFill>
                  <a:srgbClr val="1A2421"/>
                </a:solidFill>
                <a:latin typeface="Calibri"/>
              </a:rPr>
              <a:t>Geography: scale across India's small-farm belts via FPOs/co-ops.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350" dirty="0">
                <a:solidFill>
                  <a:srgbClr val="1A2421"/>
                </a:solidFill>
                <a:latin typeface="Calibri"/>
              </a:rPr>
              <a:t>Modular add-ons: seeding, spraying, weeding, scouting, yield mapping.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350" dirty="0">
                <a:solidFill>
                  <a:srgbClr val="1A2421"/>
                </a:solidFill>
                <a:latin typeface="Calibri"/>
              </a:rPr>
              <a:t>Data services: soil &amp; crop-health analytics + prescription maps (recurring revenue).</a:t>
            </a:r>
          </a:p>
        </p:txBody>
      </p:sp>
      <p:sp>
        <p:nvSpPr>
          <p:cNvPr id="60" name="src"/>
          <p:cNvSpPr txBox="1"/>
          <p:nvPr/>
        </p:nvSpPr>
        <p:spPr>
          <a:xfrm>
            <a:off x="502920" y="5943600"/>
            <a:ext cx="1060704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950" i="1" dirty="0">
                <a:solidFill>
                  <a:srgbClr val="5B6B63"/>
                </a:solidFill>
                <a:latin typeface="Calibri"/>
              </a:rPr>
              <a:t>Sources: IMARC (agritech &amp; precision-agriculture market), Agriculture Census 2015-16. Indicative - rephrased.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nd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ent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548640" y="146304"/>
            <a:ext cx="1097280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700" b="1" dirty="0">
                <a:solidFill>
                  <a:srgbClr val="FFFFFF"/>
                </a:solidFill>
                <a:latin typeface="Calibri"/>
              </a:rPr>
              <a:t>Government Tailwinds &amp; Business Model</a:t>
            </a:r>
          </a:p>
        </p:txBody>
      </p:sp>
      <p:sp>
        <p:nvSpPr>
          <p:cNvPr id="13" name="foot"/>
          <p:cNvSpPr txBox="1"/>
          <p:nvPr/>
        </p:nvSpPr>
        <p:spPr>
          <a:xfrm>
            <a:off x="548640" y="6364224"/>
            <a:ext cx="109728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AgriRover  -  IITB-Groww INV.ENT  -  Track A  -  Team of 4 (IIT Bombay)</a:t>
            </a:r>
          </a:p>
        </p:txBody>
      </p:sp>
      <p:sp>
        <p:nvSpPr>
          <p:cNvPr id="61" name="gov"/>
          <p:cNvSpPr txBox="1"/>
          <p:nvPr/>
        </p:nvSpPr>
        <p:spPr>
          <a:xfrm>
            <a:off x="502920" y="1325880"/>
            <a:ext cx="5577840" cy="45720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2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Policy tailwinds (Govt of India)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300" dirty="0">
                <a:solidFill>
                  <a:srgbClr val="1A2421"/>
                </a:solidFill>
                <a:latin typeface="Calibri"/>
              </a:rPr>
              <a:t>SMAM: 50-80% subsidy on farm machinery; funds Custom Hiring Centres (priority to women).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300" dirty="0">
                <a:solidFill>
                  <a:srgbClr val="1A2421"/>
                </a:solidFill>
                <a:latin typeface="Calibri"/>
              </a:rPr>
              <a:t>Agriculture Infrastructure Fund: interest-subvented loans for FPOs/SHGs/agri-entrepreneurs to set up CHCs.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300" dirty="0">
                <a:solidFill>
                  <a:srgbClr val="1A2421"/>
                </a:solidFill>
                <a:latin typeface="Calibri"/>
              </a:rPr>
              <a:t>Namo Drone Didi: 15,000 drones to women SHGs (2023-26) - strong momentum for ag-robotics.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300" dirty="0">
                <a:solidFill>
                  <a:srgbClr val="1A2421"/>
                </a:solidFill>
                <a:latin typeface="Calibri"/>
              </a:rPr>
              <a:t>Soil Health Card Scheme: national push on soil testing - directly aligns with our NPK sensing.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300" dirty="0">
                <a:solidFill>
                  <a:srgbClr val="1A2421"/>
                </a:solidFill>
                <a:latin typeface="Calibri"/>
              </a:rPr>
              <a:t>10,000 FPOs scheme + Digital Agriculture Mission: aggregation &amp; farm-data tailwinds.</a:t>
            </a:r>
          </a:p>
        </p:txBody>
      </p:sp>
      <p:sp>
        <p:nvSpPr>
          <p:cNvPr id="70" name="biz"/>
          <p:cNvSpPr/>
          <p:nvPr/>
        </p:nvSpPr>
        <p:spPr>
          <a:xfrm>
            <a:off x="6355080" y="1371600"/>
            <a:ext cx="4754880" cy="4572000"/>
          </a:xfrm>
          <a:prstGeom prst="roundRect">
            <a:avLst>
              <a:gd name="adj" fmla="val 8000"/>
            </a:avLst>
          </a:prstGeom>
          <a:solidFill>
            <a:srgbClr val="E7F1E4"/>
          </a:solidFill>
          <a:ln w="14000">
            <a:solidFill>
              <a:srgbClr val="2E7D32"/>
            </a:solidFill>
          </a:ln>
        </p:spPr>
        <p:txBody>
          <a:bodyPr/>
          <a:lstStyle/>
          <a:p/>
        </p:txBody>
      </p:sp>
      <p:sp>
        <p:nvSpPr>
          <p:cNvPr id="71" name="bizt"/>
          <p:cNvSpPr txBox="1"/>
          <p:nvPr/>
        </p:nvSpPr>
        <p:spPr>
          <a:xfrm>
            <a:off x="6583680" y="1554480"/>
            <a:ext cx="4343400" cy="42062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2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How we leverage it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250" dirty="0">
                <a:solidFill>
                  <a:srgbClr val="1A2421"/>
                </a:solidFill>
                <a:latin typeface="Calibri"/>
              </a:rPr>
              <a:t>Rover qualifies as agri-machinery -&gt; SMAM subsidy lowers farmer cost.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250" dirty="0">
                <a:solidFill>
                  <a:srgbClr val="1A2421"/>
                </a:solidFill>
                <a:latin typeface="Calibri"/>
              </a:rPr>
              <a:t>Deploy via FPOs / Custom Hiring Centres financed by AIF -&gt; shared-asset model.</a:t>
            </a:r>
          </a:p>
          <a:p>
            <a:pPr marL="0" indent="0" algn="l">
              <a:spcBef>
                <a:spcPts val="0"/>
              </a:spcBef>
              <a:spcAft>
                <a:spcPts val="22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Revenue streams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250" dirty="0">
                <a:solidFill>
                  <a:srgbClr val="1A2421"/>
                </a:solidFill>
                <a:latin typeface="Calibri"/>
              </a:rPr>
              <a:t>Rover sale + annual service contract.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250" dirty="0">
                <a:solidFill>
                  <a:srgbClr val="1A2421"/>
                </a:solidFill>
                <a:latin typeface="Calibri"/>
              </a:rPr>
              <a:t>Rover-as-a-Service: per-acre fee via FPO/CHC.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250" dirty="0">
                <a:solidFill>
                  <a:srgbClr val="1A2421"/>
                </a:solidFill>
                <a:latin typeface="Calibri"/>
              </a:rPr>
              <a:t>Subscription: soil &amp; crop analytics + prescription maps.</a:t>
            </a:r>
          </a:p>
        </p:txBody>
      </p:sp>
      <p:sp>
        <p:nvSpPr>
          <p:cNvPr id="72" name="src2"/>
          <p:cNvSpPr txBox="1"/>
          <p:nvPr/>
        </p:nvSpPr>
        <p:spPr>
          <a:xfrm>
            <a:off x="502920" y="5943600"/>
            <a:ext cx="1060704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950" i="1" dirty="0">
                <a:solidFill>
                  <a:srgbClr val="5B6B63"/>
                </a:solidFill>
                <a:latin typeface="Calibri"/>
              </a:rPr>
              <a:t>Scheme details (SMAM, AIF, Namo Drone Didi, Soil Health Card) per Govt of India / PIB - rephrased; verify exact terms before claims.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nd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ent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548640" y="146304"/>
            <a:ext cx="1097280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700" b="1" dirty="0">
                <a:solidFill>
                  <a:srgbClr val="FFFFFF"/>
                </a:solidFill>
                <a:latin typeface="Calibri"/>
              </a:rPr>
              <a:t>What We've Built  (POC/MVP)</a:t>
            </a:r>
          </a:p>
        </p:txBody>
      </p:sp>
      <p:sp>
        <p:nvSpPr>
          <p:cNvPr id="13" name="foot"/>
          <p:cNvSpPr txBox="1"/>
          <p:nvPr/>
        </p:nvSpPr>
        <p:spPr>
          <a:xfrm>
            <a:off x="548640" y="6364224"/>
            <a:ext cx="109728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AgriRover  -  IITB-Groww INV.ENT  -  Track A  -  Team of 4 (IIT Bombay)</a:t>
            </a:r>
          </a:p>
        </p:txBody>
      </p:sp>
      <p:sp>
        <p:nvSpPr>
          <p:cNvPr id="80" name="card"/>
          <p:cNvSpPr/>
          <p:nvPr/>
        </p:nvSpPr>
        <p:spPr>
          <a:xfrm>
            <a:off x="502920" y="1371600"/>
            <a:ext cx="3310128" cy="224028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5875">
            <a:solidFill>
              <a:srgbClr val="2E7D32"/>
            </a:solidFill>
          </a:ln>
        </p:spPr>
        <p:txBody>
          <a:bodyPr/>
          <a:lstStyle/>
          <a:p/>
        </p:txBody>
      </p:sp>
      <p:sp>
        <p:nvSpPr>
          <p:cNvPr id="81" name="tab"/>
          <p:cNvSpPr/>
          <p:nvPr/>
        </p:nvSpPr>
        <p:spPr>
          <a:xfrm>
            <a:off x="502920" y="1371600"/>
            <a:ext cx="109728" cy="22402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82" name="ct"/>
          <p:cNvSpPr txBox="1"/>
          <p:nvPr/>
        </p:nvSpPr>
        <p:spPr>
          <a:xfrm>
            <a:off x="758952" y="1517904"/>
            <a:ext cx="2898648" cy="19659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160"/>
              </a:spcAft>
              <a:buNone/>
            </a:pPr>
            <a:r>
              <a:rPr lang="en-US" sz="1300" b="1" dirty="0">
                <a:solidFill>
                  <a:srgbClr val="2E7D32"/>
                </a:solidFill>
                <a:latin typeface="Calibri"/>
              </a:rPr>
              <a:t>Firmware (ESP32 / FreeRTOS)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Dual-core drive, NPK/RS485 sensing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Dosing state machine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Secure MQTT + UART link</a:t>
            </a:r>
          </a:p>
        </p:txBody>
      </p:sp>
      <p:sp>
        <p:nvSpPr>
          <p:cNvPr id="83" name="card"/>
          <p:cNvSpPr/>
          <p:nvPr/>
        </p:nvSpPr>
        <p:spPr>
          <a:xfrm>
            <a:off x="3977640" y="1371600"/>
            <a:ext cx="3310128" cy="224028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5875">
            <a:solidFill>
              <a:srgbClr val="1565C0"/>
            </a:solidFill>
          </a:ln>
        </p:spPr>
        <p:txBody>
          <a:bodyPr/>
          <a:lstStyle/>
          <a:p/>
        </p:txBody>
      </p:sp>
      <p:sp>
        <p:nvSpPr>
          <p:cNvPr id="84" name="tab"/>
          <p:cNvSpPr/>
          <p:nvPr/>
        </p:nvSpPr>
        <p:spPr>
          <a:xfrm>
            <a:off x="3977640" y="1371600"/>
            <a:ext cx="109728" cy="224028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txBody>
          <a:bodyPr/>
          <a:lstStyle/>
          <a:p/>
        </p:txBody>
      </p:sp>
      <p:sp>
        <p:nvSpPr>
          <p:cNvPr id="85" name="ct"/>
          <p:cNvSpPr txBox="1"/>
          <p:nvPr/>
        </p:nvSpPr>
        <p:spPr>
          <a:xfrm>
            <a:off x="4233672" y="1517904"/>
            <a:ext cx="2898648" cy="19659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160"/>
              </a:spcAft>
              <a:buNone/>
            </a:pPr>
            <a:r>
              <a:rPr lang="en-US" sz="1300" b="1" dirty="0">
                <a:solidFill>
                  <a:srgbClr val="1565C0"/>
                </a:solidFill>
                <a:latin typeface="Calibri"/>
              </a:rPr>
              <a:t>AI Vision (Raspberry Pi)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YOLOv8n weed/disease/obstacle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Runs on Coral Edge TPU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Training notebooks included</a:t>
            </a:r>
          </a:p>
        </p:txBody>
      </p:sp>
      <p:sp>
        <p:nvSpPr>
          <p:cNvPr id="86" name="card"/>
          <p:cNvSpPr/>
          <p:nvPr/>
        </p:nvSpPr>
        <p:spPr>
          <a:xfrm>
            <a:off x="7452360" y="1371600"/>
            <a:ext cx="3310128" cy="224028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5875">
            <a:solidFill>
              <a:srgbClr val="6A1B9A"/>
            </a:solidFill>
          </a:ln>
        </p:spPr>
        <p:txBody>
          <a:bodyPr/>
          <a:lstStyle/>
          <a:p/>
        </p:txBody>
      </p:sp>
      <p:sp>
        <p:nvSpPr>
          <p:cNvPr id="87" name="tab"/>
          <p:cNvSpPr/>
          <p:nvPr/>
        </p:nvSpPr>
        <p:spPr>
          <a:xfrm>
            <a:off x="7452360" y="1371600"/>
            <a:ext cx="109728" cy="224028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txBody>
          <a:bodyPr/>
          <a:lstStyle/>
          <a:p/>
        </p:txBody>
      </p:sp>
      <p:sp>
        <p:nvSpPr>
          <p:cNvPr id="88" name="ct"/>
          <p:cNvSpPr txBox="1"/>
          <p:nvPr/>
        </p:nvSpPr>
        <p:spPr>
          <a:xfrm>
            <a:off x="7708392" y="1517904"/>
            <a:ext cx="2898648" cy="19659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160"/>
              </a:spcAft>
              <a:buNone/>
            </a:pPr>
            <a:r>
              <a:rPr lang="en-US" sz="1300" b="1" dirty="0">
                <a:solidFill>
                  <a:srgbClr val="6A1B9A"/>
                </a:solidFill>
                <a:latin typeface="Calibri"/>
              </a:rPr>
              <a:t>Navigation &amp; Systems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EKF + GPS + vision geo-tag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Snake-route path planner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ROS2 nodes + full simulator</a:t>
            </a:r>
          </a:p>
        </p:txBody>
      </p:sp>
      <p:sp>
        <p:nvSpPr>
          <p:cNvPr id="89" name="card"/>
          <p:cNvSpPr/>
          <p:nvPr/>
        </p:nvSpPr>
        <p:spPr>
          <a:xfrm>
            <a:off x="502920" y="3776472"/>
            <a:ext cx="3310128" cy="224028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5875">
            <a:solidFill>
              <a:srgbClr val="F9A825"/>
            </a:solidFill>
          </a:ln>
        </p:spPr>
        <p:txBody>
          <a:bodyPr/>
          <a:lstStyle/>
          <a:p/>
        </p:txBody>
      </p:sp>
      <p:sp>
        <p:nvSpPr>
          <p:cNvPr id="90" name="tab"/>
          <p:cNvSpPr/>
          <p:nvPr/>
        </p:nvSpPr>
        <p:spPr>
          <a:xfrm>
            <a:off x="502920" y="3776472"/>
            <a:ext cx="109728" cy="224028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91" name="ct"/>
          <p:cNvSpPr txBox="1"/>
          <p:nvPr/>
        </p:nvSpPr>
        <p:spPr>
          <a:xfrm>
            <a:off x="758952" y="3922776"/>
            <a:ext cx="2898648" cy="19659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160"/>
              </a:spcAft>
              <a:buNone/>
            </a:pPr>
            <a:r>
              <a:rPr lang="en-US" sz="1300" b="1" dirty="0">
                <a:solidFill>
                  <a:srgbClr val="F9A825"/>
                </a:solidFill>
                <a:latin typeface="Calibri"/>
              </a:rPr>
              <a:t>Software Tooling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Live dashboard + Telegram alerts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CI pipeline (automated build)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Black-box data logging</a:t>
            </a:r>
          </a:p>
        </p:txBody>
      </p:sp>
      <p:sp>
        <p:nvSpPr>
          <p:cNvPr id="92" name="card"/>
          <p:cNvSpPr/>
          <p:nvPr/>
        </p:nvSpPr>
        <p:spPr>
          <a:xfrm>
            <a:off x="3977640" y="3776472"/>
            <a:ext cx="3310128" cy="224028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5875">
            <a:solidFill>
              <a:srgbClr val="EF6C00"/>
            </a:solidFill>
          </a:ln>
        </p:spPr>
        <p:txBody>
          <a:bodyPr/>
          <a:lstStyle/>
          <a:p/>
        </p:txBody>
      </p:sp>
      <p:sp>
        <p:nvSpPr>
          <p:cNvPr id="93" name="tab"/>
          <p:cNvSpPr/>
          <p:nvPr/>
        </p:nvSpPr>
        <p:spPr>
          <a:xfrm>
            <a:off x="3977640" y="3776472"/>
            <a:ext cx="109728" cy="2240280"/>
          </a:xfrm>
          <a:prstGeom prst="rect">
            <a:avLst/>
          </a:prstGeom>
          <a:solidFill>
            <a:srgbClr val="EF6C00"/>
          </a:solidFill>
          <a:ln>
            <a:noFill/>
          </a:ln>
        </p:spPr>
        <p:txBody>
          <a:bodyPr/>
          <a:lstStyle/>
          <a:p/>
        </p:txBody>
      </p:sp>
      <p:sp>
        <p:nvSpPr>
          <p:cNvPr id="94" name="ct"/>
          <p:cNvSpPr txBox="1"/>
          <p:nvPr/>
        </p:nvSpPr>
        <p:spPr>
          <a:xfrm>
            <a:off x="4233672" y="3922776"/>
            <a:ext cx="2898648" cy="19659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160"/>
              </a:spcAft>
              <a:buNone/>
            </a:pPr>
            <a:r>
              <a:rPr lang="en-US" sz="1300" b="1" dirty="0">
                <a:solidFill>
                  <a:srgbClr val="EF6C00"/>
                </a:solidFill>
                <a:latin typeface="Calibri"/>
              </a:rPr>
              <a:t>Hardware Design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Verified circuit + wiring v2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110-part BOM, fully costed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+15 gap-audit &amp; v2 upgrades</a:t>
            </a:r>
          </a:p>
        </p:txBody>
      </p:sp>
      <p:sp>
        <p:nvSpPr>
          <p:cNvPr id="95" name="card"/>
          <p:cNvSpPr/>
          <p:nvPr/>
        </p:nvSpPr>
        <p:spPr>
          <a:xfrm>
            <a:off x="7452360" y="3776472"/>
            <a:ext cx="3310128" cy="224028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5875">
            <a:solidFill>
              <a:srgbClr val="2E7D32"/>
            </a:solidFill>
          </a:ln>
        </p:spPr>
        <p:txBody>
          <a:bodyPr/>
          <a:lstStyle/>
          <a:p/>
        </p:txBody>
      </p:sp>
      <p:sp>
        <p:nvSpPr>
          <p:cNvPr id="96" name="tab"/>
          <p:cNvSpPr/>
          <p:nvPr/>
        </p:nvSpPr>
        <p:spPr>
          <a:xfrm>
            <a:off x="7452360" y="3776472"/>
            <a:ext cx="109728" cy="22402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97" name="ct"/>
          <p:cNvSpPr txBox="1"/>
          <p:nvPr/>
        </p:nvSpPr>
        <p:spPr>
          <a:xfrm>
            <a:off x="7708392" y="3922776"/>
            <a:ext cx="2898648" cy="19659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160"/>
              </a:spcAft>
              <a:buNone/>
            </a:pPr>
            <a:r>
              <a:rPr lang="en-US" sz="1300" b="1" dirty="0">
                <a:solidFill>
                  <a:srgbClr val="2E7D32"/>
                </a:solidFill>
                <a:latin typeface="Calibri"/>
              </a:rPr>
              <a:t>Field Reliability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10 real field risks engineered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Heat/battery, stall, comms-loss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Dust/dew sealing &amp; fail-safes</a:t>
            </a:r>
          </a:p>
        </p:txBody>
      </p:sp>
      <p:sp>
        <p:nvSpPr>
          <p:cNvPr id="98" name="note"/>
          <p:cNvSpPr txBox="1"/>
          <p:nvPr/>
        </p:nvSpPr>
        <p:spPr>
          <a:xfrm>
            <a:off x="502920" y="5989320"/>
            <a:ext cx="10515600" cy="3200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5B6B63"/>
                </a:solidFill>
                <a:latin typeface="Calibri"/>
              </a:rPr>
              <a:t>Built end-to-end by our 4-member team - software validated in simulation; hardware integration is the next step.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nd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ent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548640" y="146304"/>
            <a:ext cx="1097280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700" b="1" dirty="0">
                <a:solidFill>
                  <a:srgbClr val="FFFFFF"/>
                </a:solidFill>
                <a:latin typeface="Calibri"/>
              </a:rPr>
              <a:t>PoC Hypothesis &amp; Metrics</a:t>
            </a:r>
          </a:p>
        </p:txBody>
      </p:sp>
      <p:sp>
        <p:nvSpPr>
          <p:cNvPr id="13" name="foot"/>
          <p:cNvSpPr txBox="1"/>
          <p:nvPr/>
        </p:nvSpPr>
        <p:spPr>
          <a:xfrm>
            <a:off x="548640" y="6364224"/>
            <a:ext cx="109728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AgriRover  -  IITB-Groww INV.ENT  -  Track A  -  Team of 4 (IIT Bombay)</a:t>
            </a:r>
          </a:p>
        </p:txBody>
      </p:sp>
      <p:sp>
        <p:nvSpPr>
          <p:cNvPr id="30" name="b"/>
          <p:cNvSpPr txBox="1"/>
          <p:nvPr/>
        </p:nvSpPr>
        <p:spPr>
          <a:xfrm>
            <a:off x="548640" y="1325880"/>
            <a:ext cx="10698480" cy="47548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2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Hypothesis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Per-plant sensing + targeted dosing cuts fertilizer/chemical use sharply with no yield loss.</a:t>
            </a:r>
          </a:p>
          <a:p>
            <a:pPr marL="0" indent="0" algn="l">
              <a:spcBef>
                <a:spcPts val="0"/>
              </a:spcBef>
              <a:spcAft>
                <a:spcPts val="22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Metrics we will prove in pilot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Fertilizer/pesticide reduction % vs hand broadcasting.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Weed/disease detection accuracy (precision &amp; recall); dosing placement accuracy (cm).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Area covered per charge; cost saving per acre per season.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rgbClr val="2E7D32"/>
                </a:solidFill>
                <a:latin typeface="Calibri"/>
              </a:rPr>
              <a:t>Targets to prove: 30-50% input reduction, &gt;85% detection accuracy.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nd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ent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548640" y="146304"/>
            <a:ext cx="1097280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700" b="1" dirty="0">
                <a:solidFill>
                  <a:srgbClr val="FFFFFF"/>
                </a:solidFill>
                <a:latin typeface="Calibri"/>
              </a:rPr>
              <a:t>Projected Impact &amp; Scale  (Simulation)</a:t>
            </a:r>
          </a:p>
        </p:txBody>
      </p:sp>
      <p:sp>
        <p:nvSpPr>
          <p:cNvPr id="13" name="foot"/>
          <p:cNvSpPr txBox="1"/>
          <p:nvPr/>
        </p:nvSpPr>
        <p:spPr>
          <a:xfrm>
            <a:off x="548640" y="6364224"/>
            <a:ext cx="109728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AgriRover  -  IITB-Groww INV.ENT  -  Track A  -  Team of 4 (IIT Bombay)</a:t>
            </a:r>
          </a:p>
        </p:txBody>
      </p:sp>
      <p:sp>
        <p:nvSpPr>
          <p:cNvPr id="200" name="pnl"/>
          <p:cNvSpPr/>
          <p:nvPr/>
        </p:nvSpPr>
        <p:spPr>
          <a:xfrm>
            <a:off x="502920" y="1325880"/>
            <a:ext cx="338328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3D1"/>
            </a:solidFill>
          </a:ln>
        </p:spPr>
        <p:txBody>
          <a:bodyPr/>
          <a:lstStyle/>
          <a:p/>
        </p:txBody>
      </p:sp>
      <p:sp>
        <p:nvSpPr>
          <p:cNvPr id="201" name="pt"/>
          <p:cNvSpPr txBox="1"/>
          <p:nvPr/>
        </p:nvSpPr>
        <p:spPr>
          <a:xfrm>
            <a:off x="667512" y="1417320"/>
            <a:ext cx="3054096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4532D"/>
                </a:solidFill>
                <a:latin typeface="Calibri"/>
              </a:rPr>
              <a:t>Fertilizer use per acre (kg)</a:t>
            </a:r>
          </a:p>
        </p:txBody>
      </p:sp>
      <p:sp>
        <p:nvSpPr>
          <p:cNvPr id="202" name="gl"/>
          <p:cNvSpPr/>
          <p:nvPr/>
        </p:nvSpPr>
        <p:spPr>
          <a:xfrm>
            <a:off x="758952" y="3417570"/>
            <a:ext cx="2926080" cy="10058"/>
          </a:xfrm>
          <a:prstGeom prst="rect">
            <a:avLst/>
          </a:prstGeom>
          <a:solidFill>
            <a:srgbClr val="E3E8E3"/>
          </a:solidFill>
          <a:ln>
            <a:noFill/>
          </a:ln>
        </p:spPr>
        <p:txBody>
          <a:bodyPr/>
          <a:lstStyle/>
          <a:p/>
        </p:txBody>
      </p:sp>
      <p:sp>
        <p:nvSpPr>
          <p:cNvPr id="203" name="gl"/>
          <p:cNvSpPr/>
          <p:nvPr/>
        </p:nvSpPr>
        <p:spPr>
          <a:xfrm>
            <a:off x="758952" y="2921508"/>
            <a:ext cx="2926080" cy="10058"/>
          </a:xfrm>
          <a:prstGeom prst="rect">
            <a:avLst/>
          </a:prstGeom>
          <a:solidFill>
            <a:srgbClr val="E3E8E3"/>
          </a:solidFill>
          <a:ln>
            <a:noFill/>
          </a:ln>
        </p:spPr>
        <p:txBody>
          <a:bodyPr/>
          <a:lstStyle/>
          <a:p/>
        </p:txBody>
      </p:sp>
      <p:sp>
        <p:nvSpPr>
          <p:cNvPr id="204" name="gl"/>
          <p:cNvSpPr/>
          <p:nvPr/>
        </p:nvSpPr>
        <p:spPr>
          <a:xfrm>
            <a:off x="758952" y="2425446"/>
            <a:ext cx="2926080" cy="10058"/>
          </a:xfrm>
          <a:prstGeom prst="rect">
            <a:avLst/>
          </a:prstGeom>
          <a:solidFill>
            <a:srgbClr val="E3E8E3"/>
          </a:solidFill>
          <a:ln>
            <a:noFill/>
          </a:ln>
        </p:spPr>
        <p:txBody>
          <a:bodyPr/>
          <a:lstStyle/>
          <a:p/>
        </p:txBody>
      </p:sp>
      <p:sp>
        <p:nvSpPr>
          <p:cNvPr id="205" name="bl"/>
          <p:cNvSpPr/>
          <p:nvPr/>
        </p:nvSpPr>
        <p:spPr>
          <a:xfrm>
            <a:off x="758952" y="3913632"/>
            <a:ext cx="2926080" cy="16459"/>
          </a:xfrm>
          <a:prstGeom prst="rect">
            <a:avLst/>
          </a:prstGeom>
          <a:solidFill>
            <a:srgbClr val="9AAE9A"/>
          </a:solidFill>
          <a:ln>
            <a:noFill/>
          </a:ln>
        </p:spPr>
        <p:txBody>
          <a:bodyPr/>
          <a:lstStyle/>
          <a:p/>
        </p:txBody>
      </p:sp>
      <p:sp>
        <p:nvSpPr>
          <p:cNvPr id="206" name="bar"/>
          <p:cNvSpPr/>
          <p:nvPr/>
        </p:nvSpPr>
        <p:spPr>
          <a:xfrm>
            <a:off x="1153973" y="2109771"/>
            <a:ext cx="672998" cy="1803861"/>
          </a:xfrm>
          <a:prstGeom prst="rect">
            <a:avLst/>
          </a:prstGeom>
          <a:solidFill>
            <a:srgbClr val="E0934B"/>
          </a:solidFill>
          <a:ln>
            <a:noFill/>
          </a:ln>
        </p:spPr>
        <p:txBody>
          <a:bodyPr/>
          <a:lstStyle/>
          <a:p/>
        </p:txBody>
      </p:sp>
      <p:sp>
        <p:nvSpPr>
          <p:cNvPr id="207" name="vl"/>
          <p:cNvSpPr txBox="1"/>
          <p:nvPr/>
        </p:nvSpPr>
        <p:spPr>
          <a:xfrm>
            <a:off x="758952" y="1817163"/>
            <a:ext cx="1463040" cy="27432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1A2421"/>
                </a:solidFill>
                <a:latin typeface="Calibri"/>
              </a:rPr>
              <a:t>100</a:t>
            </a:r>
          </a:p>
        </p:txBody>
      </p:sp>
      <p:sp>
        <p:nvSpPr>
          <p:cNvPr id="208" name="cl"/>
          <p:cNvSpPr txBox="1"/>
          <p:nvPr/>
        </p:nvSpPr>
        <p:spPr>
          <a:xfrm>
            <a:off x="758952" y="3950208"/>
            <a:ext cx="1463040" cy="38404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Broadcast</a:t>
            </a:r>
          </a:p>
        </p:txBody>
      </p:sp>
      <p:sp>
        <p:nvSpPr>
          <p:cNvPr id="209" name="bar"/>
          <p:cNvSpPr/>
          <p:nvPr/>
        </p:nvSpPr>
        <p:spPr>
          <a:xfrm>
            <a:off x="2617013" y="2921508"/>
            <a:ext cx="672998" cy="99212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210" name="vl"/>
          <p:cNvSpPr txBox="1"/>
          <p:nvPr/>
        </p:nvSpPr>
        <p:spPr>
          <a:xfrm>
            <a:off x="2221992" y="2628900"/>
            <a:ext cx="1463040" cy="27432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1A2421"/>
                </a:solidFill>
                <a:latin typeface="Calibri"/>
              </a:rPr>
              <a:t>55</a:t>
            </a:r>
          </a:p>
        </p:txBody>
      </p:sp>
      <p:sp>
        <p:nvSpPr>
          <p:cNvPr id="211" name="cl"/>
          <p:cNvSpPr txBox="1"/>
          <p:nvPr/>
        </p:nvSpPr>
        <p:spPr>
          <a:xfrm>
            <a:off x="2221992" y="3950208"/>
            <a:ext cx="1463040" cy="38404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AgriRover</a:t>
            </a:r>
          </a:p>
        </p:txBody>
      </p:sp>
      <p:sp>
        <p:nvSpPr>
          <p:cNvPr id="212" name="pnl"/>
          <p:cNvSpPr/>
          <p:nvPr/>
        </p:nvSpPr>
        <p:spPr>
          <a:xfrm>
            <a:off x="4160520" y="1325880"/>
            <a:ext cx="338328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3D1"/>
            </a:solidFill>
          </a:ln>
        </p:spPr>
        <p:txBody>
          <a:bodyPr/>
          <a:lstStyle/>
          <a:p/>
        </p:txBody>
      </p:sp>
      <p:sp>
        <p:nvSpPr>
          <p:cNvPr id="213" name="pt"/>
          <p:cNvSpPr txBox="1"/>
          <p:nvPr/>
        </p:nvSpPr>
        <p:spPr>
          <a:xfrm>
            <a:off x="4325112" y="1417320"/>
            <a:ext cx="3054096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4532D"/>
                </a:solidFill>
                <a:latin typeface="Calibri"/>
              </a:rPr>
              <a:t>Input cost per acre / season (Rs)</a:t>
            </a:r>
          </a:p>
        </p:txBody>
      </p:sp>
      <p:sp>
        <p:nvSpPr>
          <p:cNvPr id="214" name="gl"/>
          <p:cNvSpPr/>
          <p:nvPr/>
        </p:nvSpPr>
        <p:spPr>
          <a:xfrm>
            <a:off x="4416552" y="3417570"/>
            <a:ext cx="2926080" cy="10058"/>
          </a:xfrm>
          <a:prstGeom prst="rect">
            <a:avLst/>
          </a:prstGeom>
          <a:solidFill>
            <a:srgbClr val="E3E8E3"/>
          </a:solidFill>
          <a:ln>
            <a:noFill/>
          </a:ln>
        </p:spPr>
        <p:txBody>
          <a:bodyPr/>
          <a:lstStyle/>
          <a:p/>
        </p:txBody>
      </p:sp>
      <p:sp>
        <p:nvSpPr>
          <p:cNvPr id="215" name="gl"/>
          <p:cNvSpPr/>
          <p:nvPr/>
        </p:nvSpPr>
        <p:spPr>
          <a:xfrm>
            <a:off x="4416552" y="2921508"/>
            <a:ext cx="2926080" cy="10058"/>
          </a:xfrm>
          <a:prstGeom prst="rect">
            <a:avLst/>
          </a:prstGeom>
          <a:solidFill>
            <a:srgbClr val="E3E8E3"/>
          </a:solidFill>
          <a:ln>
            <a:noFill/>
          </a:ln>
        </p:spPr>
        <p:txBody>
          <a:bodyPr/>
          <a:lstStyle/>
          <a:p/>
        </p:txBody>
      </p:sp>
      <p:sp>
        <p:nvSpPr>
          <p:cNvPr id="216" name="gl"/>
          <p:cNvSpPr/>
          <p:nvPr/>
        </p:nvSpPr>
        <p:spPr>
          <a:xfrm>
            <a:off x="4416552" y="2425446"/>
            <a:ext cx="2926080" cy="10058"/>
          </a:xfrm>
          <a:prstGeom prst="rect">
            <a:avLst/>
          </a:prstGeom>
          <a:solidFill>
            <a:srgbClr val="E3E8E3"/>
          </a:solidFill>
          <a:ln>
            <a:noFill/>
          </a:ln>
        </p:spPr>
        <p:txBody>
          <a:bodyPr/>
          <a:lstStyle/>
          <a:p/>
        </p:txBody>
      </p:sp>
      <p:sp>
        <p:nvSpPr>
          <p:cNvPr id="217" name="bl"/>
          <p:cNvSpPr/>
          <p:nvPr/>
        </p:nvSpPr>
        <p:spPr>
          <a:xfrm>
            <a:off x="4416552" y="3913632"/>
            <a:ext cx="2926080" cy="16459"/>
          </a:xfrm>
          <a:prstGeom prst="rect">
            <a:avLst/>
          </a:prstGeom>
          <a:solidFill>
            <a:srgbClr val="9AAE9A"/>
          </a:solidFill>
          <a:ln>
            <a:noFill/>
          </a:ln>
        </p:spPr>
        <p:txBody>
          <a:bodyPr/>
          <a:lstStyle/>
          <a:p/>
        </p:txBody>
      </p:sp>
      <p:sp>
        <p:nvSpPr>
          <p:cNvPr id="218" name="bar"/>
          <p:cNvSpPr/>
          <p:nvPr/>
        </p:nvSpPr>
        <p:spPr>
          <a:xfrm>
            <a:off x="4811573" y="2109771"/>
            <a:ext cx="672998" cy="1803861"/>
          </a:xfrm>
          <a:prstGeom prst="rect">
            <a:avLst/>
          </a:prstGeom>
          <a:solidFill>
            <a:srgbClr val="E0934B"/>
          </a:solidFill>
          <a:ln>
            <a:noFill/>
          </a:ln>
        </p:spPr>
        <p:txBody>
          <a:bodyPr/>
          <a:lstStyle/>
          <a:p/>
        </p:txBody>
      </p:sp>
      <p:sp>
        <p:nvSpPr>
          <p:cNvPr id="219" name="vl"/>
          <p:cNvSpPr txBox="1"/>
          <p:nvPr/>
        </p:nvSpPr>
        <p:spPr>
          <a:xfrm>
            <a:off x="4416552" y="1817163"/>
            <a:ext cx="1463040" cy="27432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1A2421"/>
                </a:solidFill>
                <a:latin typeface="Calibri"/>
              </a:rPr>
              <a:t>6,000</a:t>
            </a:r>
          </a:p>
        </p:txBody>
      </p:sp>
      <p:sp>
        <p:nvSpPr>
          <p:cNvPr id="220" name="cl"/>
          <p:cNvSpPr txBox="1"/>
          <p:nvPr/>
        </p:nvSpPr>
        <p:spPr>
          <a:xfrm>
            <a:off x="4416552" y="3950208"/>
            <a:ext cx="1463040" cy="38404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Before</a:t>
            </a:r>
          </a:p>
        </p:txBody>
      </p:sp>
      <p:sp>
        <p:nvSpPr>
          <p:cNvPr id="221" name="bar"/>
          <p:cNvSpPr/>
          <p:nvPr/>
        </p:nvSpPr>
        <p:spPr>
          <a:xfrm>
            <a:off x="6274613" y="2831315"/>
            <a:ext cx="672998" cy="1082317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222" name="vl"/>
          <p:cNvSpPr txBox="1"/>
          <p:nvPr/>
        </p:nvSpPr>
        <p:spPr>
          <a:xfrm>
            <a:off x="5879592" y="2538707"/>
            <a:ext cx="1463040" cy="27432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1A2421"/>
                </a:solidFill>
                <a:latin typeface="Calibri"/>
              </a:rPr>
              <a:t>3,600</a:t>
            </a:r>
          </a:p>
        </p:txBody>
      </p:sp>
      <p:sp>
        <p:nvSpPr>
          <p:cNvPr id="223" name="cl"/>
          <p:cNvSpPr txBox="1"/>
          <p:nvPr/>
        </p:nvSpPr>
        <p:spPr>
          <a:xfrm>
            <a:off x="5879592" y="3950208"/>
            <a:ext cx="1463040" cy="38404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With AgriRover</a:t>
            </a:r>
          </a:p>
        </p:txBody>
      </p:sp>
      <p:sp>
        <p:nvSpPr>
          <p:cNvPr id="224" name="pnl"/>
          <p:cNvSpPr/>
          <p:nvPr/>
        </p:nvSpPr>
        <p:spPr>
          <a:xfrm>
            <a:off x="7818120" y="1325880"/>
            <a:ext cx="338328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3D1"/>
            </a:solidFill>
          </a:ln>
        </p:spPr>
        <p:txBody>
          <a:bodyPr/>
          <a:lstStyle/>
          <a:p/>
        </p:txBody>
      </p:sp>
      <p:sp>
        <p:nvSpPr>
          <p:cNvPr id="225" name="pt"/>
          <p:cNvSpPr txBox="1"/>
          <p:nvPr/>
        </p:nvSpPr>
        <p:spPr>
          <a:xfrm>
            <a:off x="7982712" y="1417320"/>
            <a:ext cx="3054096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4532D"/>
                </a:solidFill>
                <a:latin typeface="Calibri"/>
              </a:rPr>
              <a:t>Farms served (3-yr projection)</a:t>
            </a:r>
          </a:p>
        </p:txBody>
      </p:sp>
      <p:sp>
        <p:nvSpPr>
          <p:cNvPr id="226" name="gl"/>
          <p:cNvSpPr/>
          <p:nvPr/>
        </p:nvSpPr>
        <p:spPr>
          <a:xfrm>
            <a:off x="8074152" y="3417570"/>
            <a:ext cx="2926080" cy="10058"/>
          </a:xfrm>
          <a:prstGeom prst="rect">
            <a:avLst/>
          </a:prstGeom>
          <a:solidFill>
            <a:srgbClr val="E3E8E3"/>
          </a:solidFill>
          <a:ln>
            <a:noFill/>
          </a:ln>
        </p:spPr>
        <p:txBody>
          <a:bodyPr/>
          <a:lstStyle/>
          <a:p/>
        </p:txBody>
      </p:sp>
      <p:sp>
        <p:nvSpPr>
          <p:cNvPr id="227" name="gl"/>
          <p:cNvSpPr/>
          <p:nvPr/>
        </p:nvSpPr>
        <p:spPr>
          <a:xfrm>
            <a:off x="8074152" y="2921508"/>
            <a:ext cx="2926080" cy="10058"/>
          </a:xfrm>
          <a:prstGeom prst="rect">
            <a:avLst/>
          </a:prstGeom>
          <a:solidFill>
            <a:srgbClr val="E3E8E3"/>
          </a:solidFill>
          <a:ln>
            <a:noFill/>
          </a:ln>
        </p:spPr>
        <p:txBody>
          <a:bodyPr/>
          <a:lstStyle/>
          <a:p/>
        </p:txBody>
      </p:sp>
      <p:sp>
        <p:nvSpPr>
          <p:cNvPr id="228" name="gl"/>
          <p:cNvSpPr/>
          <p:nvPr/>
        </p:nvSpPr>
        <p:spPr>
          <a:xfrm>
            <a:off x="8074152" y="2425446"/>
            <a:ext cx="2926080" cy="10058"/>
          </a:xfrm>
          <a:prstGeom prst="rect">
            <a:avLst/>
          </a:prstGeom>
          <a:solidFill>
            <a:srgbClr val="E3E8E3"/>
          </a:solidFill>
          <a:ln>
            <a:noFill/>
          </a:ln>
        </p:spPr>
        <p:txBody>
          <a:bodyPr/>
          <a:lstStyle/>
          <a:p/>
        </p:txBody>
      </p:sp>
      <p:sp>
        <p:nvSpPr>
          <p:cNvPr id="229" name="bl"/>
          <p:cNvSpPr/>
          <p:nvPr/>
        </p:nvSpPr>
        <p:spPr>
          <a:xfrm>
            <a:off x="8074152" y="3913632"/>
            <a:ext cx="2926080" cy="16459"/>
          </a:xfrm>
          <a:prstGeom prst="rect">
            <a:avLst/>
          </a:prstGeom>
          <a:solidFill>
            <a:srgbClr val="9AAE9A"/>
          </a:solidFill>
          <a:ln>
            <a:noFill/>
          </a:ln>
        </p:spPr>
        <p:txBody>
          <a:bodyPr/>
          <a:lstStyle/>
          <a:p/>
        </p:txBody>
      </p:sp>
      <p:sp>
        <p:nvSpPr>
          <p:cNvPr id="230" name="bar"/>
          <p:cNvSpPr/>
          <p:nvPr/>
        </p:nvSpPr>
        <p:spPr>
          <a:xfrm>
            <a:off x="8337499" y="3868536"/>
            <a:ext cx="448665" cy="45096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txBody>
          <a:bodyPr/>
          <a:lstStyle/>
          <a:p/>
        </p:txBody>
      </p:sp>
      <p:sp>
        <p:nvSpPr>
          <p:cNvPr id="231" name="vl"/>
          <p:cNvSpPr txBox="1"/>
          <p:nvPr/>
        </p:nvSpPr>
        <p:spPr>
          <a:xfrm>
            <a:off x="8074152" y="3575928"/>
            <a:ext cx="975360" cy="27432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1A2421"/>
                </a:solidFill>
                <a:latin typeface="Calibri"/>
              </a:rPr>
              <a:t>10</a:t>
            </a:r>
          </a:p>
        </p:txBody>
      </p:sp>
      <p:sp>
        <p:nvSpPr>
          <p:cNvPr id="232" name="cl"/>
          <p:cNvSpPr txBox="1"/>
          <p:nvPr/>
        </p:nvSpPr>
        <p:spPr>
          <a:xfrm>
            <a:off x="8074152" y="3950208"/>
            <a:ext cx="975360" cy="38404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Yr 1</a:t>
            </a:r>
          </a:p>
        </p:txBody>
      </p:sp>
      <p:sp>
        <p:nvSpPr>
          <p:cNvPr id="233" name="bar"/>
          <p:cNvSpPr/>
          <p:nvPr/>
        </p:nvSpPr>
        <p:spPr>
          <a:xfrm>
            <a:off x="9312859" y="3552860"/>
            <a:ext cx="448665" cy="36077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234" name="vl"/>
          <p:cNvSpPr txBox="1"/>
          <p:nvPr/>
        </p:nvSpPr>
        <p:spPr>
          <a:xfrm>
            <a:off x="9049512" y="3260252"/>
            <a:ext cx="975360" cy="27432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1A2421"/>
                </a:solidFill>
                <a:latin typeface="Calibri"/>
              </a:rPr>
              <a:t>80</a:t>
            </a:r>
          </a:p>
        </p:txBody>
      </p:sp>
      <p:sp>
        <p:nvSpPr>
          <p:cNvPr id="235" name="cl"/>
          <p:cNvSpPr txBox="1"/>
          <p:nvPr/>
        </p:nvSpPr>
        <p:spPr>
          <a:xfrm>
            <a:off x="9049512" y="3950208"/>
            <a:ext cx="975360" cy="38404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Yr 2</a:t>
            </a:r>
          </a:p>
        </p:txBody>
      </p:sp>
      <p:sp>
        <p:nvSpPr>
          <p:cNvPr id="236" name="bar"/>
          <p:cNvSpPr/>
          <p:nvPr/>
        </p:nvSpPr>
        <p:spPr>
          <a:xfrm>
            <a:off x="10288219" y="2109771"/>
            <a:ext cx="448665" cy="1803861"/>
          </a:xfrm>
          <a:prstGeom prst="rect">
            <a:avLst/>
          </a:prstGeom>
          <a:solidFill>
            <a:srgbClr val="14532D"/>
          </a:solidFill>
          <a:ln>
            <a:noFill/>
          </a:ln>
        </p:spPr>
        <p:txBody>
          <a:bodyPr/>
          <a:lstStyle/>
          <a:p/>
        </p:txBody>
      </p:sp>
      <p:sp>
        <p:nvSpPr>
          <p:cNvPr id="237" name="vl"/>
          <p:cNvSpPr txBox="1"/>
          <p:nvPr/>
        </p:nvSpPr>
        <p:spPr>
          <a:xfrm>
            <a:off x="10024872" y="1817163"/>
            <a:ext cx="975360" cy="27432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1A2421"/>
                </a:solidFill>
                <a:latin typeface="Calibri"/>
              </a:rPr>
              <a:t>400</a:t>
            </a:r>
          </a:p>
        </p:txBody>
      </p:sp>
      <p:sp>
        <p:nvSpPr>
          <p:cNvPr id="238" name="cl"/>
          <p:cNvSpPr txBox="1"/>
          <p:nvPr/>
        </p:nvSpPr>
        <p:spPr>
          <a:xfrm>
            <a:off x="10024872" y="3950208"/>
            <a:ext cx="975360" cy="38404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Yr 3</a:t>
            </a:r>
          </a:p>
        </p:txBody>
      </p:sp>
      <p:sp>
        <p:nvSpPr>
          <p:cNvPr id="239" name="k"/>
          <p:cNvSpPr/>
          <p:nvPr/>
        </p:nvSpPr>
        <p:spPr>
          <a:xfrm>
            <a:off x="502920" y="4617720"/>
            <a:ext cx="3383280" cy="114300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4000">
            <a:solidFill>
              <a:srgbClr val="1565C0"/>
            </a:solidFill>
          </a:ln>
        </p:spPr>
        <p:txBody>
          <a:bodyPr/>
          <a:lstStyle/>
          <a:p/>
        </p:txBody>
      </p:sp>
      <p:sp>
        <p:nvSpPr>
          <p:cNvPr id="240" name="kt"/>
          <p:cNvSpPr/>
          <p:nvPr/>
        </p:nvSpPr>
        <p:spPr>
          <a:xfrm>
            <a:off x="502920" y="4617720"/>
            <a:ext cx="91440" cy="1143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txBody>
          <a:bodyPr/>
          <a:lstStyle/>
          <a:p/>
        </p:txBody>
      </p:sp>
      <p:sp>
        <p:nvSpPr>
          <p:cNvPr id="241" name="kl"/>
          <p:cNvSpPr txBox="1"/>
          <p:nvPr/>
        </p:nvSpPr>
        <p:spPr>
          <a:xfrm>
            <a:off x="740664" y="4727448"/>
            <a:ext cx="29718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1A2421"/>
                </a:solidFill>
                <a:latin typeface="Calibri"/>
              </a:rPr>
              <a:t>AI detection accuracy</a:t>
            </a:r>
          </a:p>
        </p:txBody>
      </p:sp>
      <p:sp>
        <p:nvSpPr>
          <p:cNvPr id="242" name="kp"/>
          <p:cNvSpPr txBox="1"/>
          <p:nvPr/>
        </p:nvSpPr>
        <p:spPr>
          <a:xfrm>
            <a:off x="740664" y="5001768"/>
            <a:ext cx="2971800" cy="4572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1565C0"/>
                </a:solidFill>
                <a:latin typeface="Calibri"/>
              </a:rPr>
              <a:t>88%</a:t>
            </a:r>
          </a:p>
        </p:txBody>
      </p:sp>
      <p:sp>
        <p:nvSpPr>
          <p:cNvPr id="243" name="trk"/>
          <p:cNvSpPr/>
          <p:nvPr/>
        </p:nvSpPr>
        <p:spPr>
          <a:xfrm>
            <a:off x="758952" y="5468112"/>
            <a:ext cx="2871216" cy="146304"/>
          </a:xfrm>
          <a:prstGeom prst="roundRect">
            <a:avLst>
              <a:gd name="adj" fmla="val 50000"/>
            </a:avLst>
          </a:prstGeom>
          <a:solidFill>
            <a:srgbClr val="E1E8E0"/>
          </a:solidFill>
          <a:ln>
            <a:noFill/>
          </a:ln>
        </p:spPr>
        <p:txBody>
          <a:bodyPr/>
          <a:lstStyle/>
          <a:p/>
        </p:txBody>
      </p:sp>
      <p:sp>
        <p:nvSpPr>
          <p:cNvPr id="244" name="fil"/>
          <p:cNvSpPr/>
          <p:nvPr/>
        </p:nvSpPr>
        <p:spPr>
          <a:xfrm>
            <a:off x="758952" y="5468112"/>
            <a:ext cx="2526670" cy="14630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</p:spPr>
        <p:txBody>
          <a:bodyPr/>
          <a:lstStyle/>
          <a:p/>
        </p:txBody>
      </p:sp>
      <p:sp>
        <p:nvSpPr>
          <p:cNvPr id="245" name="k"/>
          <p:cNvSpPr/>
          <p:nvPr/>
        </p:nvSpPr>
        <p:spPr>
          <a:xfrm>
            <a:off x="4160520" y="4617720"/>
            <a:ext cx="3383280" cy="114300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4000">
            <a:solidFill>
              <a:srgbClr val="2E7D32"/>
            </a:solidFill>
          </a:ln>
        </p:spPr>
        <p:txBody>
          <a:bodyPr/>
          <a:lstStyle/>
          <a:p/>
        </p:txBody>
      </p:sp>
      <p:sp>
        <p:nvSpPr>
          <p:cNvPr id="246" name="kt"/>
          <p:cNvSpPr/>
          <p:nvPr/>
        </p:nvSpPr>
        <p:spPr>
          <a:xfrm>
            <a:off x="4160520" y="4617720"/>
            <a:ext cx="91440" cy="1143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247" name="kl"/>
          <p:cNvSpPr txBox="1"/>
          <p:nvPr/>
        </p:nvSpPr>
        <p:spPr>
          <a:xfrm>
            <a:off x="4398264" y="4727448"/>
            <a:ext cx="29718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1A2421"/>
                </a:solidFill>
                <a:latin typeface="Calibri"/>
              </a:rPr>
              <a:t>Fertilizer reduction</a:t>
            </a:r>
          </a:p>
        </p:txBody>
      </p:sp>
      <p:sp>
        <p:nvSpPr>
          <p:cNvPr id="248" name="kp"/>
          <p:cNvSpPr txBox="1"/>
          <p:nvPr/>
        </p:nvSpPr>
        <p:spPr>
          <a:xfrm>
            <a:off x="4398264" y="5001768"/>
            <a:ext cx="2971800" cy="4572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32"/>
                </a:solidFill>
                <a:latin typeface="Calibri"/>
              </a:rPr>
              <a:t>45%</a:t>
            </a:r>
          </a:p>
        </p:txBody>
      </p:sp>
      <p:sp>
        <p:nvSpPr>
          <p:cNvPr id="249" name="trk"/>
          <p:cNvSpPr/>
          <p:nvPr/>
        </p:nvSpPr>
        <p:spPr>
          <a:xfrm>
            <a:off x="4416552" y="5468112"/>
            <a:ext cx="2871216" cy="146304"/>
          </a:xfrm>
          <a:prstGeom prst="roundRect">
            <a:avLst>
              <a:gd name="adj" fmla="val 50000"/>
            </a:avLst>
          </a:prstGeom>
          <a:solidFill>
            <a:srgbClr val="E1E8E0"/>
          </a:solidFill>
          <a:ln>
            <a:noFill/>
          </a:ln>
        </p:spPr>
        <p:txBody>
          <a:bodyPr/>
          <a:lstStyle/>
          <a:p/>
        </p:txBody>
      </p:sp>
      <p:sp>
        <p:nvSpPr>
          <p:cNvPr id="250" name="fil"/>
          <p:cNvSpPr/>
          <p:nvPr/>
        </p:nvSpPr>
        <p:spPr>
          <a:xfrm>
            <a:off x="4416552" y="5468112"/>
            <a:ext cx="1292047" cy="146304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251" name="k"/>
          <p:cNvSpPr/>
          <p:nvPr/>
        </p:nvSpPr>
        <p:spPr>
          <a:xfrm>
            <a:off x="7818120" y="4617720"/>
            <a:ext cx="3383280" cy="114300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4000">
            <a:solidFill>
              <a:srgbClr val="EF6C00"/>
            </a:solidFill>
          </a:ln>
        </p:spPr>
        <p:txBody>
          <a:bodyPr/>
          <a:lstStyle/>
          <a:p/>
        </p:txBody>
      </p:sp>
      <p:sp>
        <p:nvSpPr>
          <p:cNvPr id="252" name="kt"/>
          <p:cNvSpPr/>
          <p:nvPr/>
        </p:nvSpPr>
        <p:spPr>
          <a:xfrm>
            <a:off x="7818120" y="4617720"/>
            <a:ext cx="91440" cy="1143000"/>
          </a:xfrm>
          <a:prstGeom prst="rect">
            <a:avLst/>
          </a:prstGeom>
          <a:solidFill>
            <a:srgbClr val="EF6C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53" name="kl"/>
          <p:cNvSpPr txBox="1"/>
          <p:nvPr/>
        </p:nvSpPr>
        <p:spPr>
          <a:xfrm>
            <a:off x="8055864" y="4727448"/>
            <a:ext cx="29718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1A2421"/>
                </a:solidFill>
                <a:latin typeface="Calibri"/>
              </a:rPr>
              <a:t>Cost saving / acre</a:t>
            </a:r>
          </a:p>
        </p:txBody>
      </p:sp>
      <p:sp>
        <p:nvSpPr>
          <p:cNvPr id="254" name="kp"/>
          <p:cNvSpPr txBox="1"/>
          <p:nvPr/>
        </p:nvSpPr>
        <p:spPr>
          <a:xfrm>
            <a:off x="8055864" y="5001768"/>
            <a:ext cx="2971800" cy="4572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EF6C00"/>
                </a:solidFill>
                <a:latin typeface="Calibri"/>
              </a:rPr>
              <a:t>40%</a:t>
            </a:r>
          </a:p>
        </p:txBody>
      </p:sp>
      <p:sp>
        <p:nvSpPr>
          <p:cNvPr id="255" name="trk"/>
          <p:cNvSpPr/>
          <p:nvPr/>
        </p:nvSpPr>
        <p:spPr>
          <a:xfrm>
            <a:off x="8074152" y="5468112"/>
            <a:ext cx="2871216" cy="146304"/>
          </a:xfrm>
          <a:prstGeom prst="roundRect">
            <a:avLst>
              <a:gd name="adj" fmla="val 50000"/>
            </a:avLst>
          </a:prstGeom>
          <a:solidFill>
            <a:srgbClr val="E1E8E0"/>
          </a:solidFill>
          <a:ln>
            <a:noFill/>
          </a:ln>
        </p:spPr>
        <p:txBody>
          <a:bodyPr/>
          <a:lstStyle/>
          <a:p/>
        </p:txBody>
      </p:sp>
      <p:sp>
        <p:nvSpPr>
          <p:cNvPr id="256" name="fil"/>
          <p:cNvSpPr/>
          <p:nvPr/>
        </p:nvSpPr>
        <p:spPr>
          <a:xfrm>
            <a:off x="8074152" y="5468112"/>
            <a:ext cx="1148486" cy="146304"/>
          </a:xfrm>
          <a:prstGeom prst="roundRect">
            <a:avLst>
              <a:gd name="adj" fmla="val 50000"/>
            </a:avLst>
          </a:prstGeom>
          <a:solidFill>
            <a:srgbClr val="EF6C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57" name="simnote"/>
          <p:cNvSpPr txBox="1"/>
          <p:nvPr/>
        </p:nvSpPr>
        <p:spPr>
          <a:xfrm>
            <a:off x="502920" y="5897880"/>
            <a:ext cx="1069848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i="1" dirty="0">
                <a:solidFill>
                  <a:srgbClr val="5B6B63"/>
                </a:solidFill>
                <a:latin typeface="Calibri"/>
              </a:rPr>
              <a:t>Projected from our simulation model &amp; targets - to be validated in field pilots (not yet measured on hardware).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nd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ent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548640" y="146304"/>
            <a:ext cx="1097280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700" b="1" dirty="0">
                <a:solidFill>
                  <a:srgbClr val="FFFFFF"/>
                </a:solidFill>
                <a:latin typeface="Calibri"/>
              </a:rPr>
              <a:t>Execution &amp; Next Milestones</a:t>
            </a:r>
          </a:p>
        </p:txBody>
      </p:sp>
      <p:sp>
        <p:nvSpPr>
          <p:cNvPr id="13" name="foot"/>
          <p:cNvSpPr txBox="1"/>
          <p:nvPr/>
        </p:nvSpPr>
        <p:spPr>
          <a:xfrm>
            <a:off x="548640" y="6364224"/>
            <a:ext cx="109728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AgriRover  -  IITB-Groww INV.ENT  -  Track A  -  Team of 4 (IIT Bombay)</a:t>
            </a:r>
          </a:p>
        </p:txBody>
      </p:sp>
      <p:sp>
        <p:nvSpPr>
          <p:cNvPr id="30" name="b"/>
          <p:cNvSpPr txBox="1"/>
          <p:nvPr/>
        </p:nvSpPr>
        <p:spPr>
          <a:xfrm>
            <a:off x="548640" y="1325880"/>
            <a:ext cx="10698480" cy="47548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2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Next milestones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Build: assemble hardware prototype (BTS7960 drive, NPK probe, pan/tilt sprayer, LiFePO4) - ~3 months.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Test: pilot on 5-10 small farms; measure input savings, accuracy and uptime.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Iterate: refine dosing + AI from field data; harden for dust and 40-45C heat.</a:t>
            </a:r>
          </a:p>
          <a:p>
            <a:pPr marL="0" indent="0" algn="l">
              <a:spcBef>
                <a:spcPts val="0"/>
              </a:spcBef>
              <a:spcAft>
                <a:spcPts val="22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Go-to-market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Pilot with a local FPO / Custom Hiring Centre; use SMAM/AIF support to lower farmer cost.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Expand from sale to Rover-as-a-Service + data subscription.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nd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ent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548640" y="146304"/>
            <a:ext cx="1097280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700" b="1" dirty="0">
                <a:solidFill>
                  <a:srgbClr val="FFFFFF"/>
                </a:solidFill>
                <a:latin typeface="Calibri"/>
              </a:rPr>
              <a:t>Team of 4 &amp; Impact</a:t>
            </a:r>
          </a:p>
        </p:txBody>
      </p:sp>
      <p:sp>
        <p:nvSpPr>
          <p:cNvPr id="13" name="foot"/>
          <p:cNvSpPr txBox="1"/>
          <p:nvPr/>
        </p:nvSpPr>
        <p:spPr>
          <a:xfrm>
            <a:off x="548640" y="6364224"/>
            <a:ext cx="109728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AgriRover  -  IITB-Groww INV.ENT  -  Track A  -  Team of 4 (IIT Bombay)</a:t>
            </a:r>
          </a:p>
        </p:txBody>
      </p:sp>
      <p:sp>
        <p:nvSpPr>
          <p:cNvPr id="60" name="m"/>
          <p:cNvSpPr/>
          <p:nvPr/>
        </p:nvSpPr>
        <p:spPr>
          <a:xfrm>
            <a:off x="502920" y="1371600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4000">
            <a:solidFill>
              <a:srgbClr val="2E7D32"/>
            </a:solidFill>
          </a:ln>
        </p:spPr>
        <p:txBody>
          <a:bodyPr/>
          <a:lstStyle/>
          <a:p/>
        </p:txBody>
      </p:sp>
      <p:sp>
        <p:nvSpPr>
          <p:cNvPr id="61" name="mt"/>
          <p:cNvSpPr/>
          <p:nvPr/>
        </p:nvSpPr>
        <p:spPr>
          <a:xfrm>
            <a:off x="502920" y="1371600"/>
            <a:ext cx="91440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62" name="mc"/>
          <p:cNvSpPr txBox="1"/>
          <p:nvPr/>
        </p:nvSpPr>
        <p:spPr>
          <a:xfrm>
            <a:off x="722376" y="1463040"/>
            <a:ext cx="470916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80"/>
              </a:spcAft>
              <a:buNone/>
            </a:pPr>
            <a:r>
              <a:rPr lang="en-US" sz="1400" b="1" dirty="0">
                <a:solidFill>
                  <a:srgbClr val="2E7D32"/>
                </a:solidFill>
                <a:latin typeface="Calibri"/>
              </a:rPr>
              <a:t>Hitanshu Kapadiya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Mechanical Engineering, IIT Bombay</a:t>
            </a:r>
          </a:p>
        </p:txBody>
      </p:sp>
      <p:sp>
        <p:nvSpPr>
          <p:cNvPr id="63" name="m"/>
          <p:cNvSpPr/>
          <p:nvPr/>
        </p:nvSpPr>
        <p:spPr>
          <a:xfrm>
            <a:off x="5806440" y="1371600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4000">
            <a:solidFill>
              <a:srgbClr val="1565C0"/>
            </a:solidFill>
          </a:ln>
        </p:spPr>
        <p:txBody>
          <a:bodyPr/>
          <a:lstStyle/>
          <a:p/>
        </p:txBody>
      </p:sp>
      <p:sp>
        <p:nvSpPr>
          <p:cNvPr id="64" name="mt"/>
          <p:cNvSpPr/>
          <p:nvPr/>
        </p:nvSpPr>
        <p:spPr>
          <a:xfrm>
            <a:off x="5806440" y="1371600"/>
            <a:ext cx="91440" cy="9144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txBody>
          <a:bodyPr/>
          <a:lstStyle/>
          <a:p/>
        </p:txBody>
      </p:sp>
      <p:sp>
        <p:nvSpPr>
          <p:cNvPr id="65" name="mc"/>
          <p:cNvSpPr txBox="1"/>
          <p:nvPr/>
        </p:nvSpPr>
        <p:spPr>
          <a:xfrm>
            <a:off x="6025896" y="1463040"/>
            <a:ext cx="470916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80"/>
              </a:spcAft>
              <a:buNone/>
            </a:pPr>
            <a:r>
              <a:rPr lang="en-US" sz="1400" b="1" dirty="0">
                <a:solidFill>
                  <a:srgbClr val="1565C0"/>
                </a:solidFill>
                <a:latin typeface="Calibri"/>
              </a:rPr>
              <a:t>Vivek Gupta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Mechanical Engineering, IIT Bombay</a:t>
            </a:r>
          </a:p>
        </p:txBody>
      </p:sp>
      <p:sp>
        <p:nvSpPr>
          <p:cNvPr id="66" name="m"/>
          <p:cNvSpPr/>
          <p:nvPr/>
        </p:nvSpPr>
        <p:spPr>
          <a:xfrm>
            <a:off x="502920" y="2423160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4000">
            <a:solidFill>
              <a:srgbClr val="6A1B9A"/>
            </a:solidFill>
          </a:ln>
        </p:spPr>
        <p:txBody>
          <a:bodyPr/>
          <a:lstStyle/>
          <a:p/>
        </p:txBody>
      </p:sp>
      <p:sp>
        <p:nvSpPr>
          <p:cNvPr id="67" name="mt"/>
          <p:cNvSpPr/>
          <p:nvPr/>
        </p:nvSpPr>
        <p:spPr>
          <a:xfrm>
            <a:off x="502920" y="2423160"/>
            <a:ext cx="91440" cy="9144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txBody>
          <a:bodyPr/>
          <a:lstStyle/>
          <a:p/>
        </p:txBody>
      </p:sp>
      <p:sp>
        <p:nvSpPr>
          <p:cNvPr id="68" name="mc"/>
          <p:cNvSpPr txBox="1"/>
          <p:nvPr/>
        </p:nvSpPr>
        <p:spPr>
          <a:xfrm>
            <a:off x="722376" y="2514600"/>
            <a:ext cx="470916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80"/>
              </a:spcAft>
              <a:buNone/>
            </a:pPr>
            <a:r>
              <a:rPr lang="en-US" sz="1400" b="1" dirty="0">
                <a:solidFill>
                  <a:srgbClr val="6A1B9A"/>
                </a:solidFill>
                <a:latin typeface="Calibri"/>
              </a:rPr>
              <a:t>Shreyash Wagh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Mechanical Engineering, IIT Bombay</a:t>
            </a:r>
          </a:p>
        </p:txBody>
      </p:sp>
      <p:sp>
        <p:nvSpPr>
          <p:cNvPr id="69" name="m"/>
          <p:cNvSpPr/>
          <p:nvPr/>
        </p:nvSpPr>
        <p:spPr>
          <a:xfrm>
            <a:off x="5806440" y="2423160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4000">
            <a:solidFill>
              <a:srgbClr val="EF6C00"/>
            </a:solidFill>
          </a:ln>
        </p:spPr>
        <p:txBody>
          <a:bodyPr/>
          <a:lstStyle/>
          <a:p/>
        </p:txBody>
      </p:sp>
      <p:sp>
        <p:nvSpPr>
          <p:cNvPr id="70" name="mt"/>
          <p:cNvSpPr/>
          <p:nvPr/>
        </p:nvSpPr>
        <p:spPr>
          <a:xfrm>
            <a:off x="5806440" y="2423160"/>
            <a:ext cx="91440" cy="914400"/>
          </a:xfrm>
          <a:prstGeom prst="rect">
            <a:avLst/>
          </a:prstGeom>
          <a:solidFill>
            <a:srgbClr val="EF6C00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mc"/>
          <p:cNvSpPr txBox="1"/>
          <p:nvPr/>
        </p:nvSpPr>
        <p:spPr>
          <a:xfrm>
            <a:off x="6025896" y="2514600"/>
            <a:ext cx="470916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80"/>
              </a:spcAft>
              <a:buNone/>
            </a:pPr>
            <a:r>
              <a:rPr lang="en-US" sz="1400" b="1" dirty="0">
                <a:solidFill>
                  <a:srgbClr val="EF6C00"/>
                </a:solidFill>
                <a:latin typeface="Calibri"/>
              </a:rPr>
              <a:t>Pritish Nandy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Aerospace Engineering, IIT Bombay</a:t>
            </a:r>
          </a:p>
        </p:txBody>
      </p:sp>
      <p:sp>
        <p:nvSpPr>
          <p:cNvPr id="72" name="imp"/>
          <p:cNvSpPr txBox="1"/>
          <p:nvPr/>
        </p:nvSpPr>
        <p:spPr>
          <a:xfrm>
            <a:off x="502920" y="3703320"/>
            <a:ext cx="10698480" cy="24688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2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Why us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An IIT Bombay team of 4 that built the full software stack, circuit design and complete mechanical fabrication - end to end.</a:t>
            </a:r>
          </a:p>
          <a:p>
            <a:pPr marL="0" indent="0" algn="l">
              <a:spcBef>
                <a:spcPts val="0"/>
              </a:spcBef>
              <a:spcAft>
                <a:spcPts val="22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Impact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Lower input cost for small farmers, less fertilizer/pesticide runoff, healthier soil and higher net income.</a:t>
            </a:r>
          </a:p>
          <a:p>
            <a:pPr marL="292608" indent="-292608" algn="l">
              <a:spcBef>
                <a:spcPts val="0"/>
              </a:spcBef>
              <a:spcAft>
                <a:spcPts val="38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Long-term: affordable precision farming for every smallholder; shared rover fleets via FPOs.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nd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ent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548640" y="146304"/>
            <a:ext cx="1097280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700" b="1" dirty="0">
                <a:solidFill>
                  <a:srgbClr val="FFFFFF"/>
                </a:solidFill>
                <a:latin typeface="Calibri"/>
              </a:rPr>
              <a:t>Budget Sheet  (costed BOM)</a:t>
            </a:r>
          </a:p>
        </p:txBody>
      </p:sp>
      <p:sp>
        <p:nvSpPr>
          <p:cNvPr id="13" name="foot"/>
          <p:cNvSpPr txBox="1"/>
          <p:nvPr/>
        </p:nvSpPr>
        <p:spPr>
          <a:xfrm>
            <a:off x="548640" y="6364224"/>
            <a:ext cx="109728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AgriRover  -  IITB-Groww INV.ENT  -  Track A  -  Team of 4 (IIT Bombay)</a:t>
            </a:r>
          </a:p>
        </p:txBody>
      </p:sp>
      <p:graphicFrame>
        <p:nvGraphicFramePr>
          <p:cNvPr id="70" name="tbl"/>
          <p:cNvGraphicFramePr/>
          <p:nvPr/>
        </p:nvGraphicFramePr>
        <p:xfrm>
          <a:off x="502920" y="1325880"/>
          <a:ext cx="5669280" cy="41833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77640"/>
                <a:gridCol w="1691640"/>
              </a:tblGrid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Section</a:t>
                      </a:r>
                    </a:p>
                  </a:txBody>
                  <a:tcPr marL="64008" marR="64008" marT="18288" marB="18288"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Cost (Rs)</a:t>
                      </a:r>
                    </a:p>
                  </a:txBody>
                  <a:tcPr marL="64008" marR="64008" marT="18288" marB="18288" anchor="ctr">
                    <a:solidFill>
                      <a:srgbClr val="2E7D32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1. Brain &amp; Compute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5,880 - 8,150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2. Power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2,350 - 4,040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3. Motor &amp; Drive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1,740 - 3,400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4. Sensing (ESP32)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3,740 - 8,080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5. AI Sensing (Pi)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4,680 - 7,100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6. Actuation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1,560 - 3,030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7. Communication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500 - 1,000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8. Interface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480 - 870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9. Passives &amp; wiring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790 - 1,530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10. Chassis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1,420 - 2,600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11. Safety / Thermal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2,070 - 3,880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12. v2 Upgrade parts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740 - 1,510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13. Tools (one-time)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1,410 - 2,760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/>
                        </a:rPr>
                        <a:t>TOTAL (Full AI build)</a:t>
                      </a:r>
                    </a:p>
                  </a:txBody>
                  <a:tcPr marL="64008" marR="64008" marT="18288" marB="18288" anchor="ctr">
                    <a:solidFill>
                      <a:srgbClr val="14532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/>
                        </a:rPr>
                        <a:t>27,360 - 47,950</a:t>
                      </a:r>
                    </a:p>
                  </a:txBody>
                  <a:tcPr marL="64008" marR="64008" marT="18288" marB="18288" anchor="ctr">
                    <a:solidFill>
                      <a:srgbClr val="14532D"/>
                    </a:solidFill>
                  </a:tcPr>
                </a:tc>
              </a:tr>
            </a:tbl>
          </a:graphicData>
        </a:graphic>
      </p:graphicFrame>
      <p:sp>
        <p:nvSpPr>
          <p:cNvPr id="90" name="tier"/>
          <p:cNvSpPr/>
          <p:nvPr/>
        </p:nvSpPr>
        <p:spPr>
          <a:xfrm>
            <a:off x="6537960" y="1371600"/>
            <a:ext cx="4526280" cy="3246120"/>
          </a:xfrm>
          <a:prstGeom prst="roundRect">
            <a:avLst>
              <a:gd name="adj" fmla="val 8000"/>
            </a:avLst>
          </a:prstGeom>
          <a:solidFill>
            <a:srgbClr val="E7F1E4"/>
          </a:solidFill>
          <a:ln w="14000">
            <a:solidFill>
              <a:srgbClr val="2E7D32"/>
            </a:solidFill>
          </a:ln>
        </p:spPr>
        <p:txBody>
          <a:bodyPr/>
          <a:lstStyle/>
          <a:p/>
        </p:txBody>
      </p:sp>
      <p:sp>
        <p:nvSpPr>
          <p:cNvPr id="91" name="tiertx"/>
          <p:cNvSpPr txBox="1"/>
          <p:nvPr/>
        </p:nvSpPr>
        <p:spPr>
          <a:xfrm>
            <a:off x="6766560" y="1554480"/>
            <a:ext cx="4114800" cy="29260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E7D32"/>
                </a:solidFill>
                <a:latin typeface="Calibri"/>
              </a:rPr>
              <a:t>Build tiers</a:t>
            </a:r>
          </a:p>
          <a:p>
            <a:pPr marL="0" indent="0" algn="l">
              <a:spcBef>
                <a:spcPts val="0"/>
              </a:spcBef>
              <a:spcAft>
                <a:spcPts val="80"/>
              </a:spcAft>
              <a:buNone/>
            </a:pPr>
            <a:r>
              <a:rPr lang="en-US" sz="1150" b="1" dirty="0">
                <a:solidFill>
                  <a:srgbClr val="1A2421"/>
                </a:solidFill>
                <a:latin typeface="Calibri"/>
              </a:rPr>
              <a:t>Core only (demo): Rs 8,000 - 14,000</a:t>
            </a:r>
          </a:p>
          <a:p>
            <a:pPr marL="0" indent="0" algn="l">
              <a:spcBef>
                <a:spcPts val="0"/>
              </a:spcBef>
              <a:spcAft>
                <a:spcPts val="26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ESP32 + moisture + NPK + relay dosing + power/drive.</a:t>
            </a:r>
          </a:p>
          <a:p>
            <a:pPr marL="0" indent="0" algn="l">
              <a:spcBef>
                <a:spcPts val="0"/>
              </a:spcBef>
              <a:spcAft>
                <a:spcPts val="80"/>
              </a:spcAft>
              <a:buNone/>
            </a:pPr>
            <a:r>
              <a:rPr lang="en-US" sz="1150" b="1" dirty="0">
                <a:solidFill>
                  <a:srgbClr val="1A2421"/>
                </a:solidFill>
                <a:latin typeface="Calibri"/>
              </a:rPr>
              <a:t>Core + Navigation: Rs 12,000 - 20,000</a:t>
            </a:r>
          </a:p>
          <a:p>
            <a:pPr marL="0" indent="0" algn="l">
              <a:spcBef>
                <a:spcPts val="0"/>
              </a:spcBef>
              <a:spcAft>
                <a:spcPts val="26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Adds GPS, encoders, INA219, OLED, safety.</a:t>
            </a:r>
          </a:p>
          <a:p>
            <a:pPr marL="0" indent="0" algn="l">
              <a:spcBef>
                <a:spcPts val="0"/>
              </a:spcBef>
              <a:spcAft>
                <a:spcPts val="80"/>
              </a:spcAft>
              <a:buNone/>
            </a:pPr>
            <a:r>
              <a:rPr lang="en-US" sz="1150" b="1" dirty="0">
                <a:solidFill>
                  <a:srgbClr val="14532D"/>
                </a:solidFill>
                <a:latin typeface="Calibri"/>
              </a:rPr>
              <a:t>Full AI build: Rs 27,000 - 48,000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Everything in this sheet (within the Rs 47K cap).</a:t>
            </a:r>
          </a:p>
        </p:txBody>
      </p:sp>
      <p:sp>
        <p:nvSpPr>
          <p:cNvPr id="92" name="bn"/>
          <p:cNvSpPr txBox="1"/>
          <p:nvPr/>
        </p:nvSpPr>
        <p:spPr>
          <a:xfrm>
            <a:off x="6537960" y="4800600"/>
            <a:ext cx="4526280" cy="13716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120"/>
              </a:spcAft>
              <a:buNone/>
            </a:pPr>
            <a:r>
              <a:rPr lang="en-US" sz="1000" i="1" dirty="0">
                <a:solidFill>
                  <a:srgbClr val="5B6B63"/>
                </a:solidFill>
                <a:latin typeface="Calibri"/>
              </a:rPr>
              <a:t>Indicative India prices - verify before ordering.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i="1" dirty="0">
                <a:solidFill>
                  <a:srgbClr val="5B6B63"/>
                </a:solidFill>
                <a:latin typeface="Calibri"/>
              </a:rPr>
              <a:t>Software is free. 'Printed' parts are PETG, not bought.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nd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"/>
          <p:cNvSpPr/>
          <p:nvPr/>
        </p:nvSpPr>
        <p:spPr>
          <a:xfrm>
            <a:off x="0" y="960120"/>
            <a:ext cx="12192000" cy="4572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2500" b="1" dirty="0">
                <a:solidFill>
                  <a:srgbClr val="FFFFFF"/>
                </a:solidFill>
                <a:latin typeface="Calibri"/>
              </a:rPr>
              <a:t>Appendix - BTS7960 Drive Wiring (each pin)</a:t>
            </a:r>
          </a:p>
        </p:txBody>
      </p:sp>
      <p:sp>
        <p:nvSpPr>
          <p:cNvPr id="13" name="foot"/>
          <p:cNvSpPr txBox="1"/>
          <p:nvPr/>
        </p:nvSpPr>
        <p:spPr>
          <a:xfrm>
            <a:off x="457200" y="6419088"/>
            <a:ext cx="11247120" cy="3200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950" dirty="0">
                <a:solidFill>
                  <a:srgbClr val="5B6B63"/>
                </a:solidFill>
                <a:latin typeface="Calibri"/>
              </a:rPr>
              <a:t>AgriRover  -  IITB-Groww INV.ENT  -  Track A  -  FC-10: 2x L298N -&gt; 2x BTS7960</a:t>
            </a:r>
          </a:p>
        </p:txBody>
      </p:sp>
      <p:sp>
        <p:nvSpPr>
          <p:cNvPr id="20" name="blk"/>
          <p:cNvSpPr/>
          <p:nvPr/>
        </p:nvSpPr>
        <p:spPr>
          <a:xfrm>
            <a:off x="411480" y="1234440"/>
            <a:ext cx="2606040" cy="2606040"/>
          </a:xfrm>
          <a:prstGeom prst="roundRect">
            <a:avLst>
              <a:gd name="adj" fmla="val 7000"/>
            </a:avLst>
          </a:prstGeom>
          <a:solidFill>
            <a:srgbClr val="E3F2FD"/>
          </a:solidFill>
          <a:ln w="14000">
            <a:solidFill>
              <a:srgbClr val="1565C0"/>
            </a:solidFill>
          </a:ln>
        </p:spPr>
        <p:txBody>
          <a:bodyPr/>
          <a:lstStyle/>
          <a:p/>
        </p:txBody>
      </p:sp>
      <p:sp>
        <p:nvSpPr>
          <p:cNvPr id="21" name="blkt"/>
          <p:cNvSpPr txBox="1"/>
          <p:nvPr/>
        </p:nvSpPr>
        <p:spPr>
          <a:xfrm>
            <a:off x="576072" y="1325880"/>
            <a:ext cx="2295144" cy="24231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algn="l">
              <a:spcAft>
                <a:spcPts val="120"/>
              </a:spcAft>
              <a:buNone/>
            </a:pPr>
            <a:r>
              <a:rPr lang="en-US" sz="1250" b="1" dirty="0">
                <a:solidFill>
                  <a:srgbClr val="1565C0"/>
                </a:solidFill>
                <a:latin typeface="Calibri"/>
              </a:rPr>
              <a:t>ESP32 DevKit V1</a:t>
            </a:r>
          </a:p>
          <a:p>
            <a:pPr algn="l">
              <a:spcAft>
                <a:spcPts val="120"/>
              </a:spcAft>
              <a:buNone/>
            </a:pPr>
            <a:r>
              <a:rPr lang="en-US" sz="1050" dirty="0">
                <a:solidFill>
                  <a:srgbClr val="1A2421"/>
                </a:solidFill>
                <a:latin typeface="Calibri"/>
              </a:rPr>
              <a:t>GPIO19  -&gt;  L_RPWM</a:t>
            </a:r>
          </a:p>
          <a:p>
            <a:pPr algn="l">
              <a:spcAft>
                <a:spcPts val="120"/>
              </a:spcAft>
              <a:buNone/>
            </a:pPr>
            <a:r>
              <a:rPr lang="en-US" sz="1050" dirty="0">
                <a:solidFill>
                  <a:srgbClr val="1A2421"/>
                </a:solidFill>
                <a:latin typeface="Calibri"/>
              </a:rPr>
              <a:t>GPIO21  -&gt;  L_LPWM</a:t>
            </a:r>
          </a:p>
          <a:p>
            <a:pPr algn="l">
              <a:spcAft>
                <a:spcPts val="120"/>
              </a:spcAft>
              <a:buNone/>
            </a:pPr>
            <a:r>
              <a:rPr lang="en-US" sz="1050" dirty="0">
                <a:solidFill>
                  <a:srgbClr val="1A2421"/>
                </a:solidFill>
                <a:latin typeface="Calibri"/>
              </a:rPr>
              <a:t>GPIO22  -&gt;  R_RPWM</a:t>
            </a:r>
          </a:p>
          <a:p>
            <a:pPr algn="l">
              <a:spcAft>
                <a:spcPts val="120"/>
              </a:spcAft>
              <a:buNone/>
            </a:pPr>
            <a:r>
              <a:rPr lang="en-US" sz="1050" dirty="0">
                <a:solidFill>
                  <a:srgbClr val="1A2421"/>
                </a:solidFill>
                <a:latin typeface="Calibri"/>
              </a:rPr>
              <a:t>GPIO23  -&gt;  R_LPWM</a:t>
            </a:r>
          </a:p>
          <a:p>
            <a:pPr algn="l">
              <a:spcAft>
                <a:spcPts val="120"/>
              </a:spcAft>
              <a:buNone/>
            </a:pPr>
            <a:r>
              <a:rPr lang="en-US" sz="1050" b="1" dirty="0">
                <a:solidFill>
                  <a:srgbClr val="2E7D32"/>
                </a:solidFill>
                <a:latin typeface="Calibri"/>
              </a:rPr>
              <a:t>3V3  -&gt;  R_EN/L_EN/VCC</a:t>
            </a:r>
          </a:p>
          <a:p>
            <a:pPr algn="l">
              <a:spcAft>
                <a:spcPts val="120"/>
              </a:spcAft>
              <a:buNone/>
            </a:pPr>
            <a:r>
              <a:rPr lang="en-US" sz="1050" b="1" dirty="0">
                <a:solidFill>
                  <a:srgbClr val="37474F"/>
                </a:solidFill>
                <a:latin typeface="Calibri"/>
              </a:rPr>
              <a:t>GND  -&gt;  common star</a:t>
            </a:r>
          </a:p>
          <a:p>
            <a:pPr algn="l">
              <a:spcAft>
                <a:spcPts val="120"/>
              </a:spcAft>
              <a:buNone/>
            </a:pPr>
            <a:r>
              <a:rPr lang="en-US" sz="1000" dirty="0">
                <a:solidFill>
                  <a:srgbClr val="B26A00"/>
                </a:solidFill>
                <a:latin typeface="Calibri"/>
              </a:rPr>
              <a:t>GPIO32/33  FREE (old ENA/ENB)</a:t>
            </a:r>
          </a:p>
        </p:txBody>
      </p:sp>
      <p:sp>
        <p:nvSpPr>
          <p:cNvPr id="24" name="blk"/>
          <p:cNvSpPr/>
          <p:nvPr/>
        </p:nvSpPr>
        <p:spPr>
          <a:xfrm>
            <a:off x="3383280" y="1234440"/>
            <a:ext cx="3200400" cy="1207008"/>
          </a:xfrm>
          <a:prstGeom prst="roundRect">
            <a:avLst>
              <a:gd name="adj" fmla="val 7000"/>
            </a:avLst>
          </a:prstGeom>
          <a:solidFill>
            <a:srgbClr val="FCE4EC"/>
          </a:solidFill>
          <a:ln w="14000">
            <a:solidFill>
              <a:srgbClr val="C62828"/>
            </a:solidFill>
          </a:ln>
        </p:spPr>
        <p:txBody>
          <a:bodyPr/>
          <a:lstStyle/>
          <a:p/>
        </p:txBody>
      </p:sp>
      <p:sp>
        <p:nvSpPr>
          <p:cNvPr id="25" name="blkt"/>
          <p:cNvSpPr txBox="1"/>
          <p:nvPr/>
        </p:nvSpPr>
        <p:spPr>
          <a:xfrm>
            <a:off x="3547872" y="1325880"/>
            <a:ext cx="2889504" cy="102412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algn="l">
              <a:spcAft>
                <a:spcPts val="120"/>
              </a:spcAft>
              <a:buNone/>
            </a:pPr>
            <a:r>
              <a:rPr lang="en-US" sz="1200" b="1" dirty="0">
                <a:solidFill>
                  <a:srgbClr val="C62828"/>
                </a:solidFill>
                <a:latin typeface="Calibri"/>
              </a:rPr>
              <a:t>BTS7960 #1  -  LEFT</a:t>
            </a:r>
          </a:p>
          <a:p>
            <a:pPr algn="l">
              <a:spcAft>
                <a:spcPts val="120"/>
              </a:spcAft>
              <a:buNone/>
            </a:pPr>
            <a:r>
              <a:rPr lang="en-US" sz="1000" dirty="0">
                <a:solidFill>
                  <a:srgbClr val="1A2421"/>
                </a:solidFill>
                <a:latin typeface="Calibri"/>
              </a:rPr>
              <a:t>in: RPWM LPWM R_EN L_EN VCC GND</a:t>
            </a:r>
          </a:p>
          <a:p>
            <a:pPr algn="l">
              <a:spcAft>
                <a:spcPts val="120"/>
              </a:spcAft>
              <a:buNone/>
            </a:pPr>
            <a:r>
              <a:rPr lang="en-US" sz="1050" b="1" dirty="0">
                <a:solidFill>
                  <a:srgbClr val="1A2421"/>
                </a:solidFill>
                <a:latin typeface="Calibri"/>
              </a:rPr>
              <a:t>power/out: B+  B-  M+  M-</a:t>
            </a:r>
          </a:p>
        </p:txBody>
      </p:sp>
      <p:sp>
        <p:nvSpPr>
          <p:cNvPr id="28" name="blk"/>
          <p:cNvSpPr/>
          <p:nvPr/>
        </p:nvSpPr>
        <p:spPr>
          <a:xfrm>
            <a:off x="3383280" y="2633472"/>
            <a:ext cx="3200400" cy="1207008"/>
          </a:xfrm>
          <a:prstGeom prst="roundRect">
            <a:avLst>
              <a:gd name="adj" fmla="val 7000"/>
            </a:avLst>
          </a:prstGeom>
          <a:solidFill>
            <a:srgbClr val="FCE4EC"/>
          </a:solidFill>
          <a:ln w="14000">
            <a:solidFill>
              <a:srgbClr val="C62828"/>
            </a:solidFill>
          </a:ln>
        </p:spPr>
        <p:txBody>
          <a:bodyPr/>
          <a:lstStyle/>
          <a:p/>
        </p:txBody>
      </p:sp>
      <p:sp>
        <p:nvSpPr>
          <p:cNvPr id="29" name="blkt"/>
          <p:cNvSpPr txBox="1"/>
          <p:nvPr/>
        </p:nvSpPr>
        <p:spPr>
          <a:xfrm>
            <a:off x="3547872" y="2724912"/>
            <a:ext cx="2889504" cy="102412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algn="l">
              <a:spcAft>
                <a:spcPts val="120"/>
              </a:spcAft>
              <a:buNone/>
            </a:pPr>
            <a:r>
              <a:rPr lang="en-US" sz="1200" b="1" dirty="0">
                <a:solidFill>
                  <a:srgbClr val="C62828"/>
                </a:solidFill>
                <a:latin typeface="Calibri"/>
              </a:rPr>
              <a:t>BTS7960 #2  -  RIGHT</a:t>
            </a:r>
          </a:p>
          <a:p>
            <a:pPr algn="l">
              <a:spcAft>
                <a:spcPts val="120"/>
              </a:spcAft>
              <a:buNone/>
            </a:pPr>
            <a:r>
              <a:rPr lang="en-US" sz="1000" dirty="0">
                <a:solidFill>
                  <a:srgbClr val="1A2421"/>
                </a:solidFill>
                <a:latin typeface="Calibri"/>
              </a:rPr>
              <a:t>in: RPWM LPWM R_EN L_EN VCC GND</a:t>
            </a:r>
          </a:p>
          <a:p>
            <a:pPr algn="l">
              <a:spcAft>
                <a:spcPts val="120"/>
              </a:spcAft>
              <a:buNone/>
            </a:pPr>
            <a:r>
              <a:rPr lang="en-US" sz="1050" b="1" dirty="0">
                <a:solidFill>
                  <a:srgbClr val="1A2421"/>
                </a:solidFill>
                <a:latin typeface="Calibri"/>
              </a:rPr>
              <a:t>power/out: B+  B-  M+  M-</a:t>
            </a:r>
          </a:p>
        </p:txBody>
      </p:sp>
      <p:sp>
        <p:nvSpPr>
          <p:cNvPr id="32" name="blk"/>
          <p:cNvSpPr/>
          <p:nvPr/>
        </p:nvSpPr>
        <p:spPr>
          <a:xfrm>
            <a:off x="6995160" y="1234440"/>
            <a:ext cx="2286000" cy="1207008"/>
          </a:xfrm>
          <a:prstGeom prst="roundRect">
            <a:avLst>
              <a:gd name="adj" fmla="val 7000"/>
            </a:avLst>
          </a:prstGeom>
          <a:solidFill>
            <a:srgbClr val="ECEFF1"/>
          </a:solidFill>
          <a:ln w="14000">
            <a:solidFill>
              <a:srgbClr val="37474F"/>
            </a:solidFill>
          </a:ln>
        </p:spPr>
        <p:txBody>
          <a:bodyPr/>
          <a:lstStyle/>
          <a:p/>
        </p:txBody>
      </p:sp>
      <p:sp>
        <p:nvSpPr>
          <p:cNvPr id="33" name="blkt"/>
          <p:cNvSpPr txBox="1"/>
          <p:nvPr/>
        </p:nvSpPr>
        <p:spPr>
          <a:xfrm>
            <a:off x="7159752" y="1325880"/>
            <a:ext cx="1975104" cy="102412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algn="l">
              <a:spcAft>
                <a:spcPts val="120"/>
              </a:spcAft>
              <a:buNone/>
            </a:pPr>
            <a:r>
              <a:rPr lang="en-US" sz="1200" b="1" dirty="0">
                <a:solidFill>
                  <a:srgbClr val="37474F"/>
                </a:solidFill>
                <a:latin typeface="Calibri"/>
              </a:rPr>
              <a:t>Left motors</a:t>
            </a:r>
          </a:p>
          <a:p>
            <a:pPr algn="l">
              <a:spcAft>
                <a:spcPts val="120"/>
              </a:spcAft>
              <a:buNone/>
            </a:pPr>
            <a:r>
              <a:rPr lang="en-US" sz="1050" dirty="0">
                <a:solidFill>
                  <a:srgbClr val="1A2421"/>
                </a:solidFill>
                <a:latin typeface="Calibri"/>
              </a:rPr>
              <a:t>FL + RL (parallel)</a:t>
            </a:r>
          </a:p>
          <a:p>
            <a:pPr algn="l">
              <a:spcAft>
                <a:spcPts val="12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1N5819 flyback each</a:t>
            </a:r>
          </a:p>
        </p:txBody>
      </p:sp>
      <p:sp>
        <p:nvSpPr>
          <p:cNvPr id="36" name="blk"/>
          <p:cNvSpPr/>
          <p:nvPr/>
        </p:nvSpPr>
        <p:spPr>
          <a:xfrm>
            <a:off x="6995160" y="2633472"/>
            <a:ext cx="2286000" cy="1207008"/>
          </a:xfrm>
          <a:prstGeom prst="roundRect">
            <a:avLst>
              <a:gd name="adj" fmla="val 7000"/>
            </a:avLst>
          </a:prstGeom>
          <a:solidFill>
            <a:srgbClr val="ECEFF1"/>
          </a:solidFill>
          <a:ln w="14000">
            <a:solidFill>
              <a:srgbClr val="37474F"/>
            </a:solidFill>
          </a:ln>
        </p:spPr>
        <p:txBody>
          <a:bodyPr/>
          <a:lstStyle/>
          <a:p/>
        </p:txBody>
      </p:sp>
      <p:sp>
        <p:nvSpPr>
          <p:cNvPr id="37" name="blkt"/>
          <p:cNvSpPr txBox="1"/>
          <p:nvPr/>
        </p:nvSpPr>
        <p:spPr>
          <a:xfrm>
            <a:off x="7159752" y="2724912"/>
            <a:ext cx="1975104" cy="102412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algn="l">
              <a:spcAft>
                <a:spcPts val="120"/>
              </a:spcAft>
              <a:buNone/>
            </a:pPr>
            <a:r>
              <a:rPr lang="en-US" sz="1200" b="1" dirty="0">
                <a:solidFill>
                  <a:srgbClr val="37474F"/>
                </a:solidFill>
                <a:latin typeface="Calibri"/>
              </a:rPr>
              <a:t>Right motors</a:t>
            </a:r>
          </a:p>
          <a:p>
            <a:pPr algn="l">
              <a:spcAft>
                <a:spcPts val="120"/>
              </a:spcAft>
              <a:buNone/>
            </a:pPr>
            <a:r>
              <a:rPr lang="en-US" sz="1050" dirty="0">
                <a:solidFill>
                  <a:srgbClr val="1A2421"/>
                </a:solidFill>
                <a:latin typeface="Calibri"/>
              </a:rPr>
              <a:t>FR + RR (parallel)</a:t>
            </a:r>
          </a:p>
          <a:p>
            <a:pPr algn="l">
              <a:spcAft>
                <a:spcPts val="12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1N5819 flyback each</a:t>
            </a:r>
          </a:p>
        </p:txBody>
      </p:sp>
      <p:sp>
        <p:nvSpPr>
          <p:cNvPr id="40" name="blk"/>
          <p:cNvSpPr/>
          <p:nvPr/>
        </p:nvSpPr>
        <p:spPr>
          <a:xfrm>
            <a:off x="9464040" y="1234440"/>
            <a:ext cx="2240280" cy="2606040"/>
          </a:xfrm>
          <a:prstGeom prst="roundRect">
            <a:avLst>
              <a:gd name="adj" fmla="val 7000"/>
            </a:avLst>
          </a:prstGeom>
          <a:solidFill>
            <a:srgbClr val="FFF3E0"/>
          </a:solidFill>
          <a:ln w="14000">
            <a:solidFill>
              <a:srgbClr val="E65100"/>
            </a:solidFill>
          </a:ln>
        </p:spPr>
        <p:txBody>
          <a:bodyPr/>
          <a:lstStyle/>
          <a:p/>
        </p:txBody>
      </p:sp>
      <p:sp>
        <p:nvSpPr>
          <p:cNvPr id="41" name="blkt"/>
          <p:cNvSpPr txBox="1"/>
          <p:nvPr/>
        </p:nvSpPr>
        <p:spPr>
          <a:xfrm>
            <a:off x="9628632" y="1325880"/>
            <a:ext cx="1929384" cy="24231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algn="l">
              <a:spcAft>
                <a:spcPts val="120"/>
              </a:spcAft>
              <a:buNone/>
            </a:pPr>
            <a:r>
              <a:rPr lang="en-US" sz="1200" b="1" dirty="0">
                <a:solidFill>
                  <a:srgbClr val="B26A00"/>
                </a:solidFill>
                <a:latin typeface="Calibri"/>
              </a:rPr>
              <a:t>Power &amp; ground</a:t>
            </a:r>
          </a:p>
          <a:p>
            <a:pPr algn="l">
              <a:spcAft>
                <a:spcPts val="120"/>
              </a:spcAft>
              <a:buNone/>
            </a:pPr>
            <a:r>
              <a:rPr lang="en-US" sz="1050" dirty="0">
                <a:solidFill>
                  <a:srgbClr val="1A2421"/>
                </a:solidFill>
                <a:latin typeface="Calibri"/>
              </a:rPr>
              <a:t>B+  &lt;-  11.1 V bus</a:t>
            </a:r>
          </a:p>
          <a:p>
            <a:pPr algn="l">
              <a:spcAft>
                <a:spcPts val="120"/>
              </a:spcAft>
              <a:buNone/>
            </a:pPr>
            <a:r>
              <a:rPr lang="en-US" sz="950" dirty="0">
                <a:solidFill>
                  <a:srgbClr val="5B6B63"/>
                </a:solidFill>
                <a:latin typeface="Calibri"/>
              </a:rPr>
              <a:t>(after fuse + XT60)</a:t>
            </a:r>
          </a:p>
          <a:p>
            <a:pPr algn="l">
              <a:spcAft>
                <a:spcPts val="120"/>
              </a:spcAft>
              <a:buNone/>
            </a:pPr>
            <a:r>
              <a:rPr lang="en-US" sz="1050" dirty="0">
                <a:solidFill>
                  <a:srgbClr val="1A2421"/>
                </a:solidFill>
                <a:latin typeface="Calibri"/>
              </a:rPr>
              <a:t>B-  -&gt;  common GND</a:t>
            </a:r>
          </a:p>
          <a:p>
            <a:pPr algn="l">
              <a:spcAft>
                <a:spcPts val="120"/>
              </a:spcAft>
              <a:buNone/>
            </a:pPr>
            <a:r>
              <a:rPr lang="en-US" sz="1000" dirty="0">
                <a:solidFill>
                  <a:srgbClr val="1A2421"/>
                </a:solidFill>
                <a:latin typeface="Calibri"/>
              </a:rPr>
              <a:t>VCC/GND -&gt; 3.3V / GND</a:t>
            </a:r>
          </a:p>
          <a:p>
            <a:pPr algn="l">
              <a:spcAft>
                <a:spcPts val="12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P6KE15A TVS on bus</a:t>
            </a:r>
          </a:p>
        </p:txBody>
      </p:sp>
      <p:sp>
        <p:nvSpPr>
          <p:cNvPr id="44" name="w1"/>
          <p:cNvSpPr/>
          <p:nvPr/>
        </p:nvSpPr>
        <p:spPr>
          <a:xfrm>
            <a:off x="3017520" y="1792224"/>
            <a:ext cx="365760" cy="27432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txBody>
          <a:bodyPr/>
          <a:lstStyle/>
          <a:p/>
        </p:txBody>
      </p:sp>
      <p:sp>
        <p:nvSpPr>
          <p:cNvPr id="45" name="w2"/>
          <p:cNvSpPr/>
          <p:nvPr/>
        </p:nvSpPr>
        <p:spPr>
          <a:xfrm>
            <a:off x="3017520" y="3191256"/>
            <a:ext cx="365760" cy="27432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txBody>
          <a:bodyPr/>
          <a:lstStyle/>
          <a:p/>
        </p:txBody>
      </p:sp>
      <p:sp>
        <p:nvSpPr>
          <p:cNvPr id="46" name="w3"/>
          <p:cNvSpPr/>
          <p:nvPr/>
        </p:nvSpPr>
        <p:spPr>
          <a:xfrm>
            <a:off x="6583680" y="1792224"/>
            <a:ext cx="411480" cy="27432"/>
          </a:xfrm>
          <a:prstGeom prst="rect">
            <a:avLst/>
          </a:prstGeom>
          <a:solidFill>
            <a:srgbClr val="37474F"/>
          </a:solidFill>
          <a:ln>
            <a:noFill/>
          </a:ln>
        </p:spPr>
        <p:txBody>
          <a:bodyPr/>
          <a:lstStyle/>
          <a:p/>
        </p:txBody>
      </p:sp>
      <p:sp>
        <p:nvSpPr>
          <p:cNvPr id="47" name="w4"/>
          <p:cNvSpPr/>
          <p:nvPr/>
        </p:nvSpPr>
        <p:spPr>
          <a:xfrm>
            <a:off x="6583680" y="3191256"/>
            <a:ext cx="411480" cy="27432"/>
          </a:xfrm>
          <a:prstGeom prst="rect">
            <a:avLst/>
          </a:prstGeom>
          <a:solidFill>
            <a:srgbClr val="37474F"/>
          </a:solidFill>
          <a:ln>
            <a:noFill/>
          </a:ln>
        </p:spPr>
        <p:txBody>
          <a:bodyPr/>
          <a:lstStyle/>
          <a:p/>
        </p:txBody>
      </p:sp>
      <p:sp>
        <p:nvSpPr>
          <p:cNvPr id="48" name="l1"/>
          <p:cNvSpPr txBox="1"/>
          <p:nvPr/>
        </p:nvSpPr>
        <p:spPr>
          <a:xfrm>
            <a:off x="2999232" y="1463040"/>
            <a:ext cx="457200" cy="27432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1565C0"/>
                </a:solidFill>
                <a:latin typeface="Calibri"/>
              </a:rPr>
              <a:t>19/21</a:t>
            </a:r>
          </a:p>
        </p:txBody>
      </p:sp>
      <p:sp>
        <p:nvSpPr>
          <p:cNvPr id="49" name="l2"/>
          <p:cNvSpPr txBox="1"/>
          <p:nvPr/>
        </p:nvSpPr>
        <p:spPr>
          <a:xfrm>
            <a:off x="2999232" y="2862072"/>
            <a:ext cx="457200" cy="27432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algn="ctr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1565C0"/>
                </a:solidFill>
                <a:latin typeface="Calibri"/>
              </a:rPr>
              <a:t>22/23</a:t>
            </a:r>
          </a:p>
        </p:txBody>
      </p:sp>
      <p:sp>
        <p:nvSpPr>
          <p:cNvPr id="50" name="note"/>
          <p:cNvSpPr txBox="1"/>
          <p:nvPr/>
        </p:nvSpPr>
        <p:spPr>
          <a:xfrm>
            <a:off x="411480" y="3913632"/>
            <a:ext cx="1129284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050" i="1" dirty="0">
                <a:solidFill>
                  <a:srgbClr val="5B6B63"/>
                </a:solidFill>
                <a:latin typeface="Calibri"/>
              </a:rPr>
              <a:t>GPIO32/33 (old L298N ENA/ENB) now FREE   -   optional R_IS/L_IS -&gt; ADS1115 A0/A1 can replace the 2x ACS712 (stall sensing).</a:t>
            </a:r>
          </a:p>
        </p:txBody>
      </p:sp>
      <p:graphicFrame>
        <p:nvGraphicFramePr>
          <p:cNvPr id="60" name="pinmap"/>
          <p:cNvGraphicFramePr/>
          <p:nvPr/>
        </p:nvGraphicFramePr>
        <p:xfrm>
          <a:off x="411480" y="4224528"/>
          <a:ext cx="11292840" cy="20802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94560"/>
                <a:gridCol w="3108960"/>
                <a:gridCol w="3108960"/>
                <a:gridCol w="2880360"/>
              </a:tblGrid>
              <a:tr h="297180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Signal</a:t>
                      </a:r>
                    </a:p>
                  </a:txBody>
                  <a:tcPr marL="55000" marR="55000" marT="16000" marB="16000"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Driver #1 (LEFT)</a:t>
                      </a:r>
                    </a:p>
                  </a:txBody>
                  <a:tcPr marL="55000" marR="55000" marT="16000" marB="16000"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Driver #2 (RIGHT)</a:t>
                      </a:r>
                    </a:p>
                  </a:txBody>
                  <a:tcPr marL="55000" marR="55000" marT="16000" marB="16000"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marL="55000" marR="55000" marT="16000" marB="16000" anchor="ctr">
                    <a:solidFill>
                      <a:srgbClr val="2E7D32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2421"/>
                          </a:solidFill>
                          <a:latin typeface="Calibri"/>
                        </a:rPr>
                        <a:t>RPWM (forward)</a:t>
                      </a:r>
                    </a:p>
                  </a:txBody>
                  <a:tcPr marL="55000" marR="55000" marT="16000" marB="16000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ESP32 GPIO19 (LEDC0)</a:t>
                      </a:r>
                    </a:p>
                  </a:txBody>
                  <a:tcPr marL="55000" marR="55000" marT="16000" marB="16000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ESP32 GPIO22 (LEDC2)</a:t>
                      </a:r>
                    </a:p>
                  </a:txBody>
                  <a:tcPr marL="55000" marR="55000" marT="16000" marB="16000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PWM, 1 kHz</a:t>
                      </a:r>
                    </a:p>
                  </a:txBody>
                  <a:tcPr marL="55000" marR="55000" marT="16000" marB="16000" anchor="ctr">
                    <a:solidFill>
                      <a:srgbClr val="F3F8F1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2421"/>
                          </a:solidFill>
                          <a:latin typeface="Calibri"/>
                        </a:rPr>
                        <a:t>LPWM (reverse)</a:t>
                      </a:r>
                    </a:p>
                  </a:txBody>
                  <a:tcPr marL="55000" marR="55000" marT="16000" marB="1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ESP32 GPIO21 (LEDC1)</a:t>
                      </a:r>
                    </a:p>
                  </a:txBody>
                  <a:tcPr marL="55000" marR="55000" marT="16000" marB="1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ESP32 GPIO23 (LEDC3)</a:t>
                      </a:r>
                    </a:p>
                  </a:txBody>
                  <a:tcPr marL="55000" marR="55000" marT="16000" marB="1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PWM, 1 kHz</a:t>
                      </a:r>
                    </a:p>
                  </a:txBody>
                  <a:tcPr marL="55000" marR="55000" marT="16000" marB="16000" anchor="ctr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2421"/>
                          </a:solidFill>
                          <a:latin typeface="Calibri"/>
                        </a:rPr>
                        <a:t>R_EN &amp; L_EN</a:t>
                      </a:r>
                    </a:p>
                  </a:txBody>
                  <a:tcPr marL="55000" marR="55000" marT="16000" marB="16000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3.3 V (tied)</a:t>
                      </a:r>
                    </a:p>
                  </a:txBody>
                  <a:tcPr marL="55000" marR="55000" marT="16000" marB="16000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3.3 V (tied)</a:t>
                      </a:r>
                    </a:p>
                  </a:txBody>
                  <a:tcPr marL="55000" marR="55000" marT="16000" marB="16000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always enabled</a:t>
                      </a:r>
                    </a:p>
                  </a:txBody>
                  <a:tcPr marL="55000" marR="55000" marT="16000" marB="16000" anchor="ctr">
                    <a:solidFill>
                      <a:srgbClr val="F3F8F1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2421"/>
                          </a:solidFill>
                          <a:latin typeface="Calibri"/>
                        </a:rPr>
                        <a:t>VCC / GND</a:t>
                      </a:r>
                    </a:p>
                  </a:txBody>
                  <a:tcPr marL="55000" marR="55000" marT="16000" marB="1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3.3 V / star GND</a:t>
                      </a:r>
                    </a:p>
                  </a:txBody>
                  <a:tcPr marL="55000" marR="55000" marT="16000" marB="1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3.3 V / star GND</a:t>
                      </a:r>
                    </a:p>
                  </a:txBody>
                  <a:tcPr marL="55000" marR="55000" marT="16000" marB="1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logic + common ground</a:t>
                      </a:r>
                    </a:p>
                  </a:txBody>
                  <a:tcPr marL="55000" marR="55000" marT="16000" marB="16000" anchor="ctr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2421"/>
                          </a:solidFill>
                          <a:latin typeface="Calibri"/>
                        </a:rPr>
                        <a:t>B+ / B-</a:t>
                      </a:r>
                    </a:p>
                  </a:txBody>
                  <a:tcPr marL="55000" marR="55000" marT="16000" marB="16000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11.1 V bus / GND</a:t>
                      </a:r>
                    </a:p>
                  </a:txBody>
                  <a:tcPr marL="55000" marR="55000" marT="16000" marB="16000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11.1 V bus / GND</a:t>
                      </a:r>
                    </a:p>
                  </a:txBody>
                  <a:tcPr marL="55000" marR="55000" marT="16000" marB="16000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battery power (fused)</a:t>
                      </a:r>
                    </a:p>
                  </a:txBody>
                  <a:tcPr marL="55000" marR="55000" marT="16000" marB="16000" anchor="ctr">
                    <a:solidFill>
                      <a:srgbClr val="F3F8F1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2421"/>
                          </a:solidFill>
                          <a:latin typeface="Calibri"/>
                        </a:rPr>
                        <a:t>M+ / M-</a:t>
                      </a:r>
                    </a:p>
                  </a:txBody>
                  <a:tcPr marL="55000" marR="55000" marT="16000" marB="1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FL + RL motors</a:t>
                      </a:r>
                    </a:p>
                  </a:txBody>
                  <a:tcPr marL="55000" marR="55000" marT="16000" marB="1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FR + RR motors</a:t>
                      </a:r>
                    </a:p>
                  </a:txBody>
                  <a:tcPr marL="55000" marR="55000" marT="16000" marB="1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1N5819 flyback each</a:t>
                      </a:r>
                    </a:p>
                  </a:txBody>
                  <a:tcPr marL="55000" marR="55000" marT="16000" marB="16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AgriRover">
  <a:themeElements>
    <a:clrScheme name="AgriRover">
      <a:dk1>
        <a:sysClr val="windowText" lastClr="000000"/>
      </a:dk1>
      <a:lt1>
        <a:sysClr val="window" lastClr="FFFFFF"/>
      </a:lt1>
      <a:dk2>
        <a:srgbClr val="14532D"/>
      </a:dk2>
      <a:lt2>
        <a:srgbClr val="F3F8F1"/>
      </a:lt2>
      <a:accent1>
        <a:srgbClr val="2E7D32"/>
      </a:accent1>
      <a:accent2>
        <a:srgbClr val="66BB6A"/>
      </a:accent2>
      <a:accent3>
        <a:srgbClr val="F9A825"/>
      </a:accent3>
      <a:accent4>
        <a:srgbClr val="1565C0"/>
      </a:accent4>
      <a:accent5>
        <a:srgbClr val="EF6C00"/>
      </a:accent5>
      <a:accent6>
        <a:srgbClr val="6A1B9A"/>
      </a:accent6>
      <a:hlink>
        <a:srgbClr val="0563C1"/>
      </a:hlink>
      <a:folHlink>
        <a:srgbClr val="954F72"/>
      </a:folHlink>
    </a:clrScheme>
    <a:fontScheme name="AgriRover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AgriRover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