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3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1"/>
          <p:cNvSpPr/>
          <p:nvPr/>
        </p:nvSpPr>
        <p:spPr>
          <a:xfrm>
            <a:off x="0" y="4160520"/>
            <a:ext cx="12192000" cy="10972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2"/>
          <p:cNvSpPr/>
          <p:nvPr/>
        </p:nvSpPr>
        <p:spPr>
          <a:xfrm>
            <a:off x="0" y="4270248"/>
            <a:ext cx="12192000" cy="36576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brand"/>
          <p:cNvSpPr txBox="1"/>
          <p:nvPr/>
        </p:nvSpPr>
        <p:spPr>
          <a:xfrm>
            <a:off x="731520" y="1554480"/>
            <a:ext cx="9692640" cy="12801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6600" b="1" dirty="0">
                <a:solidFill>
                  <a:srgbClr val="FFFFFF"/>
                </a:solidFill>
                <a:latin typeface="Calibri"/>
              </a:rPr>
              <a:t>AgriRover</a:t>
            </a:r>
          </a:p>
        </p:txBody>
      </p:sp>
      <p:sp>
        <p:nvSpPr>
          <p:cNvPr id="23" name="tag"/>
          <p:cNvSpPr txBox="1"/>
          <p:nvPr/>
        </p:nvSpPr>
        <p:spPr>
          <a:xfrm>
            <a:off x="777240" y="2788920"/>
            <a:ext cx="9692640" cy="9144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6BB6A"/>
                </a:solidFill>
                <a:latin typeface="Calibri"/>
              </a:rPr>
              <a:t>Precision farming for every small farm</a:t>
            </a:r>
          </a:p>
        </p:txBody>
      </p:sp>
      <p:sp>
        <p:nvSpPr>
          <p:cNvPr id="24" name="sub"/>
          <p:cNvSpPr txBox="1"/>
          <p:nvPr/>
        </p:nvSpPr>
        <p:spPr>
          <a:xfrm>
            <a:off x="777240" y="4434840"/>
            <a:ext cx="9692640" cy="10972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F3F8F1"/>
                </a:solidFill>
                <a:latin typeface="Calibri"/>
              </a:rPr>
              <a:t>Affordable autonomous rover: soil-NPK sensing - AI weed &amp; disease detection - per-plant micro-dosing</a:t>
            </a:r>
          </a:p>
        </p:txBody>
      </p:sp>
      <p:sp>
        <p:nvSpPr>
          <p:cNvPr id="25" name="prog"/>
          <p:cNvSpPr txBox="1"/>
          <p:nvPr/>
        </p:nvSpPr>
        <p:spPr>
          <a:xfrm>
            <a:off x="777240" y="5623560"/>
            <a:ext cx="9692640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66BB6A"/>
                </a:solidFill>
                <a:latin typeface="Calibri"/>
              </a:rPr>
              <a:t>IITB-Groww INV.ENT  -  Track A      |      A 4-member student team      |      Team: [Your names]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0584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Problem &amp; Validation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0584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</a:t>
            </a:r>
          </a:p>
        </p:txBody>
      </p:sp>
      <p:sp>
        <p:nvSpPr>
          <p:cNvPr id="30" name="b"/>
          <p:cNvSpPr txBox="1"/>
          <p:nvPr/>
        </p:nvSpPr>
        <p:spPr>
          <a:xfrm>
            <a:off x="548640" y="1325880"/>
            <a:ext cx="1014984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The problem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~86% of India's farm holdings are under 2 ha (Agri Census 2015-16) - too small for big machinery.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Farmers fertilize by guesswork - no affordable way to sense soil NPK or dose per plant.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Fertilizer use is NPK-imbalanced vs the ideal 4:2:1 (FAI); excess urea wastes money and degrades soil.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Soil Health Cards are underused and lab tests take 2-3 weeks, so habit wins.</a:t>
            </a:r>
          </a:p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Validation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Field visits and talks with local farmers &amp; input dealers: uniform hand-broadcasting and guesswork dosing is the clear norm.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0584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Solution &amp; Innovation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0584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</a:t>
            </a:r>
          </a:p>
        </p:txBody>
      </p:sp>
      <p:sp>
        <p:nvSpPr>
          <p:cNvPr id="30" name="b"/>
          <p:cNvSpPr txBox="1"/>
          <p:nvPr/>
        </p:nvSpPr>
        <p:spPr>
          <a:xfrm>
            <a:off x="548640" y="1325880"/>
            <a:ext cx="1014984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AgriRover - a low-cost autonomous farm rover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Senses soil NPK (7-in-1 RS485 probe) plus moisture, TDS and temperature in-field.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AI vision (YOLOv8n on a Coral Edge TPU) detects weeds and crop disease.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Targeted micro-dosing: liquid fertilizer + plant-by-plant aimed spraying (pan/tilt nozzle).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Autonomous snake-route navigation: GPS + EKF + vision geo-tagging (10-20 cm).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Modular tools: grass cutter, seed sower, weeder, sprayer.</a:t>
            </a:r>
          </a:p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Why it's different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Per-plant precision on small farms at a fraction of big-ag machinery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0584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What We've Built  (POC/MVP)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0584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</a:t>
            </a:r>
          </a:p>
        </p:txBody>
      </p:sp>
      <p:sp>
        <p:nvSpPr>
          <p:cNvPr id="40" name="card"/>
          <p:cNvSpPr/>
          <p:nvPr/>
        </p:nvSpPr>
        <p:spPr>
          <a:xfrm>
            <a:off x="502920" y="1371600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41" name="tab"/>
          <p:cNvSpPr/>
          <p:nvPr/>
        </p:nvSpPr>
        <p:spPr>
          <a:xfrm>
            <a:off x="502920" y="1371600"/>
            <a:ext cx="109728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ct"/>
          <p:cNvSpPr txBox="1"/>
          <p:nvPr/>
        </p:nvSpPr>
        <p:spPr>
          <a:xfrm>
            <a:off x="758952" y="1517904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2E7D32"/>
                </a:solidFill>
                <a:latin typeface="Calibri"/>
              </a:rPr>
              <a:t>Firmware (ESP32 / FreeRTOS)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Dual-core drive, NPK/RS485 sensing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Dosing state machine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Secure MQTT + UART link</a:t>
            </a:r>
          </a:p>
        </p:txBody>
      </p:sp>
      <p:sp>
        <p:nvSpPr>
          <p:cNvPr id="43" name="card"/>
          <p:cNvSpPr/>
          <p:nvPr/>
        </p:nvSpPr>
        <p:spPr>
          <a:xfrm>
            <a:off x="3977640" y="1371600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44" name="tab"/>
          <p:cNvSpPr/>
          <p:nvPr/>
        </p:nvSpPr>
        <p:spPr>
          <a:xfrm>
            <a:off x="3977640" y="1371600"/>
            <a:ext cx="109728" cy="2240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ct"/>
          <p:cNvSpPr txBox="1"/>
          <p:nvPr/>
        </p:nvSpPr>
        <p:spPr>
          <a:xfrm>
            <a:off x="4233672" y="1517904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1565C0"/>
                </a:solidFill>
                <a:latin typeface="Calibri"/>
              </a:rPr>
              <a:t>AI Vision (Raspberry Pi)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YOLOv8n weed/disease/obstacle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Runs on Coral Edge TPU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Training notebooks included</a:t>
            </a:r>
          </a:p>
        </p:txBody>
      </p:sp>
      <p:sp>
        <p:nvSpPr>
          <p:cNvPr id="46" name="card"/>
          <p:cNvSpPr/>
          <p:nvPr/>
        </p:nvSpPr>
        <p:spPr>
          <a:xfrm>
            <a:off x="7452360" y="1371600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6A1B9A"/>
            </a:solidFill>
          </a:ln>
        </p:spPr>
        <p:txBody>
          <a:bodyPr/>
          <a:lstStyle/>
          <a:p/>
        </p:txBody>
      </p:sp>
      <p:sp>
        <p:nvSpPr>
          <p:cNvPr id="47" name="tab"/>
          <p:cNvSpPr/>
          <p:nvPr/>
        </p:nvSpPr>
        <p:spPr>
          <a:xfrm>
            <a:off x="7452360" y="1371600"/>
            <a:ext cx="109728" cy="22402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ct"/>
          <p:cNvSpPr txBox="1"/>
          <p:nvPr/>
        </p:nvSpPr>
        <p:spPr>
          <a:xfrm>
            <a:off x="7708392" y="1517904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6A1B9A"/>
                </a:solidFill>
                <a:latin typeface="Calibri"/>
              </a:rPr>
              <a:t>Navigation &amp; Systems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EKF + GPS + vision geo-tag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Snake-route path planner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ROS2 nodes + full simulator</a:t>
            </a:r>
          </a:p>
        </p:txBody>
      </p:sp>
      <p:sp>
        <p:nvSpPr>
          <p:cNvPr id="49" name="card"/>
          <p:cNvSpPr/>
          <p:nvPr/>
        </p:nvSpPr>
        <p:spPr>
          <a:xfrm>
            <a:off x="502920" y="3776472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F9A825"/>
            </a:solidFill>
          </a:ln>
        </p:spPr>
        <p:txBody>
          <a:bodyPr/>
          <a:lstStyle/>
          <a:p/>
        </p:txBody>
      </p:sp>
      <p:sp>
        <p:nvSpPr>
          <p:cNvPr id="50" name="tab"/>
          <p:cNvSpPr/>
          <p:nvPr/>
        </p:nvSpPr>
        <p:spPr>
          <a:xfrm>
            <a:off x="502920" y="3776472"/>
            <a:ext cx="109728" cy="224028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ct"/>
          <p:cNvSpPr txBox="1"/>
          <p:nvPr/>
        </p:nvSpPr>
        <p:spPr>
          <a:xfrm>
            <a:off x="758952" y="3922776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F9A825"/>
                </a:solidFill>
                <a:latin typeface="Calibri"/>
              </a:rPr>
              <a:t>Software Tooling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Live dashboard + Telegram alerts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CI pipeline (automated build)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Black-box data logging</a:t>
            </a:r>
          </a:p>
        </p:txBody>
      </p:sp>
      <p:sp>
        <p:nvSpPr>
          <p:cNvPr id="52" name="card"/>
          <p:cNvSpPr/>
          <p:nvPr/>
        </p:nvSpPr>
        <p:spPr>
          <a:xfrm>
            <a:off x="3977640" y="3776472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EF6C00"/>
            </a:solidFill>
          </a:ln>
        </p:spPr>
        <p:txBody>
          <a:bodyPr/>
          <a:lstStyle/>
          <a:p/>
        </p:txBody>
      </p:sp>
      <p:sp>
        <p:nvSpPr>
          <p:cNvPr id="53" name="tab"/>
          <p:cNvSpPr/>
          <p:nvPr/>
        </p:nvSpPr>
        <p:spPr>
          <a:xfrm>
            <a:off x="3977640" y="3776472"/>
            <a:ext cx="109728" cy="2240280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ct"/>
          <p:cNvSpPr txBox="1"/>
          <p:nvPr/>
        </p:nvSpPr>
        <p:spPr>
          <a:xfrm>
            <a:off x="4233672" y="3922776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EF6C00"/>
                </a:solidFill>
                <a:latin typeface="Calibri"/>
              </a:rPr>
              <a:t>Hardware Design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Verified circuit + wiring v2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110-part BOM, fully costed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+15 gap-audit &amp; v2 upgrades</a:t>
            </a:r>
          </a:p>
        </p:txBody>
      </p:sp>
      <p:sp>
        <p:nvSpPr>
          <p:cNvPr id="55" name="card"/>
          <p:cNvSpPr/>
          <p:nvPr/>
        </p:nvSpPr>
        <p:spPr>
          <a:xfrm>
            <a:off x="7452360" y="3776472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56" name="tab"/>
          <p:cNvSpPr/>
          <p:nvPr/>
        </p:nvSpPr>
        <p:spPr>
          <a:xfrm>
            <a:off x="7452360" y="3776472"/>
            <a:ext cx="109728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57" name="ct"/>
          <p:cNvSpPr txBox="1"/>
          <p:nvPr/>
        </p:nvSpPr>
        <p:spPr>
          <a:xfrm>
            <a:off x="7708392" y="3922776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2E7D32"/>
                </a:solidFill>
                <a:latin typeface="Calibri"/>
              </a:rPr>
              <a:t>Field Reliability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10 real field risks engineered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Heat/battery, stall, comms-loss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Dust/dew sealing &amp; fail-safes</a:t>
            </a:r>
          </a:p>
        </p:txBody>
      </p:sp>
      <p:sp>
        <p:nvSpPr>
          <p:cNvPr id="58" name="note"/>
          <p:cNvSpPr txBox="1"/>
          <p:nvPr/>
        </p:nvSpPr>
        <p:spPr>
          <a:xfrm>
            <a:off x="502920" y="5989320"/>
            <a:ext cx="10058400" cy="3200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B6B63"/>
                </a:solidFill>
                <a:latin typeface="Calibri"/>
              </a:rPr>
              <a:t>Built end-to-end by our 4-member team - software validated in simulation; hardware integration is the next step.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0584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PoC Hypothesis &amp; Metrics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0584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</a:t>
            </a:r>
          </a:p>
        </p:txBody>
      </p:sp>
      <p:sp>
        <p:nvSpPr>
          <p:cNvPr id="30" name="b"/>
          <p:cNvSpPr txBox="1"/>
          <p:nvPr/>
        </p:nvSpPr>
        <p:spPr>
          <a:xfrm>
            <a:off x="548640" y="1325880"/>
            <a:ext cx="1014984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Hypothesis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Per-plant sensing + targeted dosing cuts fertilizer/chemical use sharply with no yield loss.</a:t>
            </a:r>
          </a:p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Metrics we will prove in pilot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Fertilizer/pesticide reduction % vs hand broadcasting.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Weed/disease detection accuracy (precision &amp; recall); dosing placement accuracy (cm).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Area covered per charge; cost saving per acre per season.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2E7D32"/>
                </a:solidFill>
                <a:latin typeface="Calibri"/>
              </a:rPr>
              <a:t>Targets to prove: 30-50% input reduction, &gt;85% detection accuracy.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0584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Execution &amp; Business Plan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0584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</a:t>
            </a:r>
          </a:p>
        </p:txBody>
      </p:sp>
      <p:sp>
        <p:nvSpPr>
          <p:cNvPr id="30" name="b"/>
          <p:cNvSpPr txBox="1"/>
          <p:nvPr/>
        </p:nvSpPr>
        <p:spPr>
          <a:xfrm>
            <a:off x="548640" y="1325880"/>
            <a:ext cx="1014984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Next milestones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Build: assemble hardware prototype (BTS7960 drive, NPK probe, pan/tilt sprayer, LiFePO4) - ~3 months.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Test: pilot on 5-10 small farms; measure input savings, accuracy and uptime.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Iterate: refine dosing + AI from field data; harden for dust and 40-45C heat.</a:t>
            </a:r>
          </a:p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Competitors &amp; edge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Big precision-ag (tractors, large drones) = costly, large-farm. Manual labour/dealers; slow soil labs. Our edge: affordable, autonomous, small-farm, per-plant.</a:t>
            </a:r>
          </a:p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Pricing (indicative)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Rover sale + service, or Rover-as-a-Service via FPOs/co-ops at a per-acre fee.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0584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Team of 4 &amp; Impact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0584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</a:t>
            </a:r>
          </a:p>
        </p:txBody>
      </p:sp>
      <p:sp>
        <p:nvSpPr>
          <p:cNvPr id="50" name="m"/>
          <p:cNvSpPr/>
          <p:nvPr/>
        </p:nvSpPr>
        <p:spPr>
          <a:xfrm>
            <a:off x="502920" y="137160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51" name="mt"/>
          <p:cNvSpPr/>
          <p:nvPr/>
        </p:nvSpPr>
        <p:spPr>
          <a:xfrm>
            <a:off x="502920" y="1371600"/>
            <a:ext cx="91440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mc"/>
          <p:cNvSpPr txBox="1"/>
          <p:nvPr/>
        </p:nvSpPr>
        <p:spPr>
          <a:xfrm>
            <a:off x="722376" y="1463040"/>
            <a:ext cx="470916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300" b="1" dirty="0">
                <a:solidFill>
                  <a:srgbClr val="2E7D32"/>
                </a:solidFill>
                <a:latin typeface="Calibri"/>
              </a:rPr>
              <a:t>[Name 1] - Embedded &amp; Firmware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1A2421"/>
                </a:solidFill>
                <a:latin typeface="Calibri"/>
              </a:rPr>
              <a:t>ESP32/FreeRTOS, drive, sensing, dosing</a:t>
            </a:r>
          </a:p>
        </p:txBody>
      </p:sp>
      <p:sp>
        <p:nvSpPr>
          <p:cNvPr id="53" name="m"/>
          <p:cNvSpPr/>
          <p:nvPr/>
        </p:nvSpPr>
        <p:spPr>
          <a:xfrm>
            <a:off x="5806440" y="137160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54" name="mt"/>
          <p:cNvSpPr/>
          <p:nvPr/>
        </p:nvSpPr>
        <p:spPr>
          <a:xfrm>
            <a:off x="5806440" y="1371600"/>
            <a:ext cx="91440" cy="9144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mc"/>
          <p:cNvSpPr txBox="1"/>
          <p:nvPr/>
        </p:nvSpPr>
        <p:spPr>
          <a:xfrm>
            <a:off x="6025896" y="1463040"/>
            <a:ext cx="470916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300" b="1" dirty="0">
                <a:solidFill>
                  <a:srgbClr val="1565C0"/>
                </a:solidFill>
                <a:latin typeface="Calibri"/>
              </a:rPr>
              <a:t>[Name 2] - AI &amp; Vision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1A2421"/>
                </a:solidFill>
                <a:latin typeface="Calibri"/>
              </a:rPr>
              <a:t>YOLOv8n, Coral TPU, disease/weed/obstacle</a:t>
            </a:r>
          </a:p>
        </p:txBody>
      </p:sp>
      <p:sp>
        <p:nvSpPr>
          <p:cNvPr id="56" name="m"/>
          <p:cNvSpPr/>
          <p:nvPr/>
        </p:nvSpPr>
        <p:spPr>
          <a:xfrm>
            <a:off x="502920" y="242316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6A1B9A"/>
            </a:solidFill>
          </a:ln>
        </p:spPr>
        <p:txBody>
          <a:bodyPr/>
          <a:lstStyle/>
          <a:p/>
        </p:txBody>
      </p:sp>
      <p:sp>
        <p:nvSpPr>
          <p:cNvPr id="57" name="mt"/>
          <p:cNvSpPr/>
          <p:nvPr/>
        </p:nvSpPr>
        <p:spPr>
          <a:xfrm>
            <a:off x="502920" y="2423160"/>
            <a:ext cx="91440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txBody>
          <a:bodyPr/>
          <a:lstStyle/>
          <a:p/>
        </p:txBody>
      </p:sp>
      <p:sp>
        <p:nvSpPr>
          <p:cNvPr id="58" name="mc"/>
          <p:cNvSpPr txBox="1"/>
          <p:nvPr/>
        </p:nvSpPr>
        <p:spPr>
          <a:xfrm>
            <a:off x="722376" y="2514600"/>
            <a:ext cx="470916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300" b="1" dirty="0">
                <a:solidFill>
                  <a:srgbClr val="6A1B9A"/>
                </a:solidFill>
                <a:latin typeface="Calibri"/>
              </a:rPr>
              <a:t>[Name 3] - Navigation &amp; Systems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1A2421"/>
                </a:solidFill>
                <a:latin typeface="Calibri"/>
              </a:rPr>
              <a:t>EKF, GPS, ROS2, simulation</a:t>
            </a:r>
          </a:p>
        </p:txBody>
      </p:sp>
      <p:sp>
        <p:nvSpPr>
          <p:cNvPr id="59" name="m"/>
          <p:cNvSpPr/>
          <p:nvPr/>
        </p:nvSpPr>
        <p:spPr>
          <a:xfrm>
            <a:off x="5806440" y="242316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EF6C00"/>
            </a:solidFill>
          </a:ln>
        </p:spPr>
        <p:txBody>
          <a:bodyPr/>
          <a:lstStyle/>
          <a:p/>
        </p:txBody>
      </p:sp>
      <p:sp>
        <p:nvSpPr>
          <p:cNvPr id="60" name="mt"/>
          <p:cNvSpPr/>
          <p:nvPr/>
        </p:nvSpPr>
        <p:spPr>
          <a:xfrm>
            <a:off x="5806440" y="2423160"/>
            <a:ext cx="91440" cy="914400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1" name="mc"/>
          <p:cNvSpPr txBox="1"/>
          <p:nvPr/>
        </p:nvSpPr>
        <p:spPr>
          <a:xfrm>
            <a:off x="6025896" y="2514600"/>
            <a:ext cx="470916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300" b="1" dirty="0">
                <a:solidFill>
                  <a:srgbClr val="EF6C00"/>
                </a:solidFill>
                <a:latin typeface="Calibri"/>
              </a:rPr>
              <a:t>[Name 4] - Hardware &amp; Integration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1A2421"/>
                </a:solidFill>
                <a:latin typeface="Calibri"/>
              </a:rPr>
              <a:t>Circuit design, 110-part BOM, dashboard</a:t>
            </a:r>
          </a:p>
        </p:txBody>
      </p:sp>
      <p:sp>
        <p:nvSpPr>
          <p:cNvPr id="62" name="imp"/>
          <p:cNvSpPr txBox="1"/>
          <p:nvPr/>
        </p:nvSpPr>
        <p:spPr>
          <a:xfrm>
            <a:off x="502920" y="3703320"/>
            <a:ext cx="10241280" cy="2468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Why us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4-member team that has already built the full software stack + a fully costed hardware design - end to end.</a:t>
            </a:r>
          </a:p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Impact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Lower input cost for small farmers, less fertilizer/pesticide runoff, healthier soil and higher net income.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Long-term: affordable precision farming for every smallholder; shared rover fleets via FPOs.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0584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Budget Sheet  (costed BOM)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0584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</a:t>
            </a:r>
          </a:p>
        </p:txBody>
      </p:sp>
      <p:graphicFrame>
        <p:nvGraphicFramePr>
          <p:cNvPr id="70" name="tbl"/>
          <p:cNvGraphicFramePr/>
          <p:nvPr/>
        </p:nvGraphicFramePr>
        <p:xfrm>
          <a:off x="502920" y="1325880"/>
          <a:ext cx="5669280" cy="41833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77640"/>
                <a:gridCol w="1691640"/>
              </a:tblGrid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Section</a:t>
                      </a:r>
                    </a:p>
                  </a:txBody>
                  <a:tcPr marL="64008" marR="64008" marT="18288" marB="18288"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Cost (Rs)</a:t>
                      </a:r>
                    </a:p>
                  </a:txBody>
                  <a:tcPr marL="64008" marR="64008" marT="18288" marB="18288" anchor="ctr">
                    <a:solidFill>
                      <a:srgbClr val="2E7D32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1. Brain &amp; Compute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5,880 - 8,150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2. Power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2,350 - 4,040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3. Motor &amp; Drive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1,740 - 3,400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4. Sensing (ESP32)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3,740 - 8,080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5. AI Sensing (Pi)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4,680 - 7,100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6. Actuation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1,560 - 3,030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7. Communication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500 - 1,000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8. Interface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480 - 870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9. Passives &amp; wiring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790 - 1,530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10. Chassis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1,420 - 2,600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11. Safety / Thermal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2,070 - 3,880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12. v2 Upgrade parts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740 - 1,510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13. Tools (one-time)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1,410 - 2,760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TOTAL (Full AI build)</a:t>
                      </a:r>
                    </a:p>
                  </a:txBody>
                  <a:tcPr marL="64008" marR="64008" marT="18288" marB="18288" anchor="ctr"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27,360 - 47,950</a:t>
                      </a:r>
                    </a:p>
                  </a:txBody>
                  <a:tcPr marL="64008" marR="64008" marT="18288" marB="18288" anchor="ctr">
                    <a:solidFill>
                      <a:srgbClr val="14532D"/>
                    </a:solidFill>
                  </a:tcPr>
                </a:tc>
              </a:tr>
            </a:tbl>
          </a:graphicData>
        </a:graphic>
      </p:graphicFrame>
      <p:sp>
        <p:nvSpPr>
          <p:cNvPr id="80" name="tier"/>
          <p:cNvSpPr/>
          <p:nvPr/>
        </p:nvSpPr>
        <p:spPr>
          <a:xfrm>
            <a:off x="6537960" y="1371600"/>
            <a:ext cx="4160520" cy="3246120"/>
          </a:xfrm>
          <a:prstGeom prst="roundRect">
            <a:avLst>
              <a:gd name="adj" fmla="val 8000"/>
            </a:avLst>
          </a:prstGeom>
          <a:solidFill>
            <a:srgbClr val="E7F1E4"/>
          </a:solidFill>
          <a:ln w="14000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81" name="tiertx"/>
          <p:cNvSpPr txBox="1"/>
          <p:nvPr/>
        </p:nvSpPr>
        <p:spPr>
          <a:xfrm>
            <a:off x="6766560" y="1554480"/>
            <a:ext cx="3749040" cy="2926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E7D32"/>
                </a:solidFill>
                <a:latin typeface="Calibri"/>
              </a:rPr>
              <a:t>Build tiers</a:t>
            </a:r>
          </a:p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Core only (demo): Rs 8,000 - 14,000</a:t>
            </a:r>
          </a:p>
          <a:p>
            <a:pPr marL="0" indent="0" algn="l">
              <a:spcBef>
                <a:spcPts val="0"/>
              </a:spcBef>
              <a:spcAft>
                <a:spcPts val="26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ESP32 + moisture + NPK + relay dosing + power/drive.</a:t>
            </a:r>
          </a:p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Core + Navigation: Rs 12,000 - 20,000</a:t>
            </a:r>
          </a:p>
          <a:p>
            <a:pPr marL="0" indent="0" algn="l">
              <a:spcBef>
                <a:spcPts val="0"/>
              </a:spcBef>
              <a:spcAft>
                <a:spcPts val="26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Adds GPS, encoders, INA219, OLED, safety.</a:t>
            </a:r>
          </a:p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150" b="1" dirty="0">
                <a:solidFill>
                  <a:srgbClr val="14532D"/>
                </a:solidFill>
                <a:latin typeface="Calibri"/>
              </a:rPr>
              <a:t>Full AI build: Rs 27,000 - 48,000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Everything in this sheet (within the Rs 47K cap).</a:t>
            </a:r>
          </a:p>
        </p:txBody>
      </p:sp>
      <p:sp>
        <p:nvSpPr>
          <p:cNvPr id="82" name="bn"/>
          <p:cNvSpPr txBox="1"/>
          <p:nvPr/>
        </p:nvSpPr>
        <p:spPr>
          <a:xfrm>
            <a:off x="6537960" y="4800600"/>
            <a:ext cx="4160520" cy="13716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000" i="1" dirty="0">
                <a:solidFill>
                  <a:srgbClr val="5B6B63"/>
                </a:solidFill>
                <a:latin typeface="Calibri"/>
              </a:rPr>
              <a:t>Indicative India prices - verify before ordering.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i="1" dirty="0">
                <a:solidFill>
                  <a:srgbClr val="5B6B63"/>
                </a:solidFill>
                <a:latin typeface="Calibri"/>
              </a:rPr>
              <a:t>Software is free. 'Printed' parts are PETG, not bought.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griRover">
  <a:themeElements>
    <a:clrScheme name="AgriRover">
      <a:dk1>
        <a:sysClr val="windowText" lastClr="000000"/>
      </a:dk1>
      <a:lt1>
        <a:sysClr val="window" lastClr="FFFFFF"/>
      </a:lt1>
      <a:dk2>
        <a:srgbClr val="14532D"/>
      </a:dk2>
      <a:lt2>
        <a:srgbClr val="F3F8F1"/>
      </a:lt2>
      <a:accent1>
        <a:srgbClr val="2E7D32"/>
      </a:accent1>
      <a:accent2>
        <a:srgbClr val="66BB6A"/>
      </a:accent2>
      <a:accent3>
        <a:srgbClr val="F9A825"/>
      </a:accent3>
      <a:accent4>
        <a:srgbClr val="1565C0"/>
      </a:accent4>
      <a:accent5>
        <a:srgbClr val="EF6C00"/>
      </a:accent5>
      <a:accent6>
        <a:srgbClr val="6A1B9A"/>
      </a:accent6>
      <a:hlink>
        <a:srgbClr val="0563C1"/>
      </a:hlink>
      <a:folHlink>
        <a:srgbClr val="954F72"/>
      </a:folHlink>
    </a:clrScheme>
    <a:fontScheme name="AgriRover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AgriRov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