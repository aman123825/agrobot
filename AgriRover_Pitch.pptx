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53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tripe"/>
          <p:cNvSpPr/>
          <p:nvPr/>
        </p:nvSpPr>
        <p:spPr>
          <a:xfrm>
            <a:off x="0" y="4160520"/>
            <a:ext cx="12192000" cy="109728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21" name="stripe2"/>
          <p:cNvSpPr/>
          <p:nvPr/>
        </p:nvSpPr>
        <p:spPr>
          <a:xfrm>
            <a:off x="0" y="4270248"/>
            <a:ext cx="12192000" cy="36576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txBody>
          <a:bodyPr/>
          <a:lstStyle/>
          <a:p/>
        </p:txBody>
      </p:sp>
      <p:sp>
        <p:nvSpPr>
          <p:cNvPr id="22" name="brand"/>
          <p:cNvSpPr txBox="1"/>
          <p:nvPr/>
        </p:nvSpPr>
        <p:spPr>
          <a:xfrm>
            <a:off x="731520" y="1737360"/>
            <a:ext cx="9692640" cy="12801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6600" b="1" dirty="0">
                <a:solidFill>
                  <a:srgbClr val="FFFFFF"/>
                </a:solidFill>
                <a:latin typeface="Calibri"/>
              </a:rPr>
              <a:t>AgriRover</a:t>
            </a:r>
          </a:p>
        </p:txBody>
      </p:sp>
      <p:sp>
        <p:nvSpPr>
          <p:cNvPr id="23" name="tag"/>
          <p:cNvSpPr txBox="1"/>
          <p:nvPr/>
        </p:nvSpPr>
        <p:spPr>
          <a:xfrm>
            <a:off x="777240" y="2971800"/>
            <a:ext cx="9692640" cy="91440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66BB6A"/>
                </a:solidFill>
                <a:latin typeface="Calibri"/>
              </a:rPr>
              <a:t>Precision farming for every small farm</a:t>
            </a:r>
          </a:p>
        </p:txBody>
      </p:sp>
      <p:sp>
        <p:nvSpPr>
          <p:cNvPr id="24" name="sub"/>
          <p:cNvSpPr txBox="1"/>
          <p:nvPr/>
        </p:nvSpPr>
        <p:spPr>
          <a:xfrm>
            <a:off x="777240" y="4480560"/>
            <a:ext cx="9692640" cy="10972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dirty="0">
                <a:solidFill>
                  <a:srgbClr val="F3F8F1"/>
                </a:solidFill>
                <a:latin typeface="Calibri"/>
              </a:rPr>
              <a:t>Affordable autonomous rover: soil-NPK sensing - AI weed &amp; disease detection - per-plant micro-dosing</a:t>
            </a:r>
          </a:p>
        </p:txBody>
      </p:sp>
      <p:sp>
        <p:nvSpPr>
          <p:cNvPr id="25" name="prog"/>
          <p:cNvSpPr txBox="1"/>
          <p:nvPr/>
        </p:nvSpPr>
        <p:spPr>
          <a:xfrm>
            <a:off x="777240" y="5669280"/>
            <a:ext cx="9692640" cy="54864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 dirty="0">
                <a:solidFill>
                  <a:srgbClr val="66BB6A"/>
                </a:solidFill>
                <a:latin typeface="Calibri"/>
              </a:rPr>
              <a:t>IITB-Groww INV.ENT Program  -  Track A   |   Team: [Your name / team]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&amp; Validation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Program</a:t>
            </a:r>
          </a:p>
        </p:txBody>
      </p:sp>
      <p:sp>
        <p:nvSpPr>
          <p:cNvPr id="30" name="body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The problem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~86% of India's farm holdings are under 2 ha (Agri Census 2015-16) - too small for big machinery.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Farmers fertilize by guesswork - no affordable way to sense soil NPK or dose per plant.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 use is NPK-imbalanced vs the ideal 4:2:1 (FAI); excess urea wastes money and degrades soil.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Soil Health Cards are underused and lab tests take 2-3 weeks, so habit wins.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Validation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Field visits and talks with local farmers &amp; input dealers: uniform hand-broadcasting and guesswork dosing is the clear norm.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Solution &amp; Innovation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Program</a:t>
            </a:r>
          </a:p>
        </p:txBody>
      </p:sp>
      <p:sp>
        <p:nvSpPr>
          <p:cNvPr id="30" name="body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AgriRover - a low-cost autonomous farm rover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Senses soil NPK (7-in-1 probe) plus moisture, TDS and temperature in-field.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AI vision (YOLOv8n on a Coral Edge TPU) detects weeds and crop disease.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Targeted micro-dosing: liquid fertilizer + plant-by-plant aimed spraying (pan/tilt nozzle).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Autonomous snake-route navigation: GPS + EKF + vision geo-tagging (10-20 cm).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Modular tools: grass cutter, seed sower, weeder, sprayer.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it's different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precision on small farms at a fraction of big-ag machinery cost.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PoC Hypothesis &amp; Metrics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Program</a:t>
            </a:r>
          </a:p>
        </p:txBody>
      </p:sp>
      <p:sp>
        <p:nvSpPr>
          <p:cNvPr id="30" name="body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Hypothesis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Per-plant sensing + targeted dosing cuts fertilizer/chemical use sharply with no yield loss.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Progress - POC/MVP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Full software stack works: firmware, AI pipeline, navigation, dashboard, simulator, CI. 10 field risks solved in code.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Metrics we will prove in pilot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Fertilizer/pesticide reduction % vs hand broadcasting.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Weed/disease detection accuracy (precision &amp; recall); dosing placement accuracy (cm).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Area covered per charge; cost saving per acre per season.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2E7D32"/>
                </a:solidFill>
                <a:latin typeface="Calibri"/>
              </a:rPr>
              <a:t>Targets to prove: 30-50% input reduction, &gt;85% detection accuracy.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Execution &amp; Business Plan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Program</a:t>
            </a:r>
          </a:p>
        </p:txBody>
      </p:sp>
      <p:sp>
        <p:nvSpPr>
          <p:cNvPr id="30" name="body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Next milestones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Build: assemble hardware prototype (BTS7960 drive, NPK probe, pan/tilt sprayer, LiFePO4) - ~3 months.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Test: pilot on 5-10 small farms; measure input savings, accuracy and uptime.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Iterate: refine dosing + AI from field data; harden for dust and 40-45C heat.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Competitors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Big precision-ag (tractors, large drones) = costly, large-farm. Manual labour/dealers; slow soil labs. Our edge: affordable, autonomous, small-farm, per-plant.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Pricing (indicative)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Rover sale + service, or Rover-as-a-Service via FPOs/co-ops at a per-acre fee.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Team, Budget &amp; Impact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Program</a:t>
            </a:r>
          </a:p>
        </p:txBody>
      </p:sp>
      <p:sp>
        <p:nvSpPr>
          <p:cNvPr id="30" name="body"/>
          <p:cNvSpPr txBox="1"/>
          <p:nvPr/>
        </p:nvSpPr>
        <p:spPr>
          <a:xfrm>
            <a:off x="548640" y="1325880"/>
            <a:ext cx="10149840" cy="475488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Team (fill with your real team)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Embedded/robotics, AI/ML, agronomy advisor, operations.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Why us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Built the full software stack + detailed hardware design (firmware, AI, navigation, 110-part BOM).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Use of funds &amp; output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Prototype hardware/BOM, sensors + compute, field pilots, agronomy validation -&gt; a field-tested rover + pilot data on input savings.</a:t>
            </a:r>
          </a:p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US" sz="1600" b="1" dirty="0">
                <a:solidFill>
                  <a:srgbClr val="2E7D32"/>
                </a:solidFill>
                <a:latin typeface="Calibri"/>
              </a:rPr>
              <a:t>Long-term vision &amp; impact</a:t>
            </a:r>
          </a:p>
          <a:p>
            <a:pPr marL="292608" indent="-292608" algn="l">
              <a:spcBef>
                <a:spcPts val="0"/>
              </a:spcBef>
              <a:spcAft>
                <a:spcPts val="500"/>
              </a:spcAft>
              <a:buFont typeface="Arial"/>
              <a:buChar char="•"/>
            </a:pPr>
            <a:r>
              <a:rPr lang="en-US" sz="1500" dirty="0">
                <a:solidFill>
                  <a:srgbClr val="1A2421"/>
                </a:solidFill>
                <a:latin typeface="Calibri"/>
              </a:rPr>
              <a:t>Affordable precision farming for every smallholder: lower input cost, less runoff, healthier soil, higher net income.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and"/>
          <p:cNvSpPr/>
          <p:nvPr/>
        </p:nvSpPr>
        <p:spPr>
          <a:xfrm>
            <a:off x="0" y="0"/>
            <a:ext cx="12192000" cy="105156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/>
        </p:txBody>
      </p:sp>
      <p:sp>
        <p:nvSpPr>
          <p:cNvPr id="11" name="accent"/>
          <p:cNvSpPr/>
          <p:nvPr/>
        </p:nvSpPr>
        <p:spPr>
          <a:xfrm>
            <a:off x="0" y="1051560"/>
            <a:ext cx="121920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txBody>
          <a:bodyPr/>
          <a:lstStyle/>
          <a:p/>
        </p:txBody>
      </p:sp>
      <p:sp>
        <p:nvSpPr>
          <p:cNvPr id="12" name="title"/>
          <p:cNvSpPr txBox="1"/>
          <p:nvPr/>
        </p:nvSpPr>
        <p:spPr>
          <a:xfrm>
            <a:off x="548640" y="146304"/>
            <a:ext cx="10058400" cy="777240"/>
          </a:xfrm>
          <a:prstGeom prst="rect">
            <a:avLst/>
          </a:prstGeom>
          <a:noFill/>
        </p:spPr>
        <p:txBody>
          <a:bodyPr wrap="square" anchor="ctr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Budget Sheet</a:t>
            </a:r>
          </a:p>
        </p:txBody>
      </p:sp>
      <p:sp>
        <p:nvSpPr>
          <p:cNvPr id="13" name="foot"/>
          <p:cNvSpPr txBox="1"/>
          <p:nvPr/>
        </p:nvSpPr>
        <p:spPr>
          <a:xfrm>
            <a:off x="548640" y="6355080"/>
            <a:ext cx="1005840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dirty="0">
                <a:solidFill>
                  <a:srgbClr val="5B6B63"/>
                </a:solidFill>
                <a:latin typeface="Calibri"/>
              </a:rPr>
              <a:t>AgriRover  -  IITB-Groww INV.ENT Program</a:t>
            </a:r>
          </a:p>
        </p:txBody>
      </p:sp>
      <p:graphicFrame>
        <p:nvGraphicFramePr>
          <p:cNvPr id="40" name="Budget"/>
          <p:cNvGraphicFramePr/>
          <p:nvPr/>
        </p:nvGraphicFramePr>
        <p:xfrm>
          <a:off x="548640" y="1371600"/>
          <a:ext cx="996696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023360"/>
                <a:gridCol w="420624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73152" marR="73152" marT="36576" marB="36576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3152" marR="73152" marT="36576" marB="36576" anchor="ctr"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/>
                        </a:rPr>
                        <a:t>Cost (Rs)</a:t>
                      </a:r>
                    </a:p>
                  </a:txBody>
                  <a:tcPr marL="73152" marR="73152" marT="36576" marB="36576" anchor="ctr">
                    <a:solidFill>
                      <a:srgbClr val="2E7D3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Chassis, motors &amp; BTS7960 drivers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Mobility on field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9,000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Raspberry Pi 4 + camera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On-board AI inference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NPK probe, moisture/TDS, GPS, IMU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Soil + navigation sensing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9,000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LiFePO4 battery + power/thermal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Safe field power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Pumps, pan/tilt sprayer, tank, actuator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Targeted micro-dosing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7,000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Enclosure, wiring, field testing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Assembly &amp; pilot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Contingency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Risk buffer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dirty="0">
                          <a:solidFill>
                            <a:srgbClr val="1A2421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 marL="73152" marR="73152" marT="36576" marB="36576" anchor="ctr">
                    <a:solidFill>
                      <a:srgbClr val="F3F8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36576" marB="36576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36576" marB="36576" anchor="ctr">
                    <a:solidFill>
                      <a:srgbClr val="14532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/>
                        </a:rPr>
                        <a:t>47,000</a:t>
                      </a:r>
                    </a:p>
                  </a:txBody>
                  <a:tcPr marL="73152" marR="73152" marT="36576" marB="36576" anchor="ctr">
                    <a:solidFill>
                      <a:srgbClr val="14532D"/>
                    </a:solidFill>
                  </a:tcPr>
                </a:tc>
              </a:tr>
            </a:tbl>
          </a:graphicData>
        </a:graphic>
      </p:graphicFrame>
      <p:sp>
        <p:nvSpPr>
          <p:cNvPr id="41" name="note"/>
          <p:cNvSpPr txBox="1"/>
          <p:nvPr/>
        </p:nvSpPr>
        <p:spPr>
          <a:xfrm>
            <a:off x="548640" y="5897880"/>
            <a:ext cx="9966960" cy="365760"/>
          </a:xfrm>
          <a:prstGeom prst="rect">
            <a:avLst/>
          </a:prstGeom>
          <a:noFill/>
        </p:spPr>
        <p:txBody>
          <a:bodyPr wrap="square" anchor="t" rtlCol="0">
            <a:norm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i="1" dirty="0">
                <a:solidFill>
                  <a:srgbClr val="5B6B63"/>
                </a:solidFill>
                <a:latin typeface="Calibri"/>
              </a:rPr>
              <a:t>Indicative component budget - total capped at Rs 47,000.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riRover">
  <a:themeElements>
    <a:clrScheme name="AgriRover">
      <a:dk1>
        <a:sysClr val="windowText" lastClr="000000"/>
      </a:dk1>
      <a:lt1>
        <a:sysClr val="window" lastClr="FFFFFF"/>
      </a:lt1>
      <a:dk2>
        <a:srgbClr val="14532D"/>
      </a:dk2>
      <a:lt2>
        <a:srgbClr val="F3F8F1"/>
      </a:lt2>
      <a:accent1>
        <a:srgbClr val="2E7D32"/>
      </a:accent1>
      <a:accent2>
        <a:srgbClr val="66BB6A"/>
      </a:accent2>
      <a:accent3>
        <a:srgbClr val="F9A825"/>
      </a:accent3>
      <a:accent4>
        <a:srgbClr val="1565C0"/>
      </a:accent4>
      <a:accent5>
        <a:srgbClr val="EF6C00"/>
      </a:accent5>
      <a:accent6>
        <a:srgbClr val="6A1B9A"/>
      </a:accent6>
      <a:hlink>
        <a:srgbClr val="0563C1"/>
      </a:hlink>
      <a:folHlink>
        <a:srgbClr val="954F72"/>
      </a:folHlink>
    </a:clrScheme>
    <a:fontScheme name="AgriRover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AgriRover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