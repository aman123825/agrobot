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ek Gupta" userId="4377cade93e2837d" providerId="LiveId" clId="{CCB60361-FCF7-424E-9244-3B5978FC8DEA}"/>
    <pc:docChg chg="modSld">
      <pc:chgData name="Vivek Gupta" userId="4377cade93e2837d" providerId="LiveId" clId="{CCB60361-FCF7-424E-9244-3B5978FC8DEA}" dt="2026-07-06T07:49:32" v="5" actId="20577"/>
      <pc:docMkLst>
        <pc:docMk/>
      </pc:docMkLst>
      <pc:sldChg chg="modSp mod">
        <pc:chgData name="Vivek Gupta" userId="4377cade93e2837d" providerId="LiveId" clId="{CCB60361-FCF7-424E-9244-3B5978FC8DEA}" dt="2026-07-06T07:49:32" v="5" actId="20577"/>
        <pc:sldMkLst>
          <pc:docMk/>
          <pc:sldMk cId="0" sldId="257"/>
        </pc:sldMkLst>
        <pc:spChg chg="mod">
          <ac:chgData name="Vivek Gupta" userId="4377cade93e2837d" providerId="LiveId" clId="{CCB60361-FCF7-424E-9244-3B5978FC8DEA}" dt="2026-07-06T07:49:32" v="5" actId="20577"/>
          <ac:spMkLst>
            <pc:docMk/>
            <pc:sldMk cId="0" sldId="257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Image_0_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0"/>
            <a:ext cx="48006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30352"/>
            <a:ext cx="237744" cy="237744"/>
          </a:xfrm>
          <a:prstGeom prst="roundRect">
            <a:avLst>
              <a:gd name="adj" fmla="val 3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" y="51206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2A22"/>
                </a:solidFill>
                <a:latin typeface="Calibri"/>
              </a:rPr>
              <a:t>AgriRover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400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1F2A22"/>
                </a:solidFill>
                <a:latin typeface="Calibri"/>
              </a:rPr>
              <a:t>Precision farming</a:t>
            </a:r>
          </a:p>
          <a:p>
            <a:pPr algn="l">
              <a:lnSpc>
                <a:spcPct val="102000"/>
              </a:lnSpc>
            </a:pPr>
            <a:r>
              <a:rPr sz="4000" b="1">
                <a:solidFill>
                  <a:srgbClr val="1E4D36"/>
                </a:solidFill>
                <a:latin typeface="Calibri"/>
              </a:rPr>
              <a:t>for every small farm.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C6B5E"/>
                </a:solidFill>
                <a:latin typeface="Calibri"/>
              </a:rPr>
              <a:t>A small self-driving rover that checks the soil, looks at every plant, and gives each one exactly what it needs — nothing more, nothing wasted.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434840"/>
            <a:ext cx="2697480" cy="402336"/>
          </a:xfrm>
          <a:prstGeom prst="roundRect">
            <a:avLst>
              <a:gd name="adj" fmla="val 50000"/>
            </a:avLst>
          </a:prstGeom>
          <a:solidFill>
            <a:srgbClr val="1E4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IITB–Groww INV.ENT · Track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2A22"/>
                </a:solidFill>
                <a:latin typeface="Calibri"/>
              </a:rPr>
              <a:t>Hitanshu Kapadiya · Vivek Gupta · Shreyash Wagh · Pritish Nandy</a:t>
            </a:r>
          </a:p>
          <a:p>
            <a:pPr algn="l"/>
            <a:r>
              <a:rPr sz="1050" b="0">
                <a:solidFill>
                  <a:srgbClr val="5C6B5E"/>
                </a:solidFill>
                <a:latin typeface="Calibri"/>
              </a:rPr>
              <a:t>Team of 4 · IIT Bombay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2_Image_0_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0"/>
            <a:ext cx="48006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486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050" b="1">
                <a:solidFill>
                  <a:srgbClr val="1E4D36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6492240" cy="8331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1" dirty="0">
                <a:solidFill>
                  <a:srgbClr val="1F2A22"/>
                </a:solidFill>
                <a:latin typeface="Calibri"/>
              </a:rPr>
              <a:t>Farmers spend more every year —</a:t>
            </a:r>
          </a:p>
          <a:p>
            <a:pPr algn="l">
              <a:lnSpc>
                <a:spcPct val="102000"/>
              </a:lnSpc>
            </a:pPr>
            <a:r>
              <a:rPr sz="2700" b="1" dirty="0">
                <a:solidFill>
                  <a:srgbClr val="1E4D36"/>
                </a:solidFill>
                <a:latin typeface="Calibri"/>
              </a:rPr>
              <a:t>and waste much </a:t>
            </a:r>
            <a:r>
              <a:rPr sz="2700" b="1">
                <a:solidFill>
                  <a:srgbClr val="1E4D36"/>
                </a:solidFill>
                <a:latin typeface="Calibri"/>
              </a:rPr>
              <a:t>of it</a:t>
            </a:r>
            <a:r>
              <a:rPr lang="en-US" sz="2700" b="1">
                <a:solidFill>
                  <a:srgbClr val="1E4D36"/>
                </a:solidFill>
                <a:latin typeface="Calibri"/>
              </a:rPr>
              <a:t>.</a:t>
            </a:r>
            <a:endParaRPr sz="2700" b="1" dirty="0">
              <a:solidFill>
                <a:srgbClr val="1E4D36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084831"/>
            <a:ext cx="6355080" cy="1170432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03703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2A22"/>
                </a:solidFill>
                <a:latin typeface="Calibri"/>
              </a:rPr>
              <a:t>Farming is done blind.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05456"/>
            <a:ext cx="58978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C6B5E"/>
                </a:solidFill>
                <a:latin typeface="Calibri"/>
              </a:rPr>
              <a:t>Fertilizer and water are spread evenly by hand, because there is no way to know what each plant needs. A big share is simply wasted.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01568"/>
            <a:ext cx="6355080" cy="1170432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520439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2A22"/>
                </a:solidFill>
                <a:latin typeface="Calibri"/>
              </a:rPr>
              <a:t>Waste costs real money.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22191"/>
            <a:ext cx="58978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C6B5E"/>
                </a:solidFill>
                <a:latin typeface="Calibri"/>
              </a:rPr>
              <a:t>Fertilizer, chemicals and labor get costlier every season — and over-use quietly damages the soil for years to come.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18304"/>
            <a:ext cx="6355080" cy="1170432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837176"/>
            <a:ext cx="5897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F2A22"/>
                </a:solidFill>
                <a:latin typeface="Calibri"/>
              </a:rPr>
              <a:t>Existing machines don't fit.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38928"/>
            <a:ext cx="58978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C6B5E"/>
                </a:solidFill>
                <a:latin typeface="Calibri"/>
              </a:rPr>
              <a:t>86% of India's farms are under 2 hectares — too small for tractors and big precision equipment. A lab soil test takes 2–3 weeks, so almost nobody does 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71616"/>
            <a:ext cx="6355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1E4D36"/>
                </a:solidFill>
                <a:latin typeface="Calibri"/>
              </a:rPr>
              <a:t>From our field visits: fertilizer is still thrown by hand — evenly, everywhere, every season.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A8B5A8"/>
                </a:solidFill>
                <a:latin typeface="Calibri"/>
              </a:rPr>
              <a:t>AgriRover · IITB–Groww INV.ENT · Track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A8B5A8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6_Image_0_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0"/>
            <a:ext cx="48006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4864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050" b="1">
                <a:solidFill>
                  <a:srgbClr val="1E4D36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87552"/>
            <a:ext cx="6492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F2A22"/>
                </a:solidFill>
                <a:latin typeface="Calibri"/>
              </a:rPr>
              <a:t>A small rover that farms </a:t>
            </a:r>
            <a:r>
              <a:rPr sz="2700" b="1">
                <a:solidFill>
                  <a:srgbClr val="1E4D36"/>
                </a:solidFill>
                <a:latin typeface="Calibri"/>
              </a:rPr>
              <a:t>plant by plant.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C6B5E"/>
                </a:solidFill>
                <a:latin typeface="Calibri"/>
              </a:rPr>
              <a:t>It drives the crop rows on its own and treats every plant individually — like a careful farmhand that never gets tired.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127248" cy="1261872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1" y="22951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5" y="23317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F2A22"/>
                </a:solidFill>
                <a:latin typeface="Calibri"/>
              </a:rPr>
              <a:t>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715768"/>
            <a:ext cx="27980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B5E"/>
                </a:solidFill>
                <a:latin typeface="Calibri"/>
              </a:rPr>
              <a:t>A probe dips into the soil and reads its health in seconds — no lab, no waiting.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0208" y="2148840"/>
            <a:ext cx="3127248" cy="1261872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14800" y="22951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3317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F2A22"/>
                </a:solidFill>
                <a:latin typeface="Calibri"/>
              </a:rPr>
              <a:t>SEE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715768"/>
            <a:ext cx="27980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B5E"/>
                </a:solidFill>
                <a:latin typeface="Calibri"/>
              </a:rPr>
              <a:t>An AI camera spots weeds and sick plants as the rover drives the rows.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47872"/>
            <a:ext cx="3127248" cy="1261872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1" y="36941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5" y="373075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F2A22"/>
                </a:solidFill>
                <a:latin typeface="Calibri"/>
              </a:rPr>
              <a:t>TREAT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114800"/>
            <a:ext cx="27980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B5E"/>
                </a:solidFill>
                <a:latin typeface="Calibri"/>
              </a:rPr>
              <a:t>Drops fertilizer or a tiny spray only where it is needed, plant by plant.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50208" y="3547872"/>
            <a:ext cx="3127248" cy="1261872"/>
          </a:xfrm>
          <a:prstGeom prst="roundRect">
            <a:avLst>
              <a:gd name="adj" fmla="val 8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114800" y="36941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373075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F2A22"/>
                </a:solidFill>
                <a:latin typeface="Calibri"/>
              </a:rPr>
              <a:t>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114800"/>
            <a:ext cx="279806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5C6B5E"/>
                </a:solidFill>
                <a:latin typeface="Calibri"/>
              </a:rPr>
              <a:t>Sends a simple map to the farmer's phone: what it found, what it did.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010912"/>
            <a:ext cx="6437376" cy="1188720"/>
          </a:xfrm>
          <a:prstGeom prst="roundRect">
            <a:avLst>
              <a:gd name="adj" fmla="val 8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138928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4D36"/>
                </a:solidFill>
                <a:latin typeface="Calibri"/>
              </a:rPr>
              <a:t>HOW IT WORKS INSIDE — TWO BRAINS, ALWAYS SAFE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431536"/>
            <a:ext cx="5989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F2A22"/>
                </a:solidFill>
                <a:latin typeface="Calibri"/>
              </a:rPr>
              <a:t>A thinking brain</a:t>
            </a:r>
            <a:r>
              <a:rPr sz="1100" b="0">
                <a:solidFill>
                  <a:srgbClr val="5C6B5E"/>
                </a:solidFill>
                <a:latin typeface="Calibri"/>
              </a:rPr>
              <a:t> sees and decides; an </a:t>
            </a:r>
            <a:r>
              <a:rPr sz="1100" b="1">
                <a:solidFill>
                  <a:srgbClr val="1F2A22"/>
                </a:solidFill>
                <a:latin typeface="Calibri"/>
              </a:rPr>
              <a:t>acting brain</a:t>
            </a:r>
            <a:r>
              <a:rPr sz="1100" b="0">
                <a:solidFill>
                  <a:srgbClr val="5C6B5E"/>
                </a:solidFill>
                <a:latin typeface="Calibri"/>
              </a:rPr>
              <a:t> drives and doses. If anything fails — camera, AI or signal — the rover simply stops. It cannot run away or overdose a plant.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A8B5A8"/>
                </a:solidFill>
                <a:latin typeface="Calibri"/>
              </a:rPr>
              <a:t>AgriRover · IITB–Groww INV.ENT · Track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A8B5A8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02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050" b="1">
                <a:solidFill>
                  <a:srgbClr val="1E4D36"/>
                </a:solidFill>
                <a:latin typeface="Calibri"/>
              </a:rPr>
              <a:t>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F2A22"/>
                </a:solidFill>
                <a:latin typeface="Calibri"/>
              </a:rPr>
              <a:t>What this means on a </a:t>
            </a:r>
            <a:r>
              <a:rPr sz="2700" b="1">
                <a:solidFill>
                  <a:srgbClr val="1E4D36"/>
                </a:solidFill>
                <a:latin typeface="Calibri"/>
              </a:rPr>
              <a:t>real farm.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2057400"/>
          </a:xfrm>
          <a:prstGeom prst="roundRect">
            <a:avLst>
              <a:gd name="adj" fmla="val 7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6537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4D36"/>
                </a:solidFill>
                <a:latin typeface="Calibri"/>
              </a:rPr>
              <a:t>EXAMPLE 1 · FERTILIZER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76272"/>
            <a:ext cx="47548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1F2A22"/>
                </a:solidFill>
                <a:latin typeface="Calibri"/>
              </a:rPr>
              <a:t>Today: </a:t>
            </a:r>
            <a:r>
              <a:rPr sz="1050" b="0">
                <a:solidFill>
                  <a:srgbClr val="5C6B5E"/>
                </a:solidFill>
                <a:latin typeface="Calibri"/>
              </a:rPr>
              <a:t>a full bag of urea is spread evenly by hand — much of it is wasted.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1F2A22"/>
                </a:solidFill>
                <a:latin typeface="Calibri"/>
              </a:rPr>
              <a:t>With AgriRover: </a:t>
            </a:r>
            <a:r>
              <a:rPr sz="1050" b="0">
                <a:solidFill>
                  <a:srgbClr val="5C6B5E"/>
                </a:solidFill>
                <a:latin typeface="Calibri"/>
              </a:rPr>
              <a:t>the probe finds the one patch that is truly nitrogen-poor and feeds only there.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1F2A22"/>
                </a:solidFill>
                <a:latin typeface="Calibri"/>
              </a:rPr>
              <a:t>Target: </a:t>
            </a:r>
            <a:r>
              <a:rPr sz="1050" b="0">
                <a:solidFill>
                  <a:srgbClr val="5C6B5E"/>
                </a:solidFill>
                <a:latin typeface="Calibri"/>
              </a:rPr>
              <a:t>30–50% less fertilizer, same yield — what our first pilots will prove.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77639"/>
            <a:ext cx="5212080" cy="1691640"/>
          </a:xfrm>
          <a:prstGeom prst="roundRect">
            <a:avLst>
              <a:gd name="adj" fmla="val 7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10565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4D36"/>
                </a:solidFill>
                <a:latin typeface="Calibri"/>
              </a:rPr>
              <a:t>EXAMPLE 2 · WEEDS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416552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1F2A22"/>
                </a:solidFill>
                <a:latin typeface="Calibri"/>
              </a:rPr>
              <a:t>Today: </a:t>
            </a:r>
            <a:r>
              <a:rPr sz="1050" b="0">
                <a:solidFill>
                  <a:srgbClr val="5C6B5E"/>
                </a:solidFill>
                <a:latin typeface="Calibri"/>
              </a:rPr>
              <a:t>the entire field is sprayed with weedkiller.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1F2A22"/>
                </a:solidFill>
                <a:latin typeface="Calibri"/>
              </a:rPr>
              <a:t>With AgriRover: </a:t>
            </a:r>
            <a:r>
              <a:rPr sz="1050" b="0">
                <a:solidFill>
                  <a:srgbClr val="5C6B5E"/>
                </a:solidFill>
                <a:latin typeface="Calibri"/>
              </a:rPr>
              <a:t>the camera finds each weed and sprays that spot only — far less chemical, and none of it on the food.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73736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2A22"/>
                </a:solidFill>
                <a:latin typeface="Calibri"/>
              </a:rPr>
              <a:t>Not a tractor. Not a drone.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88168" y="2212848"/>
            <a:ext cx="1060704" cy="2267712"/>
          </a:xfrm>
          <a:prstGeom prst="rect">
            <a:avLst/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2560320"/>
            <a:ext cx="4361688" cy="384048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3328415"/>
            <a:ext cx="4361688" cy="384048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4096511"/>
            <a:ext cx="4361688" cy="384048"/>
          </a:xfrm>
          <a:prstGeom prst="rect">
            <a:avLst/>
          </a:prstGeom>
          <a:solidFill>
            <a:srgbClr val="F2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2267712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5C6B5E"/>
                </a:solidFill>
                <a:latin typeface="Calibri"/>
              </a:rPr>
              <a:t>TRACTOR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7464" y="2267712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5C6B5E"/>
                </a:solidFill>
                <a:latin typeface="Calibri"/>
              </a:rPr>
              <a:t>DRONE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88168" y="2267712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1E4D36"/>
                </a:solidFill>
                <a:latin typeface="Calibri"/>
              </a:rPr>
              <a:t>AGRIROVER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560320"/>
            <a:ext cx="21305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F2A22"/>
                </a:solidFill>
                <a:latin typeface="Calibri"/>
              </a:rPr>
              <a:t>Sees every plant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560320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A8B5A8"/>
                </a:solidFill>
                <a:latin typeface="Calibri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4" y="2560320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A8B5A8"/>
                </a:solidFill>
                <a:latin typeface="Calibri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88168" y="2560320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2944368"/>
            <a:ext cx="21305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F2A22"/>
                </a:solidFill>
                <a:latin typeface="Calibri"/>
              </a:rPr>
              <a:t>Tests the soil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944368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A8B5A8"/>
                </a:solidFill>
                <a:latin typeface="Calibri"/>
              </a:rPr>
              <a:t>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7464" y="2944368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A8B5A8"/>
                </a:solidFill>
                <a:latin typeface="Calibri"/>
              </a:rPr>
              <a:t>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88168" y="2944368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3328415"/>
            <a:ext cx="21305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F2A22"/>
                </a:solidFill>
                <a:latin typeface="Calibri"/>
              </a:rPr>
              <a:t>Treats plant-by-plant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328415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A8B5A8"/>
                </a:solidFill>
                <a:latin typeface="Calibri"/>
              </a:rPr>
              <a:t>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7464" y="3328415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A8B5A8"/>
                </a:solidFill>
                <a:latin typeface="Calibri"/>
              </a:rPr>
              <a:t>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88168" y="3328415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3712463"/>
            <a:ext cx="21305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F2A22"/>
                </a:solidFill>
                <a:latin typeface="Calibri"/>
              </a:rPr>
              <a:t>Fits a 1-acre farm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712463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A8B5A8"/>
                </a:solidFill>
                <a:latin typeface="Calibri"/>
              </a:rPr>
              <a:t>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7464" y="3712463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88168" y="3712463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4096511"/>
            <a:ext cx="21305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1F2A22"/>
                </a:solidFill>
                <a:latin typeface="Calibri"/>
              </a:rPr>
              <a:t>Works without an operator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096511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A8B5A8"/>
                </a:solidFill>
                <a:latin typeface="Calibri"/>
              </a:rPr>
              <a:t>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7464" y="4096511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A8B5A8"/>
                </a:solidFill>
                <a:latin typeface="Calibri"/>
              </a:rPr>
              <a:t>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88168" y="4096511"/>
            <a:ext cx="10607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645152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5C6B5E"/>
                </a:solidFill>
                <a:latin typeface="Calibri"/>
              </a:rPr>
              <a:t>Tractor = muscle. Drone = a quick look from the sky. AgriRover = eyes and hands at every plant.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5230368"/>
            <a:ext cx="5394960" cy="457200"/>
          </a:xfrm>
          <a:prstGeom prst="roundRect">
            <a:avLst>
              <a:gd name="adj" fmla="val 15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50" b="1">
                <a:solidFill>
                  <a:srgbClr val="1E4D36"/>
                </a:solidFill>
                <a:latin typeface="Calibri"/>
              </a:rPr>
              <a:t>Tractor ₹3–8 lakh  ·  agri drone ₹3–6 lakh  ·  AgriRover under ₹50,000 to build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A8B5A8"/>
                </a:solidFill>
                <a:latin typeface="Calibri"/>
              </a:rPr>
              <a:t>AgriRover · IITB–Groww INV.ENT · Track 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A8B5A8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3_Image_0_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0"/>
            <a:ext cx="48006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50292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050" b="1">
                <a:solidFill>
                  <a:srgbClr val="1E4D36"/>
                </a:solidFill>
                <a:latin typeface="Calibri"/>
              </a:rPr>
              <a:t>MARKET, MODEL &amp;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6492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F2A22"/>
                </a:solidFill>
                <a:latin typeface="Calibri"/>
              </a:rPr>
              <a:t>A big market. </a:t>
            </a:r>
            <a:r>
              <a:rPr sz="2700" b="1">
                <a:solidFill>
                  <a:srgbClr val="1E4D36"/>
                </a:solidFill>
                <a:latin typeface="Calibri"/>
              </a:rPr>
              <a:t>A simple business.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E4D36"/>
                </a:solidFill>
                <a:latin typeface="Calibri"/>
              </a:rPr>
              <a:t>146M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84831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B5E"/>
                </a:solidFill>
                <a:latin typeface="Calibri"/>
              </a:rPr>
              <a:t>farm holdings in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2928" y="164592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E4D36"/>
                </a:solidFill>
                <a:latin typeface="Calibri"/>
              </a:rPr>
              <a:t>86%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2084831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B5E"/>
                </a:solidFill>
                <a:latin typeface="Calibri"/>
              </a:rPr>
              <a:t>of farms under 2 hectares — our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5776" y="164592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E4D36"/>
                </a:solidFill>
                <a:latin typeface="Calibri"/>
              </a:rPr>
              <a:t>$2.5Bn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5776" y="2084831"/>
            <a:ext cx="2057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B5E"/>
                </a:solidFill>
                <a:latin typeface="Calibri"/>
              </a:rPr>
              <a:t>India agritech market by 2034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88920"/>
            <a:ext cx="6492240" cy="1298448"/>
          </a:xfrm>
          <a:prstGeom prst="roundRect">
            <a:avLst>
              <a:gd name="adj" fmla="val 7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2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4D36"/>
                </a:solidFill>
                <a:latin typeface="Calibri"/>
              </a:rPr>
              <a:t>HOW WE EARN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00400"/>
            <a:ext cx="6035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F2A22"/>
                </a:solidFill>
                <a:latin typeface="Calibri"/>
              </a:rPr>
              <a:t>1.  Sell the rover with a yearly service plan.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F2A22"/>
                </a:solidFill>
                <a:latin typeface="Calibri"/>
              </a:rPr>
              <a:t>2.  Rent it per acre through farmer groups (FPOs) — no upfront cost for the farmer.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F2A22"/>
                </a:solidFill>
                <a:latin typeface="Calibri"/>
              </a:rPr>
              <a:t>3.  Monthly subscription for soil-health and crop reports.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24528"/>
            <a:ext cx="6492240" cy="960120"/>
          </a:xfrm>
          <a:prstGeom prst="roundRect">
            <a:avLst>
              <a:gd name="adj" fmla="val 7000"/>
            </a:avLst>
          </a:prstGeom>
          <a:solidFill>
            <a:srgbClr val="F2F7F2"/>
          </a:solidFill>
          <a:ln w="9525">
            <a:solidFill>
              <a:srgbClr val="DD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334256"/>
            <a:ext cx="6035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E4D36"/>
                </a:solidFill>
                <a:latin typeface="Calibri"/>
              </a:rPr>
              <a:t>WHERE WE ARE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17720"/>
            <a:ext cx="6035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C6B5E"/>
                </a:solidFill>
                <a:latin typeface="Calibri"/>
              </a:rPr>
              <a:t>Full software stack — driving, AI vision, navigation, farmer dashboard — built and tested in simulation. Hardware fully designed and costed: ₹27,000–48,000 per rover.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6492240" cy="868680"/>
          </a:xfrm>
          <a:prstGeom prst="roundRect">
            <a:avLst>
              <a:gd name="adj" fmla="val 9000"/>
            </a:avLst>
          </a:prstGeom>
          <a:solidFill>
            <a:srgbClr val="1E4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73152" rIns="228600" bIns="73152" rtlCol="0" anchor="ctr"/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The ask:  </a:t>
            </a:r>
            <a:r>
              <a:rPr sz="1250" b="0">
                <a:solidFill>
                  <a:srgbClr val="FFFFFF"/>
                </a:solidFill>
                <a:latin typeface="Calibri"/>
              </a:rPr>
              <a:t>seed support to build the first prototype, plus a pilot with one farmer group to prove 30–50% input savings on real farms.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A8B5A8"/>
                </a:solidFill>
                <a:latin typeface="Calibri"/>
              </a:rPr>
              <a:t>Hitanshu Kapadiya · Vivek Gupta · Shreyash Wagh · Pritish Nandy · Team of 4, IIT Bombay · Track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A8B5A8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748</Words>
  <Application>Microsoft Office PowerPoint</Application>
  <PresentationFormat>Widescreen</PresentationFormat>
  <Paragraphs>92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Vivek Gupta</cp:lastModifiedBy>
  <cp:revision>1</cp:revision>
  <dcterms:created xsi:type="dcterms:W3CDTF">2013-01-27T09:14:16Z</dcterms:created>
  <dcterms:modified xsi:type="dcterms:W3CDTF">2026-07-06T07:49:40Z</dcterms:modified>
  <cp:category/>
</cp:coreProperties>
</file>