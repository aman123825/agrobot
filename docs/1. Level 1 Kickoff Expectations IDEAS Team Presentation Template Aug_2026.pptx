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529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pic>
        <p:nvPicPr>
          <p:cNvPr id="2" name="Image 0" descr="/home/claude/pptx_redesign/logos/iitb_logo.png"/>
          <p:cNvPicPr>
            <a:picLocks noChangeAspect="1"/>
          </p:cNvPicPr>
          <p:nvPr/>
        </p:nvPicPr>
        <p:blipFill>
          <a:blip r:embed="rId3"/>
          <a:stretch>
            <a:fillRect/>
          </a:stretch>
        </p:blipFill>
        <p:spPr>
          <a:xfrm>
            <a:off x="822960" y="548640"/>
            <a:ext cx="515955" cy="502920"/>
          </a:xfrm>
          <a:prstGeom prst="rect">
            <a:avLst/>
          </a:prstGeom>
        </p:spPr>
      </p:pic>
      <p:sp>
        <p:nvSpPr>
          <p:cNvPr id="3" name="Shape 0"/>
          <p:cNvSpPr/>
          <p:nvPr/>
        </p:nvSpPr>
        <p:spPr>
          <a:xfrm>
            <a:off x="1585803" y="628650"/>
            <a:ext cx="1946612" cy="342900"/>
          </a:xfrm>
          <a:prstGeom prst="roundRect">
            <a:avLst>
              <a:gd name="adj" fmla="val 13333"/>
            </a:avLst>
          </a:prstGeom>
          <a:solidFill>
            <a:srgbClr val="FFFFFF"/>
          </a:solidFill>
          <a:ln/>
        </p:spPr>
      </p:sp>
      <p:pic>
        <p:nvPicPr>
          <p:cNvPr id="4" name="Image 1" descr="/home/claude/pptx_redesign/logos/dsse_logo.png"/>
          <p:cNvPicPr>
            <a:picLocks noChangeAspect="1"/>
          </p:cNvPicPr>
          <p:nvPr/>
        </p:nvPicPr>
        <p:blipFill>
          <a:blip r:embed="rId4"/>
          <a:stretch>
            <a:fillRect/>
          </a:stretch>
        </p:blipFill>
        <p:spPr>
          <a:xfrm>
            <a:off x="1658955" y="674370"/>
            <a:ext cx="1800308" cy="251460"/>
          </a:xfrm>
          <a:prstGeom prst="rect">
            <a:avLst/>
          </a:prstGeom>
        </p:spPr>
      </p:pic>
      <p:pic>
        <p:nvPicPr>
          <p:cNvPr id="5" name="Image 2" descr="/home/claude/pptx_redesign/logos/ideas_logo.png"/>
          <p:cNvPicPr>
            <a:picLocks noChangeAspect="1"/>
          </p:cNvPicPr>
          <p:nvPr/>
        </p:nvPicPr>
        <p:blipFill>
          <a:blip r:embed="rId5"/>
          <a:stretch>
            <a:fillRect/>
          </a:stretch>
        </p:blipFill>
        <p:spPr>
          <a:xfrm>
            <a:off x="3779302" y="548640"/>
            <a:ext cx="861670" cy="502920"/>
          </a:xfrm>
          <a:prstGeom prst="rect">
            <a:avLst/>
          </a:prstGeom>
        </p:spPr>
      </p:pic>
      <p:sp>
        <p:nvSpPr>
          <p:cNvPr id="6" name="Text 1"/>
          <p:cNvSpPr/>
          <p:nvPr/>
        </p:nvSpPr>
        <p:spPr>
          <a:xfrm>
            <a:off x="822960" y="1153390"/>
            <a:ext cx="2302625" cy="914400"/>
          </a:xfrm>
          <a:prstGeom prst="rect">
            <a:avLst/>
          </a:prstGeom>
          <a:noFill/>
          <a:ln/>
        </p:spPr>
        <p:txBody>
          <a:bodyPr wrap="square" rtlCol="0" anchor="ctr"/>
          <a:lstStyle/>
          <a:p>
            <a:pPr marL="0" indent="0">
              <a:buNone/>
            </a:pPr>
            <a:r>
              <a:rPr lang="en-US" sz="3500" b="1" dirty="0">
                <a:solidFill>
                  <a:srgbClr val="FFFFFF"/>
                </a:solidFill>
                <a:latin typeface="Calibri" pitchFamily="34" charset="0"/>
                <a:ea typeface="Calibri" pitchFamily="34" charset="-122"/>
                <a:cs typeface="Calibri" pitchFamily="34" charset="-120"/>
              </a:rPr>
              <a:t>Kickoff</a:t>
            </a:r>
            <a:endParaRPr lang="en-US" sz="3500" dirty="0"/>
          </a:p>
        </p:txBody>
      </p:sp>
      <p:sp>
        <p:nvSpPr>
          <p:cNvPr id="8" name="Text 3"/>
          <p:cNvSpPr/>
          <p:nvPr/>
        </p:nvSpPr>
        <p:spPr>
          <a:xfrm>
            <a:off x="822960" y="2156114"/>
            <a:ext cx="2956342" cy="457200"/>
          </a:xfrm>
          <a:prstGeom prst="rect">
            <a:avLst/>
          </a:prstGeom>
          <a:noFill/>
          <a:ln/>
        </p:spPr>
        <p:txBody>
          <a:bodyPr wrap="square" rtlCol="0" anchor="ctr"/>
          <a:lstStyle/>
          <a:p>
            <a:pPr marL="0" indent="0">
              <a:buNone/>
            </a:pPr>
            <a:r>
              <a:rPr lang="en-US" sz="3000" dirty="0">
                <a:solidFill>
                  <a:srgbClr val="AFC3D6"/>
                </a:solidFill>
                <a:latin typeface="Calibri" pitchFamily="34" charset="0"/>
                <a:ea typeface="Calibri" pitchFamily="34" charset="-122"/>
                <a:cs typeface="Calibri" pitchFamily="34" charset="-120"/>
              </a:rPr>
              <a:t>Team Name:</a:t>
            </a:r>
            <a:endParaRPr lang="en-US" sz="3000" dirty="0"/>
          </a:p>
        </p:txBody>
      </p:sp>
      <p:sp>
        <p:nvSpPr>
          <p:cNvPr id="9" name="Text 4"/>
          <p:cNvSpPr/>
          <p:nvPr/>
        </p:nvSpPr>
        <p:spPr>
          <a:xfrm>
            <a:off x="822959" y="2797232"/>
            <a:ext cx="7215448" cy="457200"/>
          </a:xfrm>
          <a:prstGeom prst="rect">
            <a:avLst/>
          </a:prstGeom>
          <a:noFill/>
          <a:ln/>
        </p:spPr>
        <p:txBody>
          <a:bodyPr wrap="square" rtlCol="0" anchor="ctr"/>
          <a:lstStyle/>
          <a:p>
            <a:pPr marL="0" indent="0">
              <a:buNone/>
            </a:pPr>
            <a:r>
              <a:rPr lang="en-US" sz="3000" dirty="0">
                <a:solidFill>
                  <a:srgbClr val="AFC3D6"/>
                </a:solidFill>
                <a:latin typeface="Calibri" pitchFamily="34" charset="0"/>
                <a:ea typeface="Calibri" pitchFamily="34" charset="-122"/>
                <a:cs typeface="Calibri" pitchFamily="34" charset="-120"/>
              </a:rPr>
              <a:t>Date: </a:t>
            </a:r>
            <a:r>
              <a:rPr lang="en-US" sz="3000" i="1" dirty="0">
                <a:solidFill>
                  <a:schemeClr val="accent5">
                    <a:lumMod val="75000"/>
                  </a:schemeClr>
                </a:solidFill>
                <a:latin typeface="Calibri" pitchFamily="34" charset="0"/>
                <a:ea typeface="Calibri" pitchFamily="34" charset="-122"/>
                <a:cs typeface="Calibri" pitchFamily="34" charset="-120"/>
              </a:rPr>
              <a:t>(Mention date of presentation here)</a:t>
            </a:r>
            <a:endParaRPr lang="en-US" sz="3000" i="1" dirty="0">
              <a:solidFill>
                <a:schemeClr val="accent5">
                  <a:lumMod val="75000"/>
                </a:schemeClr>
              </a:solidFill>
            </a:endParaRPr>
          </a:p>
        </p:txBody>
      </p:sp>
      <p:sp>
        <p:nvSpPr>
          <p:cNvPr id="10" name="Text 5"/>
          <p:cNvSpPr/>
          <p:nvPr/>
        </p:nvSpPr>
        <p:spPr>
          <a:xfrm>
            <a:off x="822960" y="6400800"/>
            <a:ext cx="10515600" cy="320040"/>
          </a:xfrm>
          <a:prstGeom prst="rect">
            <a:avLst/>
          </a:prstGeom>
          <a:noFill/>
          <a:ln/>
        </p:spPr>
        <p:txBody>
          <a:bodyPr wrap="square" rtlCol="0" anchor="ctr"/>
          <a:lstStyle/>
          <a:p>
            <a:pPr marL="0" indent="0">
              <a:buNone/>
            </a:pPr>
            <a:r>
              <a:rPr lang="en-US" sz="1100" dirty="0">
                <a:solidFill>
                  <a:srgbClr val="7E93AC"/>
                </a:solidFill>
                <a:latin typeface="Calibri" pitchFamily="34" charset="0"/>
                <a:ea typeface="Calibri" pitchFamily="34" charset="-122"/>
                <a:cs typeface="Calibri" pitchFamily="34" charset="-120"/>
              </a:rPr>
              <a:t>IDEAS L1C19  |  Desai Sethi School of Entrepreneurship, IIT Bombay</a:t>
            </a:r>
            <a:endParaRPr lang="en-US" sz="1100" dirty="0"/>
          </a:p>
        </p:txBody>
      </p:sp>
      <p:sp>
        <p:nvSpPr>
          <p:cNvPr id="11" name="Text 3">
            <a:extLst>
              <a:ext uri="{FF2B5EF4-FFF2-40B4-BE49-F238E27FC236}">
                <a16:creationId xmlns:a16="http://schemas.microsoft.com/office/drawing/2014/main" id="{691785E6-E8FB-43AA-932B-FA4BD172002F}"/>
              </a:ext>
            </a:extLst>
          </p:cNvPr>
          <p:cNvSpPr/>
          <p:nvPr/>
        </p:nvSpPr>
        <p:spPr>
          <a:xfrm>
            <a:off x="2024149" y="4484716"/>
            <a:ext cx="7838902" cy="457200"/>
          </a:xfrm>
          <a:prstGeom prst="rect">
            <a:avLst/>
          </a:prstGeom>
          <a:noFill/>
          <a:ln/>
        </p:spPr>
        <p:txBody>
          <a:bodyPr wrap="square" rtlCol="0" anchor="ctr"/>
          <a:lstStyle/>
          <a:p>
            <a:pPr algn="ctr"/>
            <a:r>
              <a:rPr lang="en-US" sz="2000" b="1" i="1" dirty="0">
                <a:solidFill>
                  <a:schemeClr val="accent5">
                    <a:lumMod val="75000"/>
                  </a:schemeClr>
                </a:solidFill>
              </a:rPr>
              <a:t>Instructions: You are free to edit the visual design of the presentation to reflect the theme of your idea. However, the structure, slide order, headers, and content of each slide must remain unchanged.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pptx_redesign/icons/problem.png"/>
          <p:cNvPicPr>
            <a:picLocks noChangeAspect="1"/>
          </p:cNvPicPr>
          <p:nvPr/>
        </p:nvPicPr>
        <p:blipFill>
          <a:blip r:embed="rId3"/>
          <a:stretch>
            <a:fillRect/>
          </a:stretch>
        </p:blipFill>
        <p:spPr>
          <a:xfrm>
            <a:off x="548640" y="317546"/>
            <a:ext cx="457200" cy="457200"/>
          </a:xfrm>
          <a:prstGeom prst="rect">
            <a:avLst/>
          </a:prstGeom>
        </p:spPr>
      </p:pic>
      <p:sp>
        <p:nvSpPr>
          <p:cNvPr id="3" name="Text 0"/>
          <p:cNvSpPr/>
          <p:nvPr/>
        </p:nvSpPr>
        <p:spPr>
          <a:xfrm>
            <a:off x="1143000" y="365760"/>
            <a:ext cx="10469880" cy="640080"/>
          </a:xfrm>
          <a:prstGeom prst="rect">
            <a:avLst/>
          </a:prstGeom>
          <a:noFill/>
          <a:ln/>
        </p:spPr>
        <p:txBody>
          <a:bodyPr wrap="square" rtlCol="0" anchor="ctr"/>
          <a:lstStyle/>
          <a:p>
            <a:pPr marL="0" indent="0">
              <a:buNone/>
            </a:pPr>
            <a:r>
              <a:rPr lang="en-US" sz="2800" b="1" dirty="0">
                <a:solidFill>
                  <a:srgbClr val="1F2937"/>
                </a:solidFill>
                <a:latin typeface="Calibri" pitchFamily="34" charset="0"/>
                <a:ea typeface="Calibri" pitchFamily="34" charset="-122"/>
                <a:cs typeface="Calibri" pitchFamily="34" charset="-120"/>
              </a:rPr>
              <a:t>Problem &amp; Customer Segment</a:t>
            </a:r>
            <a:endParaRPr lang="en-US" sz="2800" dirty="0"/>
          </a:p>
        </p:txBody>
      </p:sp>
      <p:sp>
        <p:nvSpPr>
          <p:cNvPr id="4" name="Shape 1"/>
          <p:cNvSpPr/>
          <p:nvPr/>
        </p:nvSpPr>
        <p:spPr>
          <a:xfrm>
            <a:off x="548640" y="1234440"/>
            <a:ext cx="11064240" cy="640080"/>
          </a:xfrm>
          <a:prstGeom prst="roundRect">
            <a:avLst>
              <a:gd name="adj" fmla="val 11429"/>
            </a:avLst>
          </a:prstGeom>
          <a:solidFill>
            <a:srgbClr val="EAF4F3"/>
          </a:solidFill>
          <a:ln/>
        </p:spPr>
      </p:sp>
      <p:sp>
        <p:nvSpPr>
          <p:cNvPr id="5" name="Text 2"/>
          <p:cNvSpPr/>
          <p:nvPr/>
        </p:nvSpPr>
        <p:spPr>
          <a:xfrm>
            <a:off x="822960" y="1234440"/>
            <a:ext cx="10515600" cy="640080"/>
          </a:xfrm>
          <a:prstGeom prst="rect">
            <a:avLst/>
          </a:prstGeom>
          <a:noFill/>
          <a:ln/>
        </p:spPr>
        <p:txBody>
          <a:bodyPr wrap="square"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THE GIST  </a:t>
            </a:r>
            <a:r>
              <a:rPr lang="en-US" sz="1500" dirty="0">
                <a:solidFill>
                  <a:srgbClr val="1F2937"/>
                </a:solidFill>
                <a:latin typeface="Calibri" pitchFamily="34" charset="0"/>
                <a:ea typeface="Calibri" pitchFamily="34" charset="-122"/>
                <a:cs typeface="Calibri" pitchFamily="34" charset="-120"/>
              </a:rPr>
              <a:t>In one line: what real problem are you solving, and for whom?</a:t>
            </a:r>
            <a:endParaRPr lang="en-US" sz="1500" dirty="0"/>
          </a:p>
        </p:txBody>
      </p:sp>
      <p:sp>
        <p:nvSpPr>
          <p:cNvPr id="6" name="Shape 3"/>
          <p:cNvSpPr/>
          <p:nvPr/>
        </p:nvSpPr>
        <p:spPr>
          <a:xfrm>
            <a:off x="548640" y="2148840"/>
            <a:ext cx="11064240" cy="365760"/>
          </a:xfrm>
          <a:prstGeom prst="roundRect">
            <a:avLst>
              <a:gd name="adj" fmla="val 15000"/>
            </a:avLst>
          </a:prstGeom>
          <a:solidFill>
            <a:srgbClr val="FDEDE8"/>
          </a:solidFill>
          <a:ln/>
        </p:spPr>
      </p:sp>
      <p:sp>
        <p:nvSpPr>
          <p:cNvPr id="7" name="Text 4"/>
          <p:cNvSpPr/>
          <p:nvPr/>
        </p:nvSpPr>
        <p:spPr>
          <a:xfrm>
            <a:off x="777240" y="2148840"/>
            <a:ext cx="10607040" cy="365760"/>
          </a:xfrm>
          <a:prstGeom prst="rect">
            <a:avLst/>
          </a:prstGeom>
          <a:noFill/>
          <a:ln/>
        </p:spPr>
        <p:txBody>
          <a:bodyPr wrap="square" rtlCol="0" anchor="ctr"/>
          <a:lstStyle/>
          <a:p>
            <a:pPr marL="0" indent="0">
              <a:buNone/>
            </a:pPr>
            <a:r>
              <a:rPr lang="en-US" sz="1200" b="1" dirty="0">
                <a:solidFill>
                  <a:srgbClr val="E8603C"/>
                </a:solidFill>
                <a:latin typeface="Calibri" pitchFamily="34" charset="0"/>
                <a:ea typeface="Calibri" pitchFamily="34" charset="-122"/>
                <a:cs typeface="Calibri" pitchFamily="34" charset="-120"/>
              </a:rPr>
              <a:t>⚠ THIS MUST FIT ON ONE SLIDE — do not split across multiple slides.</a:t>
            </a:r>
            <a:endParaRPr lang="en-US" sz="1200" dirty="0"/>
          </a:p>
        </p:txBody>
      </p:sp>
      <p:sp>
        <p:nvSpPr>
          <p:cNvPr id="8" name="Text 5"/>
          <p:cNvSpPr/>
          <p:nvPr/>
        </p:nvSpPr>
        <p:spPr>
          <a:xfrm>
            <a:off x="548640" y="2651760"/>
            <a:ext cx="5486400" cy="320040"/>
          </a:xfrm>
          <a:prstGeom prst="rect">
            <a:avLst/>
          </a:prstGeom>
          <a:noFill/>
          <a:ln/>
        </p:spPr>
        <p:txBody>
          <a:bodyPr wrap="square" rtlCol="0" anchor="ctr"/>
          <a:lstStyle/>
          <a:p>
            <a:pPr marL="0" indent="0">
              <a:buNone/>
            </a:pPr>
            <a:r>
              <a:rPr lang="en-US" sz="1200" b="1" kern="0" spc="100" dirty="0">
                <a:solidFill>
                  <a:srgbClr val="5B6472"/>
                </a:solidFill>
                <a:latin typeface="Calibri" pitchFamily="34" charset="0"/>
                <a:ea typeface="Calibri" pitchFamily="34" charset="-122"/>
                <a:cs typeface="Calibri" pitchFamily="34" charset="-120"/>
              </a:rPr>
              <a:t>WHAT TO PRESENT</a:t>
            </a:r>
            <a:endParaRPr lang="en-US" sz="1200" dirty="0"/>
          </a:p>
        </p:txBody>
      </p:sp>
      <p:sp>
        <p:nvSpPr>
          <p:cNvPr id="9" name="Text 6"/>
          <p:cNvSpPr/>
          <p:nvPr/>
        </p:nvSpPr>
        <p:spPr>
          <a:xfrm>
            <a:off x="548640" y="3063240"/>
            <a:ext cx="6492240" cy="1097280"/>
          </a:xfrm>
          <a:prstGeom prst="rect">
            <a:avLst/>
          </a:prstGeom>
          <a:noFill/>
          <a:ln/>
        </p:spPr>
        <p:txBody>
          <a:bodyPr wrap="square" rtlCol="0" anchor="ctr"/>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What is the problem you want to solve? (Or the opportunity you see)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Who is facing this problem — your customer segment?</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Why is this a real, important problem worth solving?</a:t>
            </a:r>
            <a:endParaRPr lang="en-US" sz="1500" dirty="0"/>
          </a:p>
        </p:txBody>
      </p:sp>
      <p:sp>
        <p:nvSpPr>
          <p:cNvPr id="10" name="Shape 7"/>
          <p:cNvSpPr/>
          <p:nvPr/>
        </p:nvSpPr>
        <p:spPr>
          <a:xfrm>
            <a:off x="7315200" y="2194560"/>
            <a:ext cx="4297680" cy="3108960"/>
          </a:xfrm>
          <a:prstGeom prst="roundRect">
            <a:avLst>
              <a:gd name="adj" fmla="val 2353"/>
            </a:avLst>
          </a:prstGeom>
          <a:solidFill>
            <a:srgbClr val="F4F6F8"/>
          </a:solidFill>
          <a:ln/>
        </p:spPr>
      </p:sp>
      <p:sp>
        <p:nvSpPr>
          <p:cNvPr id="11" name="Text 8"/>
          <p:cNvSpPr/>
          <p:nvPr/>
        </p:nvSpPr>
        <p:spPr>
          <a:xfrm>
            <a:off x="7543800" y="2377440"/>
            <a:ext cx="3840480" cy="274320"/>
          </a:xfrm>
          <a:prstGeom prst="rect">
            <a:avLst/>
          </a:prstGeom>
          <a:noFill/>
          <a:ln/>
        </p:spPr>
        <p:txBody>
          <a:bodyPr wrap="square" rtlCol="0" anchor="ctr"/>
          <a:lstStyle/>
          <a:p>
            <a:pPr marL="0" indent="0">
              <a:buNone/>
            </a:pPr>
            <a:r>
              <a:rPr lang="en-US" sz="1100" b="1" kern="0" spc="100" dirty="0">
                <a:solidFill>
                  <a:srgbClr val="5B6472"/>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7543800" y="2697480"/>
            <a:ext cx="3840480" cy="2468880"/>
          </a:xfrm>
          <a:prstGeom prst="rect">
            <a:avLst/>
          </a:prstGeom>
          <a:noFill/>
          <a:ln/>
        </p:spPr>
        <p:txBody>
          <a:bodyPr wrap="square"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Problem: College students find it hard to manage monthly expenses.</a:t>
            </a:r>
            <a:endParaRPr lang="en-US" sz="1300" dirty="0"/>
          </a:p>
          <a:p>
            <a:pPr marL="0" indent="0">
              <a:buNone/>
            </a:pPr>
            <a:endParaRPr lang="en-US" sz="1300" dirty="0"/>
          </a:p>
          <a:p>
            <a:pPr marL="0" indent="0">
              <a:buNone/>
            </a:pPr>
            <a:r>
              <a:rPr lang="en-US" sz="1300" i="1" dirty="0">
                <a:solidFill>
                  <a:srgbClr val="1F2937"/>
                </a:solidFill>
                <a:latin typeface="Calibri" pitchFamily="34" charset="0"/>
                <a:ea typeface="Calibri" pitchFamily="34" charset="-122"/>
                <a:cs typeface="Calibri" pitchFamily="34" charset="-120"/>
              </a:rPr>
              <a:t>Customer Segment: Undergraduate students living in hostels.</a:t>
            </a:r>
            <a:endParaRPr lang="en-US" sz="1300" dirty="0"/>
          </a:p>
        </p:txBody>
      </p:sp>
      <p:sp>
        <p:nvSpPr>
          <p:cNvPr id="13" name="Text 10"/>
          <p:cNvSpPr/>
          <p:nvPr/>
        </p:nvSpPr>
        <p:spPr>
          <a:xfrm>
            <a:off x="457200" y="6537960"/>
            <a:ext cx="5943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IDEAS L1C19 — Kickoff  |  Problem &amp; Customer Segment</a:t>
            </a:r>
            <a:endParaRPr lang="en-US" sz="900" dirty="0"/>
          </a:p>
        </p:txBody>
      </p:sp>
      <p:sp>
        <p:nvSpPr>
          <p:cNvPr id="14" name="Text 11"/>
          <p:cNvSpPr/>
          <p:nvPr/>
        </p:nvSpPr>
        <p:spPr>
          <a:xfrm>
            <a:off x="6400800" y="6537960"/>
            <a:ext cx="164592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Team Name:</a:t>
            </a:r>
            <a:endParaRPr lang="en-US" sz="900" dirty="0"/>
          </a:p>
        </p:txBody>
      </p:sp>
      <p:pic>
        <p:nvPicPr>
          <p:cNvPr id="15" name="Image 1" descr="/home/claude/pptx_redesign/logos/iitb_logo.png"/>
          <p:cNvPicPr>
            <a:picLocks noChangeAspect="1"/>
          </p:cNvPicPr>
          <p:nvPr/>
        </p:nvPicPr>
        <p:blipFill>
          <a:blip r:embed="rId4"/>
          <a:stretch>
            <a:fillRect/>
          </a:stretch>
        </p:blipFill>
        <p:spPr>
          <a:xfrm>
            <a:off x="9629052" y="6473952"/>
            <a:ext cx="262668" cy="256032"/>
          </a:xfrm>
          <a:prstGeom prst="rect">
            <a:avLst/>
          </a:prstGeom>
        </p:spPr>
      </p:pic>
      <p:pic>
        <p:nvPicPr>
          <p:cNvPr id="16" name="Image 2" descr="/home/claude/pptx_redesign/logos/dsse_logo.png"/>
          <p:cNvPicPr>
            <a:picLocks noChangeAspect="1"/>
          </p:cNvPicPr>
          <p:nvPr/>
        </p:nvPicPr>
        <p:blipFill>
          <a:blip r:embed="rId5"/>
          <a:stretch>
            <a:fillRect/>
          </a:stretch>
        </p:blipFill>
        <p:spPr>
          <a:xfrm>
            <a:off x="10074599" y="6531559"/>
            <a:ext cx="1008172" cy="140818"/>
          </a:xfrm>
          <a:prstGeom prst="rect">
            <a:avLst/>
          </a:prstGeom>
        </p:spPr>
      </p:pic>
      <p:pic>
        <p:nvPicPr>
          <p:cNvPr id="17" name="Image 3" descr="/home/claude/pptx_redesign/logos/ideas_logo.png"/>
          <p:cNvPicPr>
            <a:picLocks noChangeAspect="1"/>
          </p:cNvPicPr>
          <p:nvPr/>
        </p:nvPicPr>
        <p:blipFill>
          <a:blip r:embed="rId6"/>
          <a:stretch>
            <a:fillRect/>
          </a:stretch>
        </p:blipFill>
        <p:spPr>
          <a:xfrm>
            <a:off x="11265652" y="6473952"/>
            <a:ext cx="438668" cy="2560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pptx_redesign/icons/solution.png"/>
          <p:cNvPicPr>
            <a:picLocks noChangeAspect="1"/>
          </p:cNvPicPr>
          <p:nvPr/>
        </p:nvPicPr>
        <p:blipFill>
          <a:blip r:embed="rId3"/>
          <a:stretch>
            <a:fillRect/>
          </a:stretch>
        </p:blipFill>
        <p:spPr>
          <a:xfrm>
            <a:off x="548640" y="384048"/>
            <a:ext cx="457200" cy="457200"/>
          </a:xfrm>
          <a:prstGeom prst="rect">
            <a:avLst/>
          </a:prstGeom>
        </p:spPr>
      </p:pic>
      <p:sp>
        <p:nvSpPr>
          <p:cNvPr id="3" name="Text 0"/>
          <p:cNvSpPr/>
          <p:nvPr/>
        </p:nvSpPr>
        <p:spPr>
          <a:xfrm>
            <a:off x="1143000" y="365760"/>
            <a:ext cx="10469880" cy="640080"/>
          </a:xfrm>
          <a:prstGeom prst="rect">
            <a:avLst/>
          </a:prstGeom>
          <a:noFill/>
          <a:ln/>
        </p:spPr>
        <p:txBody>
          <a:bodyPr wrap="square" rtlCol="0" anchor="ctr"/>
          <a:lstStyle/>
          <a:p>
            <a:pPr marL="0" indent="0">
              <a:buNone/>
            </a:pPr>
            <a:r>
              <a:rPr lang="en-US" sz="2800" b="1" dirty="0">
                <a:solidFill>
                  <a:srgbClr val="1F2937"/>
                </a:solidFill>
                <a:latin typeface="Calibri" pitchFamily="34" charset="0"/>
                <a:ea typeface="Calibri" pitchFamily="34" charset="-122"/>
                <a:cs typeface="Calibri" pitchFamily="34" charset="-120"/>
              </a:rPr>
              <a:t>Proposed Solution</a:t>
            </a:r>
            <a:endParaRPr lang="en-US" sz="2800" dirty="0"/>
          </a:p>
        </p:txBody>
      </p:sp>
      <p:sp>
        <p:nvSpPr>
          <p:cNvPr id="4" name="Shape 1"/>
          <p:cNvSpPr/>
          <p:nvPr/>
        </p:nvSpPr>
        <p:spPr>
          <a:xfrm>
            <a:off x="548640" y="1234440"/>
            <a:ext cx="11064240" cy="640080"/>
          </a:xfrm>
          <a:prstGeom prst="roundRect">
            <a:avLst>
              <a:gd name="adj" fmla="val 11429"/>
            </a:avLst>
          </a:prstGeom>
          <a:solidFill>
            <a:srgbClr val="EAF4F3"/>
          </a:solidFill>
          <a:ln/>
        </p:spPr>
      </p:sp>
      <p:sp>
        <p:nvSpPr>
          <p:cNvPr id="5" name="Text 2"/>
          <p:cNvSpPr/>
          <p:nvPr/>
        </p:nvSpPr>
        <p:spPr>
          <a:xfrm>
            <a:off x="822960" y="1234440"/>
            <a:ext cx="10515600" cy="640080"/>
          </a:xfrm>
          <a:prstGeom prst="rect">
            <a:avLst/>
          </a:prstGeom>
          <a:noFill/>
          <a:ln/>
        </p:spPr>
        <p:txBody>
          <a:bodyPr wrap="square"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THE GIST  </a:t>
            </a:r>
            <a:r>
              <a:rPr lang="en-US" sz="1500" dirty="0">
                <a:solidFill>
                  <a:srgbClr val="1F2937"/>
                </a:solidFill>
                <a:latin typeface="Calibri" pitchFamily="34" charset="0"/>
                <a:ea typeface="Calibri" pitchFamily="34" charset="-122"/>
                <a:cs typeface="Calibri" pitchFamily="34" charset="-120"/>
              </a:rPr>
              <a:t>Your early idea for solving the problem — not a final product.</a:t>
            </a:r>
            <a:endParaRPr lang="en-US" sz="1500" dirty="0"/>
          </a:p>
        </p:txBody>
      </p:sp>
      <p:sp>
        <p:nvSpPr>
          <p:cNvPr id="6" name="Text 3"/>
          <p:cNvSpPr/>
          <p:nvPr/>
        </p:nvSpPr>
        <p:spPr>
          <a:xfrm>
            <a:off x="548640" y="2148840"/>
            <a:ext cx="5486400" cy="320040"/>
          </a:xfrm>
          <a:prstGeom prst="rect">
            <a:avLst/>
          </a:prstGeom>
          <a:noFill/>
          <a:ln/>
        </p:spPr>
        <p:txBody>
          <a:bodyPr wrap="square" rtlCol="0" anchor="ctr"/>
          <a:lstStyle/>
          <a:p>
            <a:pPr marL="0" indent="0">
              <a:buNone/>
            </a:pPr>
            <a:r>
              <a:rPr lang="en-US" sz="1200" b="1" kern="0" spc="100" dirty="0">
                <a:solidFill>
                  <a:srgbClr val="5B6472"/>
                </a:solidFill>
                <a:latin typeface="Calibri" pitchFamily="34" charset="0"/>
                <a:ea typeface="Calibri" pitchFamily="34" charset="-122"/>
                <a:cs typeface="Calibri" pitchFamily="34" charset="-120"/>
              </a:rPr>
              <a:t>WHAT TO PRESENT</a:t>
            </a:r>
            <a:endParaRPr lang="en-US" sz="1200" dirty="0"/>
          </a:p>
        </p:txBody>
      </p:sp>
      <p:sp>
        <p:nvSpPr>
          <p:cNvPr id="7" name="Text 4"/>
          <p:cNvSpPr/>
          <p:nvPr/>
        </p:nvSpPr>
        <p:spPr>
          <a:xfrm>
            <a:off x="548640" y="2560320"/>
            <a:ext cx="6492240" cy="1097280"/>
          </a:xfrm>
          <a:prstGeom prst="rect">
            <a:avLst/>
          </a:prstGeom>
          <a:noFill/>
          <a:ln/>
        </p:spPr>
        <p:txBody>
          <a:bodyPr wrap="square" rtlCol="0" anchor="ctr"/>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What is your idea / solution?</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How does it solve the problem from the previous slide?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Keep it simple — this will evolve as you learn more.</a:t>
            </a:r>
            <a:endParaRPr lang="en-US" sz="1500" dirty="0"/>
          </a:p>
        </p:txBody>
      </p:sp>
      <p:sp>
        <p:nvSpPr>
          <p:cNvPr id="8" name="Shape 5"/>
          <p:cNvSpPr/>
          <p:nvPr/>
        </p:nvSpPr>
        <p:spPr>
          <a:xfrm>
            <a:off x="7315200" y="2194560"/>
            <a:ext cx="4297680" cy="3108960"/>
          </a:xfrm>
          <a:prstGeom prst="roundRect">
            <a:avLst>
              <a:gd name="adj" fmla="val 2353"/>
            </a:avLst>
          </a:prstGeom>
          <a:solidFill>
            <a:srgbClr val="F4F6F8"/>
          </a:solidFill>
          <a:ln/>
        </p:spPr>
      </p:sp>
      <p:sp>
        <p:nvSpPr>
          <p:cNvPr id="9" name="Text 6"/>
          <p:cNvSpPr/>
          <p:nvPr/>
        </p:nvSpPr>
        <p:spPr>
          <a:xfrm>
            <a:off x="7543800" y="2377440"/>
            <a:ext cx="3840480" cy="274320"/>
          </a:xfrm>
          <a:prstGeom prst="rect">
            <a:avLst/>
          </a:prstGeom>
          <a:noFill/>
          <a:ln/>
        </p:spPr>
        <p:txBody>
          <a:bodyPr wrap="square" rtlCol="0" anchor="ctr"/>
          <a:lstStyle/>
          <a:p>
            <a:pPr marL="0" indent="0">
              <a:buNone/>
            </a:pPr>
            <a:r>
              <a:rPr lang="en-US" sz="1100" b="1" kern="0" spc="100" dirty="0">
                <a:solidFill>
                  <a:srgbClr val="5B6472"/>
                </a:solidFill>
                <a:latin typeface="Calibri" pitchFamily="34" charset="0"/>
                <a:ea typeface="Calibri" pitchFamily="34" charset="-122"/>
                <a:cs typeface="Calibri" pitchFamily="34" charset="-120"/>
              </a:rPr>
              <a:t>EXAMPLE</a:t>
            </a:r>
            <a:endParaRPr lang="en-US" sz="1100" dirty="0"/>
          </a:p>
        </p:txBody>
      </p:sp>
      <p:sp>
        <p:nvSpPr>
          <p:cNvPr id="10" name="Text 7"/>
          <p:cNvSpPr/>
          <p:nvPr/>
        </p:nvSpPr>
        <p:spPr>
          <a:xfrm>
            <a:off x="7543800" y="2697480"/>
            <a:ext cx="3840480" cy="2468880"/>
          </a:xfrm>
          <a:prstGeom prst="rect">
            <a:avLst/>
          </a:prstGeom>
          <a:noFill/>
          <a:ln/>
        </p:spPr>
        <p:txBody>
          <a:bodyPr wrap="square"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Solution: A mobile app that tracks daily spending and sends monthly budget alerts to students.</a:t>
            </a:r>
            <a:endParaRPr lang="en-US" sz="1300" dirty="0"/>
          </a:p>
        </p:txBody>
      </p:sp>
      <p:sp>
        <p:nvSpPr>
          <p:cNvPr id="11" name="Text 8"/>
          <p:cNvSpPr/>
          <p:nvPr/>
        </p:nvSpPr>
        <p:spPr>
          <a:xfrm>
            <a:off x="457200" y="6537960"/>
            <a:ext cx="5943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IDEAS L1C19 — Kickoff  |  Proposed Solution</a:t>
            </a:r>
            <a:endParaRPr lang="en-US" sz="900" dirty="0"/>
          </a:p>
        </p:txBody>
      </p:sp>
      <p:sp>
        <p:nvSpPr>
          <p:cNvPr id="12" name="Text 9"/>
          <p:cNvSpPr/>
          <p:nvPr/>
        </p:nvSpPr>
        <p:spPr>
          <a:xfrm>
            <a:off x="6400800" y="6537960"/>
            <a:ext cx="164592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Team Name:</a:t>
            </a:r>
            <a:endParaRPr lang="en-US" sz="900" dirty="0"/>
          </a:p>
        </p:txBody>
      </p:sp>
      <p:pic>
        <p:nvPicPr>
          <p:cNvPr id="13" name="Image 1" descr="/home/claude/pptx_redesign/logos/iitb_logo.png"/>
          <p:cNvPicPr>
            <a:picLocks noChangeAspect="1"/>
          </p:cNvPicPr>
          <p:nvPr/>
        </p:nvPicPr>
        <p:blipFill>
          <a:blip r:embed="rId4"/>
          <a:stretch>
            <a:fillRect/>
          </a:stretch>
        </p:blipFill>
        <p:spPr>
          <a:xfrm>
            <a:off x="9629052" y="6473952"/>
            <a:ext cx="262668" cy="256032"/>
          </a:xfrm>
          <a:prstGeom prst="rect">
            <a:avLst/>
          </a:prstGeom>
        </p:spPr>
      </p:pic>
      <p:pic>
        <p:nvPicPr>
          <p:cNvPr id="14" name="Image 2" descr="/home/claude/pptx_redesign/logos/dsse_logo.png"/>
          <p:cNvPicPr>
            <a:picLocks noChangeAspect="1"/>
          </p:cNvPicPr>
          <p:nvPr/>
        </p:nvPicPr>
        <p:blipFill>
          <a:blip r:embed="rId5"/>
          <a:stretch>
            <a:fillRect/>
          </a:stretch>
        </p:blipFill>
        <p:spPr>
          <a:xfrm>
            <a:off x="10074599" y="6531559"/>
            <a:ext cx="1008172" cy="140818"/>
          </a:xfrm>
          <a:prstGeom prst="rect">
            <a:avLst/>
          </a:prstGeom>
        </p:spPr>
      </p:pic>
      <p:pic>
        <p:nvPicPr>
          <p:cNvPr id="15" name="Image 3" descr="/home/claude/pptx_redesign/logos/ideas_logo.png"/>
          <p:cNvPicPr>
            <a:picLocks noChangeAspect="1"/>
          </p:cNvPicPr>
          <p:nvPr/>
        </p:nvPicPr>
        <p:blipFill>
          <a:blip r:embed="rId6"/>
          <a:stretch>
            <a:fillRect/>
          </a:stretch>
        </p:blipFill>
        <p:spPr>
          <a:xfrm>
            <a:off x="11265652" y="6473952"/>
            <a:ext cx="438668" cy="256032"/>
          </a:xfrm>
          <a:prstGeom prst="rect">
            <a:avLst/>
          </a:prstGeom>
        </p:spPr>
      </p:pic>
      <p:sp>
        <p:nvSpPr>
          <p:cNvPr id="16" name="Text 3">
            <a:extLst>
              <a:ext uri="{FF2B5EF4-FFF2-40B4-BE49-F238E27FC236}">
                <a16:creationId xmlns:a16="http://schemas.microsoft.com/office/drawing/2014/main" id="{BC292CE7-6EB6-46EB-ABEC-3082EB4D2C7F}"/>
              </a:ext>
            </a:extLst>
          </p:cNvPr>
          <p:cNvSpPr/>
          <p:nvPr/>
        </p:nvSpPr>
        <p:spPr>
          <a:xfrm>
            <a:off x="822960" y="4572000"/>
            <a:ext cx="4759036" cy="87284"/>
          </a:xfrm>
          <a:prstGeom prst="rect">
            <a:avLst/>
          </a:prstGeom>
          <a:noFill/>
          <a:ln/>
        </p:spPr>
        <p:txBody>
          <a:bodyPr wrap="square" rtlCol="0" anchor="ctr"/>
          <a:lstStyle/>
          <a:p>
            <a:pPr algn="ctr"/>
            <a:r>
              <a:rPr lang="en-US" sz="2000" b="1" i="1" dirty="0">
                <a:solidFill>
                  <a:schemeClr val="accent5">
                    <a:lumMod val="60000"/>
                    <a:lumOff val="40000"/>
                  </a:schemeClr>
                </a:solidFill>
              </a:rPr>
              <a:t>Feel free to add AI generated visuals of your potential product in this 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pptx_redesign/icons/team.png"/>
          <p:cNvPicPr>
            <a:picLocks noChangeAspect="1"/>
          </p:cNvPicPr>
          <p:nvPr/>
        </p:nvPicPr>
        <p:blipFill>
          <a:blip r:embed="rId3"/>
          <a:stretch>
            <a:fillRect/>
          </a:stretch>
        </p:blipFill>
        <p:spPr>
          <a:xfrm>
            <a:off x="548640" y="384048"/>
            <a:ext cx="457200" cy="457200"/>
          </a:xfrm>
          <a:prstGeom prst="rect">
            <a:avLst/>
          </a:prstGeom>
        </p:spPr>
      </p:pic>
      <p:sp>
        <p:nvSpPr>
          <p:cNvPr id="3" name="Text 0"/>
          <p:cNvSpPr/>
          <p:nvPr/>
        </p:nvSpPr>
        <p:spPr>
          <a:xfrm>
            <a:off x="1143000" y="365760"/>
            <a:ext cx="10469880" cy="640080"/>
          </a:xfrm>
          <a:prstGeom prst="rect">
            <a:avLst/>
          </a:prstGeom>
          <a:noFill/>
          <a:ln/>
        </p:spPr>
        <p:txBody>
          <a:bodyPr wrap="square" rtlCol="0" anchor="ctr"/>
          <a:lstStyle/>
          <a:p>
            <a:pPr marL="0" indent="0">
              <a:buNone/>
            </a:pPr>
            <a:r>
              <a:rPr lang="en-US" sz="2800" b="1" dirty="0">
                <a:solidFill>
                  <a:srgbClr val="1F2937"/>
                </a:solidFill>
                <a:latin typeface="Calibri" pitchFamily="34" charset="0"/>
                <a:ea typeface="Calibri" pitchFamily="34" charset="-122"/>
                <a:cs typeface="Calibri" pitchFamily="34" charset="-120"/>
              </a:rPr>
              <a:t>Why Us? Why Now?</a:t>
            </a:r>
            <a:endParaRPr lang="en-US" sz="2800" dirty="0"/>
          </a:p>
        </p:txBody>
      </p:sp>
      <p:sp>
        <p:nvSpPr>
          <p:cNvPr id="4" name="Shape 1"/>
          <p:cNvSpPr/>
          <p:nvPr/>
        </p:nvSpPr>
        <p:spPr>
          <a:xfrm>
            <a:off x="548640" y="1234440"/>
            <a:ext cx="11064240" cy="640080"/>
          </a:xfrm>
          <a:prstGeom prst="roundRect">
            <a:avLst>
              <a:gd name="adj" fmla="val 11429"/>
            </a:avLst>
          </a:prstGeom>
          <a:solidFill>
            <a:srgbClr val="EAF4F3"/>
          </a:solidFill>
          <a:ln/>
        </p:spPr>
      </p:sp>
      <p:sp>
        <p:nvSpPr>
          <p:cNvPr id="5" name="Text 2"/>
          <p:cNvSpPr/>
          <p:nvPr/>
        </p:nvSpPr>
        <p:spPr>
          <a:xfrm>
            <a:off x="822960" y="1234440"/>
            <a:ext cx="10515600" cy="640080"/>
          </a:xfrm>
          <a:prstGeom prst="rect">
            <a:avLst/>
          </a:prstGeom>
          <a:noFill/>
          <a:ln/>
        </p:spPr>
        <p:txBody>
          <a:bodyPr wrap="square" rtlCol="0" anchor="ctr"/>
          <a:lstStyle/>
          <a:p>
            <a:pPr marL="0" indent="0">
              <a:buNone/>
            </a:pPr>
            <a:r>
              <a:rPr lang="en-US" sz="1500" b="1" dirty="0">
                <a:solidFill>
                  <a:srgbClr val="0E7C7B"/>
                </a:solidFill>
                <a:latin typeface="Calibri" pitchFamily="34" charset="0"/>
                <a:ea typeface="Calibri" pitchFamily="34" charset="-122"/>
                <a:cs typeface="Calibri" pitchFamily="34" charset="-120"/>
              </a:rPr>
              <a:t>THE GIST  </a:t>
            </a:r>
            <a:r>
              <a:rPr lang="en-US" sz="1500" dirty="0">
                <a:solidFill>
                  <a:srgbClr val="1F2937"/>
                </a:solidFill>
                <a:latin typeface="Calibri" pitchFamily="34" charset="0"/>
                <a:ea typeface="Calibri" pitchFamily="34" charset="-122"/>
                <a:cs typeface="Calibri" pitchFamily="34" charset="-120"/>
              </a:rPr>
              <a:t>Convince us your team is the right one to solve this, right now.</a:t>
            </a:r>
            <a:endParaRPr lang="en-US" sz="1500" dirty="0"/>
          </a:p>
        </p:txBody>
      </p:sp>
      <p:sp>
        <p:nvSpPr>
          <p:cNvPr id="6" name="Text 3"/>
          <p:cNvSpPr/>
          <p:nvPr/>
        </p:nvSpPr>
        <p:spPr>
          <a:xfrm>
            <a:off x="548640" y="2148840"/>
            <a:ext cx="5486400" cy="320040"/>
          </a:xfrm>
          <a:prstGeom prst="rect">
            <a:avLst/>
          </a:prstGeom>
          <a:noFill/>
          <a:ln/>
        </p:spPr>
        <p:txBody>
          <a:bodyPr wrap="square" rtlCol="0" anchor="ctr"/>
          <a:lstStyle/>
          <a:p>
            <a:pPr marL="0" indent="0">
              <a:buNone/>
            </a:pPr>
            <a:r>
              <a:rPr lang="en-US" sz="1200" b="1" kern="0" spc="100" dirty="0">
                <a:solidFill>
                  <a:srgbClr val="5B6472"/>
                </a:solidFill>
                <a:latin typeface="Calibri" pitchFamily="34" charset="0"/>
                <a:ea typeface="Calibri" pitchFamily="34" charset="-122"/>
                <a:cs typeface="Calibri" pitchFamily="34" charset="-120"/>
              </a:rPr>
              <a:t>WHAT TO PRESENT</a:t>
            </a:r>
            <a:endParaRPr lang="en-US" sz="1200" dirty="0"/>
          </a:p>
        </p:txBody>
      </p:sp>
      <p:sp>
        <p:nvSpPr>
          <p:cNvPr id="7" name="Text 4"/>
          <p:cNvSpPr/>
          <p:nvPr/>
        </p:nvSpPr>
        <p:spPr>
          <a:xfrm>
            <a:off x="548640" y="2560320"/>
            <a:ext cx="6492240" cy="1097280"/>
          </a:xfrm>
          <a:prstGeom prst="rect">
            <a:avLst/>
          </a:prstGeom>
          <a:noFill/>
          <a:ln/>
        </p:spPr>
        <p:txBody>
          <a:bodyPr wrap="square" rtlCol="0" anchor="ctr"/>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Introduce your team members, add each members photo as well.</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Why are you personally interested in this problem?</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Why is now the right time to work on this idea?</a:t>
            </a:r>
            <a:endParaRPr lang="en-US" sz="1500" dirty="0"/>
          </a:p>
        </p:txBody>
      </p:sp>
      <p:sp>
        <p:nvSpPr>
          <p:cNvPr id="8" name="Shape 5"/>
          <p:cNvSpPr/>
          <p:nvPr/>
        </p:nvSpPr>
        <p:spPr>
          <a:xfrm>
            <a:off x="7315200" y="2194560"/>
            <a:ext cx="4297680" cy="3108960"/>
          </a:xfrm>
          <a:prstGeom prst="roundRect">
            <a:avLst>
              <a:gd name="adj" fmla="val 2353"/>
            </a:avLst>
          </a:prstGeom>
          <a:solidFill>
            <a:srgbClr val="F4F6F8"/>
          </a:solidFill>
          <a:ln/>
        </p:spPr>
      </p:sp>
      <p:sp>
        <p:nvSpPr>
          <p:cNvPr id="9" name="Text 6"/>
          <p:cNvSpPr/>
          <p:nvPr/>
        </p:nvSpPr>
        <p:spPr>
          <a:xfrm>
            <a:off x="7543800" y="2377440"/>
            <a:ext cx="3840480" cy="274320"/>
          </a:xfrm>
          <a:prstGeom prst="rect">
            <a:avLst/>
          </a:prstGeom>
          <a:noFill/>
          <a:ln/>
        </p:spPr>
        <p:txBody>
          <a:bodyPr wrap="square" rtlCol="0" anchor="ctr"/>
          <a:lstStyle/>
          <a:p>
            <a:pPr marL="0" indent="0">
              <a:buNone/>
            </a:pPr>
            <a:r>
              <a:rPr lang="en-US" sz="1100" b="1" kern="0" spc="100" dirty="0">
                <a:solidFill>
                  <a:srgbClr val="5B6472"/>
                </a:solidFill>
                <a:latin typeface="Calibri" pitchFamily="34" charset="0"/>
                <a:ea typeface="Calibri" pitchFamily="34" charset="-122"/>
                <a:cs typeface="Calibri" pitchFamily="34" charset="-120"/>
              </a:rPr>
              <a:t>EXAMPLE</a:t>
            </a:r>
            <a:endParaRPr lang="en-US" sz="1100" dirty="0"/>
          </a:p>
        </p:txBody>
      </p:sp>
      <p:sp>
        <p:nvSpPr>
          <p:cNvPr id="10" name="Text 7"/>
          <p:cNvSpPr/>
          <p:nvPr/>
        </p:nvSpPr>
        <p:spPr>
          <a:xfrm>
            <a:off x="7543800" y="2697480"/>
            <a:ext cx="3840480" cy="2468880"/>
          </a:xfrm>
          <a:prstGeom prst="rect">
            <a:avLst/>
          </a:prstGeom>
          <a:noFill/>
          <a:ln/>
        </p:spPr>
        <p:txBody>
          <a:bodyPr wrap="square" rtlCol="0" anchor="t"/>
          <a:lstStyle/>
          <a:p>
            <a:pPr marL="0" indent="0">
              <a:buNone/>
            </a:pPr>
            <a:r>
              <a:rPr lang="en-US" sz="1300" i="1" dirty="0">
                <a:solidFill>
                  <a:srgbClr val="1F2937"/>
                </a:solidFill>
                <a:latin typeface="Calibri" pitchFamily="34" charset="0"/>
                <a:ea typeface="Calibri" pitchFamily="34" charset="-122"/>
                <a:cs typeface="Calibri" pitchFamily="34" charset="-120"/>
              </a:rPr>
              <a:t>Why Us: We're students who face this problem ourselves.</a:t>
            </a:r>
            <a:endParaRPr lang="en-US" sz="1300" dirty="0"/>
          </a:p>
          <a:p>
            <a:pPr marL="0" indent="0">
              <a:buNone/>
            </a:pPr>
            <a:endParaRPr lang="en-US" sz="1300" dirty="0"/>
          </a:p>
          <a:p>
            <a:pPr marL="0" indent="0">
              <a:buNone/>
            </a:pPr>
            <a:r>
              <a:rPr lang="en-US" sz="1300" i="1" dirty="0">
                <a:solidFill>
                  <a:srgbClr val="1F2937"/>
                </a:solidFill>
                <a:latin typeface="Calibri" pitchFamily="34" charset="0"/>
                <a:ea typeface="Calibri" pitchFamily="34" charset="-122"/>
                <a:cs typeface="Calibri" pitchFamily="34" charset="-120"/>
              </a:rPr>
              <a:t>Why Now: Digital payments are common, and students are more open to budgeting apps than ever.</a:t>
            </a:r>
            <a:endParaRPr lang="en-US" sz="1300" dirty="0"/>
          </a:p>
        </p:txBody>
      </p:sp>
      <p:sp>
        <p:nvSpPr>
          <p:cNvPr id="11" name="Text 8"/>
          <p:cNvSpPr/>
          <p:nvPr/>
        </p:nvSpPr>
        <p:spPr>
          <a:xfrm>
            <a:off x="457200" y="6537960"/>
            <a:ext cx="5943600" cy="274320"/>
          </a:xfrm>
          <a:prstGeom prst="rect">
            <a:avLst/>
          </a:prstGeom>
          <a:noFill/>
          <a:ln/>
        </p:spPr>
        <p:txBody>
          <a:bodyPr wrap="square" rtlCol="0" anchor="ctr"/>
          <a:lstStyle/>
          <a:p>
            <a:pPr marL="0" indent="0">
              <a:buNone/>
            </a:pPr>
            <a:r>
              <a:rPr lang="en-US" sz="900" dirty="0">
                <a:solidFill>
                  <a:srgbClr val="9AA5B1"/>
                </a:solidFill>
                <a:latin typeface="Calibri" pitchFamily="34" charset="0"/>
                <a:ea typeface="Calibri" pitchFamily="34" charset="-122"/>
                <a:cs typeface="Calibri" pitchFamily="34" charset="-120"/>
              </a:rPr>
              <a:t>IDEAS L1C19 — Kickoff  |  Why Us? Why Now?</a:t>
            </a:r>
            <a:endParaRPr lang="en-US" sz="900" dirty="0"/>
          </a:p>
        </p:txBody>
      </p:sp>
      <p:sp>
        <p:nvSpPr>
          <p:cNvPr id="12" name="Text 9"/>
          <p:cNvSpPr/>
          <p:nvPr/>
        </p:nvSpPr>
        <p:spPr>
          <a:xfrm>
            <a:off x="6400800" y="6537960"/>
            <a:ext cx="164592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Team Name:</a:t>
            </a:r>
            <a:endParaRPr lang="en-US" sz="900" dirty="0"/>
          </a:p>
        </p:txBody>
      </p:sp>
      <p:pic>
        <p:nvPicPr>
          <p:cNvPr id="13" name="Image 1" descr="/home/claude/pptx_redesign/logos/iitb_logo.png"/>
          <p:cNvPicPr>
            <a:picLocks noChangeAspect="1"/>
          </p:cNvPicPr>
          <p:nvPr/>
        </p:nvPicPr>
        <p:blipFill>
          <a:blip r:embed="rId4"/>
          <a:stretch>
            <a:fillRect/>
          </a:stretch>
        </p:blipFill>
        <p:spPr>
          <a:xfrm>
            <a:off x="9629052" y="6473952"/>
            <a:ext cx="262668" cy="256032"/>
          </a:xfrm>
          <a:prstGeom prst="rect">
            <a:avLst/>
          </a:prstGeom>
        </p:spPr>
      </p:pic>
      <p:pic>
        <p:nvPicPr>
          <p:cNvPr id="14" name="Image 2" descr="/home/claude/pptx_redesign/logos/dsse_logo.png"/>
          <p:cNvPicPr>
            <a:picLocks noChangeAspect="1"/>
          </p:cNvPicPr>
          <p:nvPr/>
        </p:nvPicPr>
        <p:blipFill>
          <a:blip r:embed="rId5"/>
          <a:stretch>
            <a:fillRect/>
          </a:stretch>
        </p:blipFill>
        <p:spPr>
          <a:xfrm>
            <a:off x="10074599" y="6531559"/>
            <a:ext cx="1008172" cy="140818"/>
          </a:xfrm>
          <a:prstGeom prst="rect">
            <a:avLst/>
          </a:prstGeom>
        </p:spPr>
      </p:pic>
      <p:pic>
        <p:nvPicPr>
          <p:cNvPr id="15" name="Image 3" descr="/home/claude/pptx_redesign/logos/ideas_logo.png"/>
          <p:cNvPicPr>
            <a:picLocks noChangeAspect="1"/>
          </p:cNvPicPr>
          <p:nvPr/>
        </p:nvPicPr>
        <p:blipFill>
          <a:blip r:embed="rId6"/>
          <a:stretch>
            <a:fillRect/>
          </a:stretch>
        </p:blipFill>
        <p:spPr>
          <a:xfrm>
            <a:off x="11265652" y="6473952"/>
            <a:ext cx="438668"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B4A"/>
        </a:solidFill>
        <a:effectLst/>
      </p:bgPr>
    </p:bg>
    <p:spTree>
      <p:nvGrpSpPr>
        <p:cNvPr id="1" name=""/>
        <p:cNvGrpSpPr/>
        <p:nvPr/>
      </p:nvGrpSpPr>
      <p:grpSpPr>
        <a:xfrm>
          <a:off x="0" y="0"/>
          <a:ext cx="0" cy="0"/>
          <a:chOff x="0" y="0"/>
          <a:chExt cx="0" cy="0"/>
        </a:xfrm>
      </p:grpSpPr>
      <p:pic>
        <p:nvPicPr>
          <p:cNvPr id="2" name="Image 0" descr="/home/claude/pptx_redesign/logos/iitb_logo.png"/>
          <p:cNvPicPr>
            <a:picLocks noChangeAspect="1"/>
          </p:cNvPicPr>
          <p:nvPr/>
        </p:nvPicPr>
        <p:blipFill>
          <a:blip r:embed="rId3"/>
          <a:stretch>
            <a:fillRect/>
          </a:stretch>
        </p:blipFill>
        <p:spPr>
          <a:xfrm>
            <a:off x="822960" y="548640"/>
            <a:ext cx="515955" cy="502920"/>
          </a:xfrm>
          <a:prstGeom prst="rect">
            <a:avLst/>
          </a:prstGeom>
        </p:spPr>
      </p:pic>
      <p:sp>
        <p:nvSpPr>
          <p:cNvPr id="3" name="Shape 0"/>
          <p:cNvSpPr/>
          <p:nvPr/>
        </p:nvSpPr>
        <p:spPr>
          <a:xfrm>
            <a:off x="1585803" y="628650"/>
            <a:ext cx="1946612" cy="342900"/>
          </a:xfrm>
          <a:prstGeom prst="roundRect">
            <a:avLst>
              <a:gd name="adj" fmla="val 13333"/>
            </a:avLst>
          </a:prstGeom>
          <a:solidFill>
            <a:srgbClr val="FFFFFF"/>
          </a:solidFill>
          <a:ln/>
        </p:spPr>
      </p:sp>
      <p:pic>
        <p:nvPicPr>
          <p:cNvPr id="4" name="Image 1" descr="/home/claude/pptx_redesign/logos/dsse_logo.png"/>
          <p:cNvPicPr>
            <a:picLocks noChangeAspect="1"/>
          </p:cNvPicPr>
          <p:nvPr/>
        </p:nvPicPr>
        <p:blipFill>
          <a:blip r:embed="rId4"/>
          <a:stretch>
            <a:fillRect/>
          </a:stretch>
        </p:blipFill>
        <p:spPr>
          <a:xfrm>
            <a:off x="1658955" y="674370"/>
            <a:ext cx="1800308" cy="251460"/>
          </a:xfrm>
          <a:prstGeom prst="rect">
            <a:avLst/>
          </a:prstGeom>
        </p:spPr>
      </p:pic>
      <p:pic>
        <p:nvPicPr>
          <p:cNvPr id="5" name="Image 2" descr="/home/claude/pptx_redesign/logos/ideas_logo.png"/>
          <p:cNvPicPr>
            <a:picLocks noChangeAspect="1"/>
          </p:cNvPicPr>
          <p:nvPr/>
        </p:nvPicPr>
        <p:blipFill>
          <a:blip r:embed="rId5"/>
          <a:stretch>
            <a:fillRect/>
          </a:stretch>
        </p:blipFill>
        <p:spPr>
          <a:xfrm>
            <a:off x="3779302" y="548640"/>
            <a:ext cx="861670" cy="502920"/>
          </a:xfrm>
          <a:prstGeom prst="rect">
            <a:avLst/>
          </a:prstGeom>
        </p:spPr>
      </p:pic>
      <p:sp>
        <p:nvSpPr>
          <p:cNvPr id="6" name="Text 1"/>
          <p:cNvSpPr/>
          <p:nvPr/>
        </p:nvSpPr>
        <p:spPr>
          <a:xfrm>
            <a:off x="822960" y="2926080"/>
            <a:ext cx="105156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7" name="Text 2"/>
          <p:cNvSpPr/>
          <p:nvPr/>
        </p:nvSpPr>
        <p:spPr>
          <a:xfrm>
            <a:off x="822960" y="3931920"/>
            <a:ext cx="10515600" cy="457200"/>
          </a:xfrm>
          <a:prstGeom prst="rect">
            <a:avLst/>
          </a:prstGeom>
          <a:noFill/>
          <a:ln/>
        </p:spPr>
        <p:txBody>
          <a:bodyPr wrap="square" rtlCol="0" anchor="ctr"/>
          <a:lstStyle/>
          <a:p>
            <a:pPr marL="0" indent="0">
              <a:buNone/>
            </a:pPr>
            <a:r>
              <a:rPr lang="en-US" sz="1600" dirty="0">
                <a:solidFill>
                  <a:srgbClr val="AFC3D6"/>
                </a:solidFill>
                <a:latin typeface="Calibri" pitchFamily="34" charset="0"/>
                <a:ea typeface="Calibri" pitchFamily="34" charset="-122"/>
                <a:cs typeface="Calibri" pitchFamily="34" charset="-120"/>
              </a:rPr>
              <a:t>IDEAS L1C19 — Kickoff</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382</Words>
  <Application>Microsoft Office PowerPoint</Application>
  <PresentationFormat>Widescreen</PresentationFormat>
  <Paragraphs>48</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Shruti Gupte</dc:creator>
  <cp:lastModifiedBy>Sanjay kharat</cp:lastModifiedBy>
  <cp:revision>6</cp:revision>
  <dcterms:created xsi:type="dcterms:W3CDTF">2026-07-28T07:26:30Z</dcterms:created>
  <dcterms:modified xsi:type="dcterms:W3CDTF">2026-07-28T10:00:11Z</dcterms:modified>
</cp:coreProperties>
</file>