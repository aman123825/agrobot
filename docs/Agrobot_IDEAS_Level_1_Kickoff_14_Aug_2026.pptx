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29694B"/>
          </a:solidFill>
          <a:ln w="12700">
            <a:solidFill>
              <a:srgbClr val="2969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657600"/>
            <a:ext cx="27432" cy="2514600"/>
          </a:xfrm>
          <a:prstGeom prst="rect">
            <a:avLst/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767328"/>
            <a:ext cx="27432" cy="2514600"/>
          </a:xfrm>
          <a:prstGeom prst="rect">
            <a:avLst/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25880" y="3657600"/>
            <a:ext cx="27432" cy="2514600"/>
          </a:xfrm>
          <a:prstGeom prst="rect">
            <a:avLst/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3767328"/>
            <a:ext cx="27432" cy="2514600"/>
          </a:xfrm>
          <a:prstGeom prst="rect">
            <a:avLst/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31720" y="3657600"/>
            <a:ext cx="27432" cy="2514600"/>
          </a:xfrm>
          <a:prstGeom prst="rect">
            <a:avLst/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3767328"/>
            <a:ext cx="27432" cy="2514600"/>
          </a:xfrm>
          <a:prstGeom prst="rect">
            <a:avLst/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7560" y="3657600"/>
            <a:ext cx="27432" cy="2514600"/>
          </a:xfrm>
          <a:prstGeom prst="rect">
            <a:avLst/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84048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IDEAS · IIT BOMBAY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1143000"/>
            <a:ext cx="1234440" cy="310896"/>
          </a:xfrm>
          <a:prstGeom prst="roundRect">
            <a:avLst>
              <a:gd name="adj" fmla="val 8000"/>
            </a:avLst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152144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F1D26"/>
                </a:solidFill>
                <a:latin typeface="Aptos"/>
              </a:rPr>
              <a:t>LEVEL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91640"/>
            <a:ext cx="29718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AGROBOT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852928"/>
            <a:ext cx="2880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Start with the field.
Not the machine.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1078992"/>
            <a:ext cx="6812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D255"/>
                </a:solidFill>
                <a:latin typeface="Aptos"/>
              </a:rPr>
              <a:t>CUSTOMER DISCOVERY KICKOFF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1783080"/>
            <a:ext cx="6629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ptos Display"/>
              </a:rPr>
              <a:t>Finding the decision
worth paying for.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730752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ptos"/>
              </a:rPr>
              <a:t>We are here to test the customer, pain, payer and value hypothesis — before any prototype decision.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53712" y="4892040"/>
            <a:ext cx="6309360" cy="18288"/>
          </a:xfrm>
          <a:prstGeom prst="rect">
            <a:avLst/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5138928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14 AUGUST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5138928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Aptos"/>
              </a:rPr>
              <a:t>L1C19 · DSSE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587044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ECDC8"/>
                </a:solidFill>
                <a:latin typeface="Aptos"/>
              </a:rPr>
              <a:t>Agrobot Team · Mechanical Engineering · IIT Bombay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1D26"/>
                </a:solidFill>
                <a:latin typeface="Aptos"/>
              </a:rPr>
              <a:t>IDEAS · L1C19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56032"/>
            <a:ext cx="2514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0F1D26"/>
                </a:solidFill>
                <a:latin typeface="Aptos"/>
              </a:rPr>
              <a:t>PROBLEM &amp; CUSTOMER SEGMENT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83112" cy="10972"/>
          </a:xfrm>
          <a:prstGeom prst="rect">
            <a:avLst/>
          </a:prstGeom>
          <a:solidFill>
            <a:srgbClr val="29694B"/>
          </a:solidFill>
          <a:ln w="12700">
            <a:solidFill>
              <a:srgbClr val="2969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0F1D26"/>
                </a:solidFill>
                <a:latin typeface="Aptos"/>
              </a:rPr>
              <a:t>AGROBOT · IIT BOMBAY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5624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0F1D26"/>
                </a:solidFill>
                <a:latin typeface="Apto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F1D26"/>
                </a:solidFill>
                <a:latin typeface="Aptos Display"/>
              </a:rPr>
              <a:t>Problem &amp; Customer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7040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9694B"/>
                </a:solidFill>
                <a:latin typeface="Aptos"/>
              </a:rPr>
              <a:t>A compliance workflow may be painful — but the payer is still a hypothesis.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28800"/>
            <a:ext cx="31546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084831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29694B"/>
          </a:solidFill>
          <a:ln w="12700">
            <a:solidFill>
              <a:srgbClr val="2969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93975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BEACHHEAD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78608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1D26"/>
                </a:solidFill>
                <a:latin typeface="Aptos Display"/>
              </a:rPr>
              <a:t>Exporter /
pack-house QA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6432"/>
            <a:ext cx="2606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97772"/>
                </a:solidFill>
                <a:latin typeface="Aptos"/>
              </a:rPr>
              <a:t>Export-linked grape and pomegranate clusters in Maharashtra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15968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9694B"/>
                </a:solidFill>
                <a:latin typeface="Aptos"/>
              </a:rPr>
              <a:t>STAKEHOLDER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1D26"/>
                </a:solidFill>
                <a:latin typeface="Aptos"/>
              </a:rPr>
              <a:t>Grower  →  Agronomist
→  FPO / exporter  →  audit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1828800"/>
            <a:ext cx="530352" cy="310896"/>
          </a:xfrm>
          <a:prstGeom prst="roundRect">
            <a:avLst>
              <a:gd name="adj" fmla="val 8000"/>
            </a:avLst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1837943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F1D26"/>
                </a:solidFill>
                <a:latin typeface="Apto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1810512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F1D26"/>
                </a:solidFill>
                <a:latin typeface="Aptos"/>
              </a:rPr>
              <a:t>Fragmented records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176272"/>
            <a:ext cx="38862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97772"/>
                </a:solidFill>
                <a:latin typeface="Aptos"/>
              </a:rPr>
              <a:t>Spray, plot, operator and PHI evidence are assembled across people and formats.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3054096"/>
            <a:ext cx="530352" cy="310896"/>
          </a:xfrm>
          <a:prstGeom prst="roundRect">
            <a:avLst>
              <a:gd name="adj" fmla="val 8000"/>
            </a:avLst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3063239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F1D26"/>
                </a:solidFill>
                <a:latin typeface="Apto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03580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F1D26"/>
                </a:solidFill>
                <a:latin typeface="Aptos"/>
              </a:rPr>
              <a:t>Verification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401568"/>
            <a:ext cx="38862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97772"/>
                </a:solidFill>
                <a:latin typeface="Aptos"/>
              </a:rPr>
              <a:t>The buyer must trust that the right treatment and waiting period were followed.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4279392"/>
            <a:ext cx="530352" cy="310896"/>
          </a:xfrm>
          <a:prstGeom prst="roundRect">
            <a:avLst>
              <a:gd name="adj" fmla="val 8000"/>
            </a:avLst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4288536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F1D26"/>
                </a:solidFill>
                <a:latin typeface="Apto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4261104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F1D26"/>
                </a:solidFill>
                <a:latin typeface="Aptos"/>
              </a:rPr>
              <a:t>Cost is unclear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4626864"/>
            <a:ext cx="38862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97772"/>
                </a:solidFill>
                <a:latin typeface="Aptos"/>
              </a:rPr>
              <a:t>Audit friction or rejection may create real loss — but we have not measured it first-hand.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96528" y="1828800"/>
            <a:ext cx="2852928" cy="4069080"/>
          </a:xfrm>
          <a:prstGeom prst="roundRect">
            <a:avLst>
              <a:gd name="adj" fmla="val 8000"/>
            </a:avLst>
          </a:prstGeom>
          <a:solidFill>
            <a:srgbClr val="0F1D26"/>
          </a:solidFill>
          <a:ln w="12700">
            <a:solidFill>
              <a:srgbClr val="0F1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70848" y="21031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4D255"/>
                </a:solidFill>
                <a:latin typeface="Aptos"/>
              </a:rPr>
              <a:t>LEVEL 1 MUST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70848" y="2633472"/>
            <a:ext cx="237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4D255"/>
                </a:solidFill>
                <a:latin typeface="Aptos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4312" y="2651760"/>
            <a:ext cx="1965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Is this problem frequent and costly?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0848" y="3291839"/>
            <a:ext cx="237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4D255"/>
                </a:solidFill>
                <a:latin typeface="Aptos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4312" y="3310127"/>
            <a:ext cx="1965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Who owns the loss — and budget?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70848" y="395020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4D255"/>
                </a:solidFill>
                <a:latin typeface="Aptos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4312" y="3968496"/>
            <a:ext cx="1965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What evidence is trusted today?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0848" y="4608576"/>
            <a:ext cx="237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4D255"/>
                </a:solidFill>
                <a:latin typeface="Aptos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2" y="4626864"/>
            <a:ext cx="1965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Will anyone name a ₹ value?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6199632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97772"/>
                </a:solidFill>
                <a:latin typeface="Aptos"/>
              </a:rPr>
              <a:t>Secondary evidence: APEDA grape traceability/PHI workflow; repo evidence [E05–E06], [F17], [G03]. No Agrobot interviews completed yet.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1D26"/>
                </a:solidFill>
                <a:latin typeface="Aptos"/>
              </a:rPr>
              <a:t>IDEAS · L1C19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56032"/>
            <a:ext cx="2514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0F1D26"/>
                </a:solidFill>
                <a:latin typeface="Aptos"/>
              </a:rPr>
              <a:t>PROPOSED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83112" cy="10972"/>
          </a:xfrm>
          <a:prstGeom prst="rect">
            <a:avLst/>
          </a:prstGeom>
          <a:solidFill>
            <a:srgbClr val="29694B"/>
          </a:solidFill>
          <a:ln w="12700">
            <a:solidFill>
              <a:srgbClr val="2969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0F1D26"/>
                </a:solidFill>
                <a:latin typeface="Aptos"/>
              </a:rPr>
              <a:t>AGROBOT · IIT BOMBAY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5624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0F1D26"/>
                </a:solidFill>
                <a:latin typeface="Apto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F1D26"/>
                </a:solidFill>
                <a:latin typeface="Aptos Display"/>
              </a:rPr>
              <a:t>Proposed 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28048" y="685800"/>
            <a:ext cx="2121408" cy="310896"/>
          </a:xfrm>
          <a:prstGeom prst="roundRect">
            <a:avLst>
              <a:gd name="adj" fmla="val 8000"/>
            </a:avLst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8048" y="694944"/>
            <a:ext cx="212140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F1D26"/>
                </a:solidFill>
                <a:latin typeface="Aptos"/>
              </a:rPr>
              <a:t>HYPOTHESIS · NOT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170432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9694B"/>
                </a:solidFill>
                <a:latin typeface="Aptos"/>
              </a:rPr>
              <a:t>The outcome hypothesis: one trustworthy field-to-buyer evidence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1938528"/>
            <a:ext cx="2468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21579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694B"/>
                </a:solidFill>
                <a:latin typeface="Aptos"/>
              </a:rPr>
              <a:t>OBSERVE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51460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1D26"/>
                </a:solidFill>
                <a:latin typeface="Aptos"/>
              </a:rPr>
              <a:t>What happened?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2384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29694B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1938528"/>
            <a:ext cx="2468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1579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694B"/>
                </a:solidFill>
                <a:latin typeface="Aptos"/>
              </a:rPr>
              <a:t>VERIFY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1460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1D26"/>
                </a:solidFill>
                <a:latin typeface="Aptos"/>
              </a:rPr>
              <a:t>Is it credible?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29694B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938528"/>
            <a:ext cx="2468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1579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694B"/>
                </a:solidFill>
                <a:latin typeface="Aptos"/>
              </a:rPr>
              <a:t>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1460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1D26"/>
                </a:solidFill>
                <a:latin typeface="Aptos"/>
              </a:rPr>
              <a:t>Can it be audited?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29694B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1938528"/>
            <a:ext cx="246888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694B"/>
                </a:solidFill>
                <a:latin typeface="Aptos"/>
              </a:rPr>
              <a:t>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51460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1D26"/>
                </a:solidFill>
                <a:latin typeface="Aptos"/>
              </a:rPr>
              <a:t>Is it worth paying for?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" y="3502152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0F1D26"/>
          </a:solidFill>
          <a:ln w="12700">
            <a:solidFill>
              <a:srgbClr val="0F1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767328"/>
            <a:ext cx="4892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4D255"/>
                </a:solidFill>
                <a:latin typeface="Aptos"/>
              </a:rPr>
              <a:t>EARLY VALUE PROPOSITION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178808"/>
            <a:ext cx="4709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 Display"/>
              </a:rPr>
              <a:t>Agronomist-reviewed, geotagged treatment + PHI evidence for an audit-obligated buyer.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184648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ECDC8"/>
                </a:solidFill>
                <a:latin typeface="Aptos"/>
              </a:rPr>
              <a:t>The record is the hypothesis. The rover is not the assumption.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5204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9694B"/>
                </a:solidFill>
                <a:latin typeface="Aptos"/>
              </a:rPr>
              <a:t>WHAT WOULD MAKE US PIVOT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19088" y="3950208"/>
            <a:ext cx="438912" cy="310896"/>
          </a:xfrm>
          <a:prstGeom prst="roundRect">
            <a:avLst>
              <a:gd name="adj" fmla="val 8000"/>
            </a:avLst>
          </a:prstGeom>
          <a:solidFill>
            <a:srgbClr val="0F1D26"/>
          </a:solidFill>
          <a:ln w="12700">
            <a:solidFill>
              <a:srgbClr val="0F1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3959352"/>
            <a:ext cx="4389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592" y="3959352"/>
            <a:ext cx="4343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1D26"/>
                </a:solidFill>
                <a:latin typeface="Aptos"/>
              </a:rPr>
              <a:t>Buyers already receive equivalent evidence free.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19088" y="4489704"/>
            <a:ext cx="438912" cy="310896"/>
          </a:xfrm>
          <a:prstGeom prst="roundRect">
            <a:avLst>
              <a:gd name="adj" fmla="val 8000"/>
            </a:avLst>
          </a:prstGeom>
          <a:solidFill>
            <a:srgbClr val="0F1D26"/>
          </a:solidFill>
          <a:ln w="12700">
            <a:solidFill>
              <a:srgbClr val="0F1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4498848"/>
            <a:ext cx="4389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22592" y="4498848"/>
            <a:ext cx="4343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1D26"/>
                </a:solidFill>
                <a:latin typeface="Aptos"/>
              </a:rPr>
              <a:t>The problem is rare, cheap or owned by someone else.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5029200"/>
            <a:ext cx="438912" cy="310896"/>
          </a:xfrm>
          <a:prstGeom prst="roundRect">
            <a:avLst>
              <a:gd name="adj" fmla="val 8000"/>
            </a:avLst>
          </a:prstGeom>
          <a:solidFill>
            <a:srgbClr val="0F1D26"/>
          </a:solidFill>
          <a:ln w="12700">
            <a:solidFill>
              <a:srgbClr val="0F1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9088" y="5038344"/>
            <a:ext cx="4389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2592" y="5038344"/>
            <a:ext cx="4343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1D26"/>
                </a:solidFill>
                <a:latin typeface="Aptos"/>
              </a:rPr>
              <a:t>No buyer names a budget or advances the conversation.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" y="6199632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97772"/>
                </a:solidFill>
                <a:latin typeface="Aptos"/>
              </a:rPr>
              <a:t>Level 1 boundary: interview and validate H1–H8 first. No prototype, field-result, savings, accuracy, coverage or payback claim is made.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1D26"/>
                </a:solidFill>
                <a:latin typeface="Aptos"/>
              </a:rPr>
              <a:t>IDEAS · L1C19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56032"/>
            <a:ext cx="2514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0F1D26"/>
                </a:solidFill>
                <a:latin typeface="Aptos"/>
              </a:rPr>
              <a:t>WHY US? WHY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83112" cy="10972"/>
          </a:xfrm>
          <a:prstGeom prst="rect">
            <a:avLst/>
          </a:prstGeom>
          <a:solidFill>
            <a:srgbClr val="29694B"/>
          </a:solidFill>
          <a:ln w="12700">
            <a:solidFill>
              <a:srgbClr val="2969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0F1D26"/>
                </a:solidFill>
                <a:latin typeface="Aptos"/>
              </a:rPr>
              <a:t>AGROBOT · IIT BOMBAY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5624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0F1D26"/>
                </a:solidFill>
                <a:latin typeface="Apto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F1D26"/>
                </a:solidFill>
                <a:latin typeface="Aptos Display"/>
              </a:rPr>
              <a:t>Why Us? Why Now?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9694B"/>
                </a:solidFill>
                <a:latin typeface="Aptos"/>
              </a:rPr>
              <a:t>A field-connected team with the discipline to learn before building.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47088"/>
            <a:ext cx="2816352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2103120"/>
            <a:ext cx="2304288" cy="1170432"/>
          </a:xfrm>
          <a:prstGeom prst="roundRect">
            <a:avLst>
              <a:gd name="adj" fmla="val 8000"/>
            </a:avLst>
          </a:prstGeom>
          <a:solidFill>
            <a:srgbClr val="E4E9E0"/>
          </a:solidFill>
          <a:ln w="12700">
            <a:solidFill>
              <a:srgbClr val="2969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9631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9694B"/>
                </a:solidFill>
                <a:latin typeface="Aptos"/>
              </a:rPr>
              <a:t>ADD PHOTO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529584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F1D26"/>
                </a:solidFill>
                <a:latin typeface="Aptos Display"/>
              </a:rPr>
              <a:t>HITANSHU
KAPADIYA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427024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97772"/>
                </a:solidFill>
                <a:latin typeface="Aptos"/>
              </a:rPr>
              <a:t>Mechanical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694B"/>
                </a:solidFill>
                <a:latin typeface="Aptos"/>
              </a:rPr>
              <a:t>ENT101 · customer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2736" y="1847088"/>
            <a:ext cx="2816352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58768" y="2103120"/>
            <a:ext cx="2304288" cy="1170432"/>
          </a:xfrm>
          <a:prstGeom prst="roundRect">
            <a:avLst>
              <a:gd name="adj" fmla="val 8000"/>
            </a:avLst>
          </a:prstGeom>
          <a:solidFill>
            <a:srgbClr val="E4E9E0"/>
          </a:solidFill>
          <a:ln w="12700">
            <a:solidFill>
              <a:srgbClr val="2969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58768" y="249631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9694B"/>
                </a:solidFill>
                <a:latin typeface="Aptos"/>
              </a:rPr>
              <a:t>ADD PHOTO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3529584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F1D26"/>
                </a:solidFill>
                <a:latin typeface="Aptos Display"/>
              </a:rPr>
              <a:t>VIVEK
GUPTA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427024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97772"/>
                </a:solidFill>
                <a:latin typeface="Aptos"/>
              </a:rPr>
              <a:t>Mechanical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4645152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694B"/>
                </a:solidFill>
                <a:latin typeface="Aptos"/>
              </a:rPr>
              <a:t>Discovery owner · systems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1847088"/>
            <a:ext cx="2816352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31152" y="2103120"/>
            <a:ext cx="2304288" cy="1170432"/>
          </a:xfrm>
          <a:prstGeom prst="roundRect">
            <a:avLst>
              <a:gd name="adj" fmla="val 8000"/>
            </a:avLst>
          </a:prstGeom>
          <a:solidFill>
            <a:srgbClr val="E4E9E0"/>
          </a:solidFill>
          <a:ln w="12700">
            <a:solidFill>
              <a:srgbClr val="2969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49631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9694B"/>
                </a:solidFill>
                <a:latin typeface="Aptos"/>
              </a:rPr>
              <a:t>ADD PHOTO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529584"/>
            <a:ext cx="2286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F1D26"/>
                </a:solidFill>
                <a:latin typeface="Aptos Display"/>
              </a:rPr>
              <a:t>SHREYASH
WAGH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427024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97772"/>
                </a:solidFill>
                <a:latin typeface="Aptos"/>
              </a:rPr>
              <a:t>Mechanical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4645152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694B"/>
                </a:solidFill>
                <a:latin typeface="Aptos"/>
              </a:rPr>
              <a:t>Nashik context · field access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47504" y="1847088"/>
            <a:ext cx="1901952" cy="3429000"/>
          </a:xfrm>
          <a:prstGeom prst="roundRect">
            <a:avLst>
              <a:gd name="adj" fmla="val 8000"/>
            </a:avLst>
          </a:prstGeom>
          <a:solidFill>
            <a:srgbClr val="0F1D26"/>
          </a:solidFill>
          <a:ln w="12700">
            <a:solidFill>
              <a:srgbClr val="0F1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2112264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4D255"/>
                </a:solidFill>
                <a:latin typeface="Aptos"/>
              </a:rPr>
              <a:t>WHY NOW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03536" y="260604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Audit pressure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3536" y="2889504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ECDC8"/>
                </a:solidFill>
                <a:latin typeface="Aptos"/>
              </a:rPr>
              <a:t>Residue and PHI evidence matters to export chains.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3536" y="3584448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Weak WTP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03536" y="3867911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ECDC8"/>
                </a:solidFill>
                <a:latin typeface="Aptos"/>
              </a:rPr>
              <a:t>Information-only models face a severe price gap.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03536" y="455371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Right moment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03536" y="4837176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ECDC8"/>
                </a:solidFill>
                <a:latin typeface="Aptos"/>
              </a:rPr>
              <a:t>Level 1 can kill the wrong thesis cheaply.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6199632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97772"/>
                </a:solidFill>
                <a:latin typeface="Aptos"/>
              </a:rPr>
              <a:t>Team facts: repository roster. Timing evidence: APEDA workflow; [F01] farmer information WTP; [G01–G03] advisory-market and liability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IDEAS · L1C19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56032"/>
            <a:ext cx="2514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83112" cy="10972"/>
          </a:xfrm>
          <a:prstGeom prst="rect">
            <a:avLst/>
          </a:prstGeom>
          <a:solidFill>
            <a:srgbClr val="B4D255"/>
          </a:solidFill>
          <a:ln w="12700">
            <a:solidFill>
              <a:srgbClr val="B4D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ptos"/>
              </a:rPr>
              <a:t>AGROBOT · IIT BOMBAY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5624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132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4D255"/>
                </a:solidFill>
                <a:latin typeface="Aptos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98448"/>
            <a:ext cx="10515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ptos Display"/>
              </a:rPr>
              <a:t>Level 1 is not where
we prove the machine.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743200"/>
            <a:ext cx="10515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2DDD8"/>
                </a:solidFill>
                <a:latin typeface="Aptos"/>
              </a:rPr>
              <a:t>It is where we prove whether a customer problem, payer and decision are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3886200"/>
            <a:ext cx="3310128" cy="1325880"/>
          </a:xfrm>
          <a:prstGeom prst="roundRect">
            <a:avLst>
              <a:gd name="adj" fmla="val 8000"/>
            </a:avLst>
          </a:prstGeom>
          <a:solidFill>
            <a:srgbClr val="192B34"/>
          </a:solidFill>
          <a:ln w="12700">
            <a:solidFill>
              <a:srgbClr val="374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4096512"/>
            <a:ext cx="960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B4D255"/>
                </a:solidFill>
                <a:latin typeface="Aptos Display"/>
              </a:rPr>
              <a:t>40–50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873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conversations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407408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ECDC8"/>
                </a:solidFill>
                <a:latin typeface="Aptos"/>
              </a:rPr>
              <a:t>across the stakeholder chain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3886200"/>
            <a:ext cx="3310128" cy="1325880"/>
          </a:xfrm>
          <a:prstGeom prst="roundRect">
            <a:avLst>
              <a:gd name="adj" fmla="val 8000"/>
            </a:avLst>
          </a:prstGeom>
          <a:solidFill>
            <a:srgbClr val="192B34"/>
          </a:solidFill>
          <a:ln w="12700">
            <a:solidFill>
              <a:srgbClr val="374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4096512"/>
            <a:ext cx="960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B4D255"/>
                </a:solidFill>
                <a:latin typeface="Aptos Display"/>
              </a:rPr>
              <a:t>H1–H8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0873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falsifiable hypotheses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4407408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ECDC8"/>
                </a:solidFill>
                <a:latin typeface="Aptos"/>
              </a:rPr>
              <a:t>validated / invalidated / unclear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3886200"/>
            <a:ext cx="3310128" cy="1325880"/>
          </a:xfrm>
          <a:prstGeom prst="roundRect">
            <a:avLst>
              <a:gd name="adj" fmla="val 8000"/>
            </a:avLst>
          </a:prstGeom>
          <a:solidFill>
            <a:srgbClr val="192B34"/>
          </a:solidFill>
          <a:ln w="12700">
            <a:solidFill>
              <a:srgbClr val="374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4096512"/>
            <a:ext cx="960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B4D255"/>
                </a:solidFill>
                <a:latin typeface="Aptos Display"/>
              </a:rPr>
              <a:t>1+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0873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real advancement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407408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ECDC8"/>
                </a:solidFill>
                <a:latin typeface="Aptos"/>
              </a:rPr>
              <a:t>intro, time, pilot slot or 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5650992"/>
            <a:ext cx="10698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Our next action: listen, quantify, falsify — then decide go, pivot or stop.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6199632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Aptos"/>
              </a:rPr>
              <a:t>Discovery targets and guardrails: repository CUSTOMER_DISCOVERY_KIT.md. No field validation or prototype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Agrobot — IDEAS IIT Bombay Level 1 Kickoff</dc:title>
  <dc:subject>Customer discovery kickoff; not a prototype presentation</dc:subject>
  <dc:creator>Agrobot Team, IIT Bombay</dc:creator>
  <cp:keywords/>
  <dc:description>Prepared for IDEAS Level 1 kickoff, 14 August 2026. Claims are hypotheses or secondary evidence unless explicitly marked.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