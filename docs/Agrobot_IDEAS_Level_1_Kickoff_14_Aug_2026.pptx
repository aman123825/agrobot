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1614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1_Image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0"/>
            <a:ext cx="5285232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903720" y="0"/>
            <a:ext cx="5285232" cy="6858000"/>
          </a:xfrm>
          <a:prstGeom prst="rect">
            <a:avLst/>
          </a:prstGeom>
          <a:solidFill>
            <a:srgbClr val="131614"/>
          </a:solidFill>
          <a:ln w="10160">
            <a:solidFill>
              <a:srgbClr val="1316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85432" y="0"/>
            <a:ext cx="36576" cy="6858000"/>
          </a:xfrm>
          <a:prstGeom prst="rect">
            <a:avLst/>
          </a:prstGeom>
          <a:solidFill>
            <a:srgbClr val="BCE05B"/>
          </a:solidFill>
          <a:ln w="10160">
            <a:solidFill>
              <a:srgbClr val="BCE0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292608"/>
            <a:ext cx="31089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ptos"/>
              </a:rPr>
              <a:t>IDEAS · IIT BOMBAY · L1C19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292608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ptos"/>
              </a:rPr>
              <a:t>LEVEL 1 KICKOFF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73952"/>
            <a:ext cx="457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ptos"/>
              </a:rPr>
              <a:t>01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" y="932688"/>
            <a:ext cx="1572768" cy="310896"/>
          </a:xfrm>
          <a:prstGeom prst="roundRect">
            <a:avLst>
              <a:gd name="adj" fmla="val 8000"/>
            </a:avLst>
          </a:prstGeom>
          <a:solidFill>
            <a:srgbClr val="BCE05B"/>
          </a:solidFill>
          <a:ln w="10160">
            <a:solidFill>
              <a:srgbClr val="BCE0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85216" y="941832"/>
            <a:ext cx="1572768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131614"/>
                </a:solidFill>
                <a:latin typeface="Aptos"/>
              </a:rPr>
              <a:t>14 AUGUST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72768"/>
            <a:ext cx="57607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4600" b="1" i="0">
                <a:solidFill>
                  <a:srgbClr val="FFFFFF"/>
                </a:solidFill>
                <a:latin typeface="Aptos Display"/>
              </a:rPr>
              <a:t>AGROBOT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2331720"/>
            <a:ext cx="5715000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800" b="1" i="0">
                <a:solidFill>
                  <a:srgbClr val="FFFFFF"/>
                </a:solidFill>
                <a:latin typeface="Aptos Display"/>
              </a:rPr>
              <a:t>Before we build,
we need to know.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4041648"/>
            <a:ext cx="54406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DDE2DE"/>
                </a:solidFill>
                <a:latin typeface="Aptos"/>
              </a:rPr>
              <a:t>Is there a painful, frequent and paid problem in agricultural compliance evidence?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5285232"/>
            <a:ext cx="5440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BCE05B"/>
                </a:solidFill>
                <a:latin typeface="Aptos"/>
              </a:rPr>
              <a:t>LEVEL 1 · CUSTOMER DISCOVERY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5650992"/>
            <a:ext cx="5440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Aptos"/>
              </a:rPr>
              <a:t>Customer  ·  Pain  ·  Payer  ·  Value</a:t>
            </a:r>
          </a:p>
        </p:txBody>
      </p:sp>
    </p:spTree>
  </p:cSld>
  <p:clrMapOvr>
    <a:masterClrMapping/>
  </p:clrMapOvr>
  <p:transition spd="med" advClick="1" dur="650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92608"/>
            <a:ext cx="31089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131614"/>
                </a:solidFill>
                <a:latin typeface="Aptos"/>
              </a:rPr>
              <a:t>IDEAS · IIT BOMBAY · L1C19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26880" y="292608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 i="0">
                <a:solidFill>
                  <a:srgbClr val="131614"/>
                </a:solidFill>
                <a:latin typeface="Aptos"/>
              </a:rPr>
              <a:t>PROBLEM &amp; CUSTOMER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73952"/>
            <a:ext cx="457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 i="0">
                <a:solidFill>
                  <a:srgbClr val="131614"/>
                </a:solidFill>
                <a:latin typeface="Aptos"/>
              </a:rPr>
              <a:t>02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786384"/>
            <a:ext cx="1600200" cy="310896"/>
          </a:xfrm>
          <a:prstGeom prst="roundRect">
            <a:avLst>
              <a:gd name="adj" fmla="val 8000"/>
            </a:avLst>
          </a:prstGeom>
          <a:solidFill>
            <a:srgbClr val="183D2B"/>
          </a:solidFill>
          <a:ln w="10160">
            <a:solidFill>
              <a:srgbClr val="183D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795528"/>
            <a:ext cx="160020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ptos"/>
              </a:rPr>
              <a:t>OUR STARTING THESIS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261872"/>
            <a:ext cx="868680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100" b="1" i="0">
                <a:solidFill>
                  <a:srgbClr val="131614"/>
                </a:solidFill>
                <a:latin typeface="Aptos Display"/>
              </a:rPr>
              <a:t>The record may matter more than the robot.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901952"/>
            <a:ext cx="804672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5C655F"/>
                </a:solidFill>
                <a:latin typeface="Aptos"/>
              </a:rPr>
              <a:t>Export-linked agriculture requires credible treatment and PHI evidence. Today, that evidence may be fragmented, late or expensive to verify.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2670048"/>
            <a:ext cx="3703320" cy="2624328"/>
          </a:xfrm>
          <a:prstGeom prst="roundRect">
            <a:avLst>
              <a:gd name="adj" fmla="val 8000"/>
            </a:avLst>
          </a:prstGeom>
          <a:solidFill>
            <a:srgbClr val="F2F5F0"/>
          </a:solidFill>
          <a:ln w="10160">
            <a:solidFill>
              <a:srgbClr val="D6D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2962656"/>
            <a:ext cx="31089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2D844E"/>
                </a:solidFill>
                <a:latin typeface="Aptos"/>
              </a:rPr>
              <a:t>BEACHHEAD CUSTOMER HYPOTHESIS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" y="3401568"/>
            <a:ext cx="30632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 i="0">
                <a:solidFill>
                  <a:srgbClr val="131614"/>
                </a:solidFill>
                <a:latin typeface="Aptos Display"/>
              </a:rPr>
              <a:t>Exporter / pack-house
quality team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4407408"/>
            <a:ext cx="30632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5C655F"/>
                </a:solidFill>
                <a:latin typeface="Aptos"/>
              </a:rPr>
              <a:t>Maharashtra grape and pomegranate clusters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44568" y="2670048"/>
            <a:ext cx="3127248" cy="2624328"/>
          </a:xfrm>
          <a:prstGeom prst="roundRect">
            <a:avLst>
              <a:gd name="adj" fmla="val 8000"/>
            </a:avLst>
          </a:prstGeom>
          <a:solidFill>
            <a:srgbClr val="183D2B"/>
          </a:solidFill>
          <a:ln w="10160">
            <a:solidFill>
              <a:srgbClr val="183D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28032" y="2962656"/>
            <a:ext cx="254203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BCE05B"/>
                </a:solidFill>
                <a:latin typeface="Aptos"/>
              </a:rPr>
              <a:t>THE CONSEQUENCE TO TEST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28032" y="3401568"/>
            <a:ext cx="2487168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Aptos Display"/>
              </a:rPr>
              <a:t>Audit friction.
Rework. Rejection risk.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28032" y="4425696"/>
            <a:ext cx="2450592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C9D3CD"/>
                </a:solidFill>
                <a:latin typeface="Aptos"/>
              </a:rPr>
              <a:t>We have secondary signals—no first-hand cost baseline yet.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55279" y="2670048"/>
            <a:ext cx="3657600" cy="26243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0160">
            <a:solidFill>
              <a:srgbClr val="D6D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47888" y="2962656"/>
            <a:ext cx="3063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2D844E"/>
                </a:solidFill>
                <a:latin typeface="Aptos"/>
              </a:rPr>
              <a:t>FOUR QUESTIONS DECIDE THE THESIS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7888" y="3401568"/>
            <a:ext cx="25603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2D844E"/>
                </a:solidFill>
                <a:latin typeface="Aptos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13648" y="3401568"/>
            <a:ext cx="26060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20" b="1" i="0">
                <a:solidFill>
                  <a:srgbClr val="131614"/>
                </a:solidFill>
                <a:latin typeface="Aptos"/>
              </a:rPr>
              <a:t>Is the problem frequent and costly?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47888" y="3831336"/>
            <a:ext cx="25603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2D844E"/>
                </a:solidFill>
                <a:latin typeface="Aptos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13648" y="3831336"/>
            <a:ext cx="26060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20" b="1" i="0">
                <a:solidFill>
                  <a:srgbClr val="131614"/>
                </a:solidFill>
                <a:latin typeface="Aptos"/>
              </a:rPr>
              <a:t>Who owns the loss and budget?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47888" y="4261104"/>
            <a:ext cx="25603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2D844E"/>
                </a:solidFill>
                <a:latin typeface="Aptos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13648" y="4261104"/>
            <a:ext cx="26060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20" b="1" i="0">
                <a:solidFill>
                  <a:srgbClr val="131614"/>
                </a:solidFill>
                <a:latin typeface="Aptos"/>
              </a:rPr>
              <a:t>What evidence is trusted today?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47888" y="4690872"/>
            <a:ext cx="25603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2D844E"/>
                </a:solidFill>
                <a:latin typeface="Aptos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13648" y="4690872"/>
            <a:ext cx="26060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20" b="1" i="0">
                <a:solidFill>
                  <a:srgbClr val="131614"/>
                </a:solidFill>
                <a:latin typeface="Aptos"/>
              </a:rPr>
              <a:t>Will the payer name a ₹ value?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66928" y="6272784"/>
            <a:ext cx="11045952" cy="10972"/>
          </a:xfrm>
          <a:prstGeom prst="rect">
            <a:avLst/>
          </a:prstGeom>
          <a:solidFill>
            <a:srgbClr val="D6DCD6"/>
          </a:solidFill>
          <a:ln w="10160">
            <a:solidFill>
              <a:srgbClr val="D6D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" y="6382512"/>
            <a:ext cx="10515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 i="0">
                <a:solidFill>
                  <a:srgbClr val="5C655F"/>
                </a:solidFill>
                <a:latin typeface="Aptos"/>
              </a:rPr>
              <a:t>Sources: APEDA GrapeNet / Residue Monitoring workflow; repository evidence [E05–E06], [F17], [G03]. Status: secondary evidence only; 0 Agrobot interviews completed.</a:t>
            </a:r>
          </a:p>
        </p:txBody>
      </p:sp>
    </p:spTree>
  </p:cSld>
  <p:clrMapOvr>
    <a:masterClrMapping/>
  </p:clrMapOvr>
  <p:transition spd="med" advClick="1" dur="650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92608"/>
            <a:ext cx="31089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131614"/>
                </a:solidFill>
                <a:latin typeface="Aptos"/>
              </a:rPr>
              <a:t>IDEAS · IIT BOMBAY · L1C19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26880" y="292608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 i="0">
                <a:solidFill>
                  <a:srgbClr val="131614"/>
                </a:solidFill>
                <a:latin typeface="Aptos"/>
              </a:rPr>
              <a:t>PROPOSED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73952"/>
            <a:ext cx="457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 i="0">
                <a:solidFill>
                  <a:srgbClr val="131614"/>
                </a:solidFill>
                <a:latin typeface="Aptos"/>
              </a:rPr>
              <a:t>03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786384"/>
            <a:ext cx="1627632" cy="310896"/>
          </a:xfrm>
          <a:prstGeom prst="roundRect">
            <a:avLst>
              <a:gd name="adj" fmla="val 8000"/>
            </a:avLst>
          </a:prstGeom>
          <a:solidFill>
            <a:srgbClr val="183D2B"/>
          </a:solidFill>
          <a:ln w="10160">
            <a:solidFill>
              <a:srgbClr val="183D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795528"/>
            <a:ext cx="1627632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ptos"/>
              </a:rPr>
              <a:t>HYPOTHESIS · NOT BUILT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261872"/>
            <a:ext cx="978408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100" b="1" i="0">
                <a:solidFill>
                  <a:srgbClr val="131614"/>
                </a:solidFill>
                <a:latin typeface="Aptos Display"/>
              </a:rPr>
              <a:t>One trusted evidence record.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874519"/>
            <a:ext cx="960120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5C655F"/>
                </a:solidFill>
                <a:latin typeface="Aptos"/>
              </a:rPr>
              <a:t>A geotagged, time-stamped treatment + PHI record, reviewed by an agronomist and usable by the buyer’s QA workflow.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74320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2D844E"/>
                </a:solidFill>
                <a:latin typeface="Aptos"/>
              </a:rPr>
              <a:t>01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3127248"/>
            <a:ext cx="2423160" cy="22860"/>
          </a:xfrm>
          <a:prstGeom prst="rect">
            <a:avLst/>
          </a:prstGeom>
          <a:solidFill>
            <a:srgbClr val="D6DCD6"/>
          </a:solidFill>
          <a:ln w="10160">
            <a:solidFill>
              <a:srgbClr val="D6D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3364992"/>
            <a:ext cx="2340864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131614"/>
                </a:solidFill>
                <a:latin typeface="Aptos Display"/>
              </a:rPr>
              <a:t>Observe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3822191"/>
            <a:ext cx="233172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5C655F"/>
                </a:solidFill>
                <a:latin typeface="Aptos"/>
              </a:rPr>
              <a:t>Capture what happened in the field.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37560" y="274320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2D844E"/>
                </a:solidFill>
                <a:latin typeface="Aptos"/>
              </a:rPr>
              <a:t>02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37560" y="3127248"/>
            <a:ext cx="2423160" cy="22860"/>
          </a:xfrm>
          <a:prstGeom prst="rect">
            <a:avLst/>
          </a:prstGeom>
          <a:solidFill>
            <a:srgbClr val="D6DCD6"/>
          </a:solidFill>
          <a:ln w="10160">
            <a:solidFill>
              <a:srgbClr val="D6D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3364992"/>
            <a:ext cx="2340864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131614"/>
                </a:solidFill>
                <a:latin typeface="Aptos Display"/>
              </a:rPr>
              <a:t>Verify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3822191"/>
            <a:ext cx="233172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5C655F"/>
                </a:solidFill>
                <a:latin typeface="Aptos"/>
              </a:rPr>
              <a:t>Attach place, time and accountable review.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08192" y="274320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2D844E"/>
                </a:solidFill>
                <a:latin typeface="Aptos"/>
              </a:rPr>
              <a:t>03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08192" y="3127248"/>
            <a:ext cx="2423160" cy="22860"/>
          </a:xfrm>
          <a:prstGeom prst="rect">
            <a:avLst/>
          </a:prstGeom>
          <a:solidFill>
            <a:srgbClr val="D6DCD6"/>
          </a:solidFill>
          <a:ln w="10160">
            <a:solidFill>
              <a:srgbClr val="D6D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08192" y="3364992"/>
            <a:ext cx="2340864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131614"/>
                </a:solidFill>
                <a:latin typeface="Aptos Display"/>
              </a:rPr>
              <a:t>Record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08192" y="3822191"/>
            <a:ext cx="233172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5C655F"/>
                </a:solidFill>
                <a:latin typeface="Aptos"/>
              </a:rPr>
              <a:t>Map evidence to the buyer’s workflow.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78824" y="274320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2D844E"/>
                </a:solidFill>
                <a:latin typeface="Aptos"/>
              </a:rPr>
              <a:t>04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878824" y="3127248"/>
            <a:ext cx="2423160" cy="22860"/>
          </a:xfrm>
          <a:prstGeom prst="rect">
            <a:avLst/>
          </a:prstGeom>
          <a:solidFill>
            <a:srgbClr val="183D2B"/>
          </a:solidFill>
          <a:ln w="10160">
            <a:solidFill>
              <a:srgbClr val="183D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878824" y="3364992"/>
            <a:ext cx="2340864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131614"/>
                </a:solidFill>
                <a:latin typeface="Aptos Display"/>
              </a:rPr>
              <a:t>Decide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78824" y="3822191"/>
            <a:ext cx="233172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5C655F"/>
                </a:solidFill>
                <a:latin typeface="Aptos"/>
              </a:rPr>
              <a:t>Test whether the buyer will pay.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4727448"/>
            <a:ext cx="11045952" cy="1051560"/>
          </a:xfrm>
          <a:prstGeom prst="roundRect">
            <a:avLst>
              <a:gd name="adj" fmla="val 8000"/>
            </a:avLst>
          </a:prstGeom>
          <a:solidFill>
            <a:srgbClr val="131614"/>
          </a:solidFill>
          <a:ln w="10160">
            <a:solidFill>
              <a:srgbClr val="1316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9536" y="5010912"/>
            <a:ext cx="187451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BCE05B"/>
                </a:solidFill>
                <a:latin typeface="Aptos"/>
              </a:rPr>
              <a:t>LEVEL 1 BOUNDARY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834640" y="4937760"/>
            <a:ext cx="832104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Aptos"/>
              </a:rPr>
              <a:t>Interview first. Quantify pain. Identify payer. Seek real advancement. Only then decide go, pivot or stop.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66928" y="6272784"/>
            <a:ext cx="11045952" cy="10972"/>
          </a:xfrm>
          <a:prstGeom prst="rect">
            <a:avLst/>
          </a:prstGeom>
          <a:solidFill>
            <a:srgbClr val="D6DCD6"/>
          </a:solidFill>
          <a:ln w="10160">
            <a:solidFill>
              <a:srgbClr val="D6D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6928" y="6382512"/>
            <a:ext cx="10515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 i="0">
                <a:solidFill>
                  <a:srgbClr val="5C655F"/>
                </a:solidFill>
                <a:latin typeface="Aptos"/>
              </a:rPr>
              <a:t>No prototype, accuracy, coverage, savings or payback claim is made. The solution is an early value hypothesis to be tested through H1–H8 interviews.</a:t>
            </a:r>
          </a:p>
        </p:txBody>
      </p:sp>
    </p:spTree>
  </p:cSld>
  <p:clrMapOvr>
    <a:masterClrMapping/>
  </p:clrMapOvr>
  <p:transition spd="med" advClick="1" dur="650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92608"/>
            <a:ext cx="31089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131614"/>
                </a:solidFill>
                <a:latin typeface="Aptos"/>
              </a:rPr>
              <a:t>IDEAS · IIT BOMBAY · L1C19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26880" y="292608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 i="0">
                <a:solidFill>
                  <a:srgbClr val="131614"/>
                </a:solidFill>
                <a:latin typeface="Aptos"/>
              </a:rPr>
              <a:t>WHY US · WHY 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73952"/>
            <a:ext cx="457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 i="0">
                <a:solidFill>
                  <a:srgbClr val="131614"/>
                </a:solidFill>
                <a:latin typeface="Aptos"/>
              </a:rPr>
              <a:t>04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786384"/>
            <a:ext cx="1325880" cy="310896"/>
          </a:xfrm>
          <a:prstGeom prst="roundRect">
            <a:avLst>
              <a:gd name="adj" fmla="val 8000"/>
            </a:avLst>
          </a:prstGeom>
          <a:solidFill>
            <a:srgbClr val="183D2B"/>
          </a:solidFill>
          <a:ln w="10160">
            <a:solidFill>
              <a:srgbClr val="183D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795528"/>
            <a:ext cx="132588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ptos"/>
              </a:rPr>
              <a:t>TEAM + TIMING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261872"/>
            <a:ext cx="8961120" cy="8961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 i="0">
                <a:solidFill>
                  <a:srgbClr val="131614"/>
                </a:solidFill>
                <a:latin typeface="Aptos Display"/>
              </a:rPr>
              <a:t>Close enough to the field.
Disciplined enough to question the thesis.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880360"/>
            <a:ext cx="621792" cy="621792"/>
          </a:xfrm>
          <a:prstGeom prst="roundRect">
            <a:avLst>
              <a:gd name="adj" fmla="val 8000"/>
            </a:avLst>
          </a:prstGeom>
          <a:solidFill>
            <a:srgbClr val="F2F5F0"/>
          </a:solidFill>
          <a:ln w="10160">
            <a:solidFill>
              <a:srgbClr val="2D844E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3063240"/>
            <a:ext cx="6217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2D844E"/>
                </a:solidFill>
                <a:latin typeface="Aptos"/>
              </a:rPr>
              <a:t>PHOTO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2916936"/>
            <a:ext cx="29260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131614"/>
                </a:solidFill>
                <a:latin typeface="Aptos"/>
              </a:rPr>
              <a:t>HITANSHU KAPADIYA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3218688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5C655F"/>
                </a:solidFill>
                <a:latin typeface="Aptos"/>
              </a:rPr>
              <a:t>Customer discovery · ENT101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721608"/>
            <a:ext cx="621792" cy="621792"/>
          </a:xfrm>
          <a:prstGeom prst="roundRect">
            <a:avLst>
              <a:gd name="adj" fmla="val 8000"/>
            </a:avLst>
          </a:prstGeom>
          <a:solidFill>
            <a:srgbClr val="F2F5F0"/>
          </a:solidFill>
          <a:ln w="10160">
            <a:solidFill>
              <a:srgbClr val="2D844E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3904488"/>
            <a:ext cx="6217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2D844E"/>
                </a:solidFill>
                <a:latin typeface="Aptos"/>
              </a:rPr>
              <a:t>PHOTO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3758184"/>
            <a:ext cx="29260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131614"/>
                </a:solidFill>
                <a:latin typeface="Aptos"/>
              </a:rPr>
              <a:t>VIVEK GUPTA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4059936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5C655F"/>
                </a:solidFill>
                <a:latin typeface="Aptos"/>
              </a:rPr>
              <a:t>Systems thinking · discovery owner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562856"/>
            <a:ext cx="621792" cy="621792"/>
          </a:xfrm>
          <a:prstGeom prst="roundRect">
            <a:avLst>
              <a:gd name="adj" fmla="val 8000"/>
            </a:avLst>
          </a:prstGeom>
          <a:solidFill>
            <a:srgbClr val="F2F5F0"/>
          </a:solidFill>
          <a:ln w="10160">
            <a:solidFill>
              <a:srgbClr val="2D844E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4745736"/>
            <a:ext cx="6217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2D844E"/>
                </a:solidFill>
                <a:latin typeface="Aptos"/>
              </a:rPr>
              <a:t>PHOTO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20" y="4599432"/>
            <a:ext cx="29260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131614"/>
                </a:solidFill>
                <a:latin typeface="Aptos"/>
              </a:rPr>
              <a:t>SHREYASH WAGH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4901184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5C655F"/>
                </a:solidFill>
                <a:latin typeface="Aptos"/>
              </a:rPr>
              <a:t>Nashik context · field access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504688" y="2542032"/>
            <a:ext cx="6108192" cy="2880360"/>
          </a:xfrm>
          <a:prstGeom prst="roundRect">
            <a:avLst>
              <a:gd name="adj" fmla="val 8000"/>
            </a:avLst>
          </a:prstGeom>
          <a:solidFill>
            <a:srgbClr val="183D2B"/>
          </a:solidFill>
          <a:ln w="10160">
            <a:solidFill>
              <a:srgbClr val="183D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33872" y="2880360"/>
            <a:ext cx="53035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BCE05B"/>
                </a:solidFill>
                <a:latin typeface="Aptos"/>
              </a:rPr>
              <a:t>WHY THIS IS THE RIGHT MOMENT TO DISCOVER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833872" y="3438144"/>
            <a:ext cx="100584" cy="100584"/>
          </a:xfrm>
          <a:prstGeom prst="roundRect">
            <a:avLst>
              <a:gd name="adj" fmla="val 8000"/>
            </a:avLst>
          </a:prstGeom>
          <a:solidFill>
            <a:srgbClr val="BCE05B"/>
          </a:solidFill>
          <a:ln w="10160">
            <a:solidFill>
              <a:srgbClr val="BCE0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89904" y="3383280"/>
            <a:ext cx="497433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ptos"/>
              </a:rPr>
              <a:t>Compliance evidence has a defined workflow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89904" y="3694176"/>
            <a:ext cx="4974336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BCC3BE"/>
                </a:solidFill>
                <a:latin typeface="Aptos"/>
              </a:rPr>
              <a:t>APEDA traceability and PHI requirements create an observable context—not yet proof of willingness to pay.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833872" y="4233672"/>
            <a:ext cx="100584" cy="100584"/>
          </a:xfrm>
          <a:prstGeom prst="roundRect">
            <a:avLst>
              <a:gd name="adj" fmla="val 8000"/>
            </a:avLst>
          </a:prstGeom>
          <a:solidFill>
            <a:srgbClr val="BCE05B"/>
          </a:solidFill>
          <a:ln w="10160">
            <a:solidFill>
              <a:srgbClr val="BCE0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089904" y="4178808"/>
            <a:ext cx="497433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ptos"/>
              </a:rPr>
              <a:t>Information-only economics are weak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89904" y="4489704"/>
            <a:ext cx="4974336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BCC3BE"/>
                </a:solidFill>
                <a:latin typeface="Aptos"/>
              </a:rPr>
              <a:t>Repository research finds farmer WTP near ₹14.89/acre, making the buyer and outcome critical.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833872" y="5029200"/>
            <a:ext cx="100584" cy="100584"/>
          </a:xfrm>
          <a:prstGeom prst="roundRect">
            <a:avLst>
              <a:gd name="adj" fmla="val 8000"/>
            </a:avLst>
          </a:prstGeom>
          <a:solidFill>
            <a:srgbClr val="BCE05B"/>
          </a:solidFill>
          <a:ln w="10160">
            <a:solidFill>
              <a:srgbClr val="BCE0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89904" y="4974336"/>
            <a:ext cx="497433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ptos"/>
              </a:rPr>
              <a:t>Learning is still cheap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89904" y="5285232"/>
            <a:ext cx="4974336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BCC3BE"/>
                </a:solidFill>
                <a:latin typeface="Aptos"/>
              </a:rPr>
              <a:t>Interviews can invalidate the thesis before capital, hardware or field claims.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66928" y="6272784"/>
            <a:ext cx="11045952" cy="10972"/>
          </a:xfrm>
          <a:prstGeom prst="rect">
            <a:avLst/>
          </a:prstGeom>
          <a:solidFill>
            <a:srgbClr val="D6DCD6"/>
          </a:solidFill>
          <a:ln w="10160">
            <a:solidFill>
              <a:srgbClr val="D6D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66928" y="6382512"/>
            <a:ext cx="10515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 i="0">
                <a:solidFill>
                  <a:srgbClr val="5C655F"/>
                </a:solidFill>
                <a:latin typeface="Aptos"/>
              </a:rPr>
              <a:t>Team: repository IDEAS roster. Timing: APEDA workflow; [F01] information WTP; [G01–G03] advisory market and liability evidence. Photo boxes remain editable.</a:t>
            </a:r>
          </a:p>
        </p:txBody>
      </p:sp>
    </p:spTree>
  </p:cSld>
  <p:clrMapOvr>
    <a:masterClrMapping/>
  </p:clrMapOvr>
  <p:transition spd="med" advClick="1" dur="650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16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92608"/>
            <a:ext cx="31089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ptos"/>
              </a:rPr>
              <a:t>IDEAS · IIT BOMBAY · L1C19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26880" y="292608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ptos"/>
              </a:rPr>
              <a:t>LEVEL 1 COMMITMENT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73952"/>
            <a:ext cx="457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ptos"/>
              </a:rPr>
              <a:t>05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786384"/>
            <a:ext cx="1371600" cy="310896"/>
          </a:xfrm>
          <a:prstGeom prst="roundRect">
            <a:avLst>
              <a:gd name="adj" fmla="val 8000"/>
            </a:avLst>
          </a:prstGeom>
          <a:solidFill>
            <a:srgbClr val="BCE05B"/>
          </a:solidFill>
          <a:ln w="10160">
            <a:solidFill>
              <a:srgbClr val="BCE0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795528"/>
            <a:ext cx="137160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131614"/>
                </a:solidFill>
                <a:latin typeface="Aptos"/>
              </a:rPr>
              <a:t>NEXT: DISCOVER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280160"/>
            <a:ext cx="9875520" cy="987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ptos Display"/>
              </a:rPr>
              <a:t>We do not need a prototype
to learn what matters next.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542032"/>
            <a:ext cx="996696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C3CCC6"/>
                </a:solidFill>
                <a:latin typeface="Aptos"/>
              </a:rPr>
              <a:t>Our commitment for Level 1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3273552"/>
            <a:ext cx="3246120" cy="22860"/>
          </a:xfrm>
          <a:prstGeom prst="rect">
            <a:avLst/>
          </a:prstGeom>
          <a:solidFill>
            <a:srgbClr val="444C47"/>
          </a:solidFill>
          <a:ln w="10160">
            <a:solidFill>
              <a:srgbClr val="444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3529584"/>
            <a:ext cx="321868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 i="0">
                <a:solidFill>
                  <a:srgbClr val="BCE05B"/>
                </a:solidFill>
                <a:latin typeface="Aptos Display"/>
              </a:rPr>
              <a:t>40–50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4187952"/>
            <a:ext cx="321868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ptos"/>
              </a:rPr>
              <a:t>conversations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4645152"/>
            <a:ext cx="318211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B7C0BA"/>
                </a:solidFill>
                <a:latin typeface="Aptos"/>
              </a:rPr>
              <a:t>Grower → agronomist → FPO/exporter → QA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42816" y="3273552"/>
            <a:ext cx="3246120" cy="22860"/>
          </a:xfrm>
          <a:prstGeom prst="rect">
            <a:avLst/>
          </a:prstGeom>
          <a:solidFill>
            <a:srgbClr val="444C47"/>
          </a:solidFill>
          <a:ln w="10160">
            <a:solidFill>
              <a:srgbClr val="444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42816" y="3529584"/>
            <a:ext cx="321868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 i="0">
                <a:solidFill>
                  <a:srgbClr val="BCE05B"/>
                </a:solidFill>
                <a:latin typeface="Aptos Display"/>
              </a:rPr>
              <a:t>H1–H8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42816" y="4187952"/>
            <a:ext cx="321868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ptos"/>
              </a:rPr>
              <a:t>hypotheses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42816" y="4645152"/>
            <a:ext cx="318211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B7C0BA"/>
                </a:solidFill>
                <a:latin typeface="Aptos"/>
              </a:rPr>
              <a:t>Validated · invalidated · still unclear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18703" y="3273552"/>
            <a:ext cx="3246120" cy="22860"/>
          </a:xfrm>
          <a:prstGeom prst="rect">
            <a:avLst/>
          </a:prstGeom>
          <a:solidFill>
            <a:srgbClr val="444C47"/>
          </a:solidFill>
          <a:ln w="10160">
            <a:solidFill>
              <a:srgbClr val="444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18703" y="3529584"/>
            <a:ext cx="321868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 i="0">
                <a:solidFill>
                  <a:srgbClr val="BCE05B"/>
                </a:solidFill>
                <a:latin typeface="Aptos Display"/>
              </a:rPr>
              <a:t>1+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18703" y="4187952"/>
            <a:ext cx="321868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ptos"/>
              </a:rPr>
              <a:t>real advancement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18703" y="4645152"/>
            <a:ext cx="318211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B7C0BA"/>
                </a:solidFill>
                <a:latin typeface="Aptos"/>
              </a:rPr>
              <a:t>Named ₹, buyer intro, data access or future pilot slot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5705856"/>
            <a:ext cx="1069848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ptos"/>
              </a:rPr>
              <a:t>Listen. Quantify. Falsify. Then decide: go, pivot or stop.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6272784"/>
            <a:ext cx="11045952" cy="10972"/>
          </a:xfrm>
          <a:prstGeom prst="rect">
            <a:avLst/>
          </a:prstGeom>
          <a:solidFill>
            <a:srgbClr val="3E4440"/>
          </a:solidFill>
          <a:ln w="10160">
            <a:solidFill>
              <a:srgbClr val="3E44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6382512"/>
            <a:ext cx="10515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 i="0">
                <a:solidFill>
                  <a:srgbClr val="ADB4AF"/>
                </a:solidFill>
                <a:latin typeface="Aptos"/>
              </a:rPr>
              <a:t>Discovery targets and guardrails: CUSTOMER_DISCOVERY_KIT.md. This deck makes no prototype or field-validation claim.</a:t>
            </a:r>
          </a:p>
        </p:txBody>
      </p:sp>
    </p:spTree>
  </p:cSld>
  <p:clrMapOvr>
    <a:masterClrMapping/>
  </p:clrMapOvr>
  <p:transition spd="med" advClick="1" dur="650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Agrobot — IDEAS IIT Bombay Level 1 Kickoff</dc:title>
  <dc:subject>Customer discovery: customer, pain, payer and value hypothesis</dc:subject>
  <dc:creator>Agrobot Team, IIT Bombay</dc:creator>
  <cp:keywords/>
  <dc:description>14 August 2026. Secondary evidence is identified; no prototype or field validation claim is made.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