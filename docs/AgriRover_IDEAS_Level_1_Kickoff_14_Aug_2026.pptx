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_Imag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0"/>
            <a:ext cx="5285232" cy="6858000"/>
          </a:xfrm>
          <a:prstGeom prst="rect">
            <a:avLst/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85432" y="0"/>
            <a:ext cx="36576" cy="685800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LEVEL 1 KICKOFF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932688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941832"/>
            <a:ext cx="157276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14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ptos Display"/>
              </a:rPr>
              <a:t>AGRIROVER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5715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 Display"/>
              </a:rPr>
              <a:t>Before we build,
we need to know.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41648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DE2DE"/>
                </a:solidFill>
                <a:latin typeface="Aptos"/>
              </a:rPr>
              <a:t>Is there a painful, frequent and paid problem in agricultural compliance evidence?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TEAM NAME: ANGRY BIRDS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449824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CE05B"/>
                </a:solidFill>
                <a:latin typeface="Aptos"/>
              </a:rPr>
              <a:t>DATE: 14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LEVEL 1 · CUSTOMER DISCOVERY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PROBLEM &amp; CUSTOMER SEGMENT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OUR STARTING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The record may matter more than the robot.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01952"/>
            <a:ext cx="9966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Export-linked agriculture requires credible treatment and PHI evidence. Today, that evidence may be fragmented, late or expensive to verify.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70048"/>
            <a:ext cx="3703320" cy="26243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626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BEACHHEAD CUSTOMER HYPOTHESIS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01568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31614"/>
                </a:solidFill>
                <a:latin typeface="Aptos Display"/>
              </a:rPr>
              <a:t>Exporter / pack-house
quality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407408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5F"/>
                </a:solidFill>
                <a:latin typeface="Aptos"/>
              </a:rPr>
              <a:t>Maharashtra grape and pomegranate clusters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670048"/>
            <a:ext cx="3127248" cy="26243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2" y="2962656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CE05B"/>
                </a:solidFill>
                <a:latin typeface="Aptos"/>
              </a:rPr>
              <a:t>THE CONSEQUENCE TO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3401568"/>
            <a:ext cx="248716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Audit friction.
Rework. Rejection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4425696"/>
            <a:ext cx="24505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9D3CD"/>
                </a:solidFill>
                <a:latin typeface="Aptos"/>
              </a:rPr>
              <a:t>We have secondary signals—no first-hand cost baseline yet.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670048"/>
            <a:ext cx="3657600" cy="2624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96265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FOUR QUESTIONS DECIDE THE 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4015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3383280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Is the problem frequent and costly?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8313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813048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Who owns the loss and budget?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426110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4242816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What evidence is trusted today?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690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4672584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Will the payer name a ₹ value?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36792"/>
            <a:ext cx="8869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Sources: APEDA GrapeNet / Residue Monitoring workflow; repository evidence [E05–E06], [F17], [G03]. Status: secondary evidence only; 0 AgriRover interviews completed.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633679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ANGRY BIRDS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276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HYPOTHESIS · NOT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97840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One trusted evidence record.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424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A geotagged, time-stamped treatment + PHI record, reviewed by an agronomist and usable by the buyer’s QA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Capture what happened in the field.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Attach place, time and accountable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Map evidence to the buyer’s workflow.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8824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3127248"/>
            <a:ext cx="2423160" cy="22860"/>
          </a:xfrm>
          <a:prstGeom prst="rect">
            <a:avLst/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78824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Decide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Test whether the buyer will pay.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727448"/>
            <a:ext cx="11045952" cy="1051560"/>
          </a:xfrm>
          <a:prstGeom prst="roundRect">
            <a:avLst>
              <a:gd name="adj" fmla="val 8000"/>
            </a:avLst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10912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BCE05B"/>
                </a:solidFill>
                <a:latin typeface="Aptos"/>
              </a:rPr>
              <a:t>LEVEL 1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937760"/>
            <a:ext cx="8321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Interview first. Quantify pain. Identify payer. Seek real advancement. Only then decide go, pivot or stop.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336792"/>
            <a:ext cx="8869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No prototype, accuracy, coverage, savings or payback claim is made. The solution is an early value hypothesis to be tested through H1–H8 interviews.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633679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ANGRY BIRDS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WHY US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325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TEAM + 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10241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31614"/>
                </a:solidFill>
                <a:latin typeface="Aptos Display"/>
              </a:rPr>
              <a:t>A team with agricultural context—and access to people who can challenge our assumptions.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8716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2487168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PRITISH NANDY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779776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Team Head · coordinates Level 1 customer-discovery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36976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01568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3236976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HITANSHU KAPADIYA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3529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Customer discovery · wants to reduce field-to-audit friction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8678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151376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98678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VIVEK KUMAR GUPTA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279392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From Jaunpur, Uttar Pradesh · agriculture-family background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659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0118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73659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SHREYASH WAGH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502920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Nashik context · connected to real horticulture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04688" y="2340864"/>
            <a:ext cx="6108192" cy="33101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33872" y="2660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CE05B"/>
                </a:solidFill>
                <a:latin typeface="Aptos"/>
              </a:rPr>
              <a:t>CUSTOMER-DISCOVERY ACCESS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33872" y="318211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9904" y="31272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Tinkerers’ Lab, IIT Bombay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34564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We are in contact with Ashwini Ma’am to seek guidance and relevant discovery connections; this is access, not validation.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4096511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40416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Agricultural context in the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43708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Vivek’s Jaunpur agriculture background and Shreyash’s Nashik context can help recruit grounded conversations.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33872" y="501091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9904" y="49560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Online evidence guides—not replaces—interviews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52852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APEDA traceability, PHI and market evidence will shape questions; customer statements will test the thesis.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36792"/>
            <a:ext cx="8869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Team/access details: supplied by Team Angry Birds. Public discovery context: APEDA traceability and PHI guidance; repository evidence register. No endorsement or validation is implied.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633679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ANGRY BIRDS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109728" cy="443484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353312"/>
            <a:ext cx="99669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Aptos Display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42032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BCE05B"/>
                </a:solidFill>
                <a:latin typeface="Aptos Display"/>
              </a:rPr>
              <a:t>Level 1 begins with listening—not building.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01568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D2DAD4"/>
                </a:solidFill>
                <a:latin typeface="Aptos"/>
              </a:rPr>
              <a:t>Next: test the customer, pain, payer and value hypotheses through structured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754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TEAM NAME: ANGRY BIRDS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7C0BA"/>
                </a:solidFill>
                <a:latin typeface="Aptos"/>
              </a:rPr>
              <a:t>14 AUGUST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3E4440"/>
          </a:solidFill>
          <a:ln w="10160">
            <a:solidFill>
              <a:srgbClr val="3E4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36792"/>
            <a:ext cx="8869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DB4AF"/>
                </a:solidFill>
                <a:latin typeface="Aptos"/>
              </a:rPr>
              <a:t>IDEAS L1C19 — Kickoff · Desai Sethi School of Entrepreneurship, IIT Bombay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633679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TEAM: ANGRY BIRDS</a:t>
            </a:r>
          </a:p>
        </p:txBody>
      </p:sp>
    </p:spTree>
  </p:cSld>
  <p:clrMapOvr>
    <a:masterClrMapping/>
  </p:clrMapOvr>
  <p:transition spd="med" advClick="1" dur="65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AgriRover — IDEAS IIT Bombay Level 1 Kickoff</dc:title>
  <dc:subject>Customer discovery: customer, pain, payer and value hypothesis</dc:subject>
  <dc:creator>Team Angry Birds, IIT Bombay</dc:creator>
  <cp:keywords/>
  <dc:description>14 August 2026. Secondary evidence is identified; no prototype or field validation claim is made.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