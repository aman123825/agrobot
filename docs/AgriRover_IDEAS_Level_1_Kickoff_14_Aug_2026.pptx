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6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1_Imag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0"/>
            <a:ext cx="528523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903720" y="0"/>
            <a:ext cx="5285232" cy="6858000"/>
          </a:xfrm>
          <a:prstGeom prst="rect">
            <a:avLst/>
          </a:prstGeom>
          <a:solidFill>
            <a:srgbClr val="131614"/>
          </a:solidFill>
          <a:ln w="10160">
            <a:solidFill>
              <a:srgbClr val="131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85432" y="0"/>
            <a:ext cx="36576" cy="6858000"/>
          </a:xfrm>
          <a:prstGeom prst="rect">
            <a:avLst/>
          </a:prstGeom>
          <a:solidFill>
            <a:srgbClr val="BCE05B"/>
          </a:solidFill>
          <a:ln w="10160">
            <a:solidFill>
              <a:srgbClr val="BCE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IDEAS L1C19 — KICKOFF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AGRIROVER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" y="932688"/>
            <a:ext cx="1572768" cy="310896"/>
          </a:xfrm>
          <a:prstGeom prst="roundRect">
            <a:avLst>
              <a:gd name="adj" fmla="val 8000"/>
            </a:avLst>
          </a:prstGeom>
          <a:solidFill>
            <a:srgbClr val="BCE05B"/>
          </a:solidFill>
          <a:ln w="10160">
            <a:solidFill>
              <a:srgbClr val="BCE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" y="941832"/>
            <a:ext cx="157276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131614"/>
                </a:solidFill>
                <a:latin typeface="Aptos"/>
              </a:rPr>
              <a:t>14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5760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Aptos Display"/>
              </a:rPr>
              <a:t>KICKOFF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571500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 Display"/>
              </a:rPr>
              <a:t>AGRIROVER: before we build,
we need to know.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041648"/>
            <a:ext cx="5440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DDE2DE"/>
                </a:solidFill>
                <a:latin typeface="Aptos"/>
              </a:rPr>
              <a:t>Is there a painful, frequent and paid problem in agricultural compliance evidence?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74920"/>
            <a:ext cx="5440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TEAM NAME: ANGRY BIRDS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449824"/>
            <a:ext cx="5440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CE05B"/>
                </a:solidFill>
                <a:latin typeface="Aptos"/>
              </a:rPr>
              <a:t>DATE: 14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824728"/>
            <a:ext cx="5440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LEVEL 1 · CUSTOMER DISCOVERY</a:t>
            </a:r>
          </a:p>
        </p:txBody>
      </p:sp>
    </p:spTree>
  </p:cSld>
  <p:clrMapOvr>
    <a:masterClrMapping/>
  </p:clrMapOvr>
  <p:transition spd="med" advClick="1" dur="650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31614"/>
                </a:solidFill>
                <a:latin typeface="Aptos"/>
              </a:rPr>
              <a:t>IDEAS L1C19 — KICKOFF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31614"/>
                </a:solidFill>
                <a:latin typeface="Aptos"/>
              </a:rPr>
              <a:t>PROBLEM &amp; CUSTOMER SEGMENT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86384"/>
            <a:ext cx="1600200" cy="310896"/>
          </a:xfrm>
          <a:prstGeom prst="roundRect">
            <a:avLst>
              <a:gd name="adj" fmla="val 8000"/>
            </a:avLst>
          </a:prstGeom>
          <a:solidFill>
            <a:srgbClr val="183D2B"/>
          </a:solidFill>
          <a:ln w="10160">
            <a:solidFill>
              <a:srgbClr val="18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95528"/>
            <a:ext cx="16002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OUR STARTING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868680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614"/>
                </a:solidFill>
                <a:latin typeface="Aptos Display"/>
              </a:rPr>
              <a:t>Problem &amp; Customer 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01952"/>
            <a:ext cx="104241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C655F"/>
                </a:solidFill>
                <a:latin typeface="Aptos"/>
              </a:rPr>
              <a:t>The record may matter more than the robot: export-linked agriculture requires credible treatment and PHI evidence. Today, that evidence may be fragmented, late or expensive to verify.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670048"/>
            <a:ext cx="3703320" cy="2624328"/>
          </a:xfrm>
          <a:prstGeom prst="roundRect">
            <a:avLst>
              <a:gd name="adj" fmla="val 8000"/>
            </a:avLst>
          </a:prstGeom>
          <a:solidFill>
            <a:srgbClr val="F2F5F0"/>
          </a:solidFill>
          <a:ln w="10160">
            <a:solidFill>
              <a:srgbClr val="D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6265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2D844E"/>
                </a:solidFill>
                <a:latin typeface="Aptos"/>
              </a:rPr>
              <a:t>BEACHHEAD CUSTOMER HYPOTHESIS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401568"/>
            <a:ext cx="306324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131614"/>
                </a:solidFill>
                <a:latin typeface="Aptos Display"/>
              </a:rPr>
              <a:t>Exporter / pack-house
quality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4407408"/>
            <a:ext cx="3063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C655F"/>
                </a:solidFill>
                <a:latin typeface="Aptos"/>
              </a:rPr>
              <a:t>Maharashtra grape and pomegranate clusters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44568" y="2670048"/>
            <a:ext cx="3127248" cy="2624328"/>
          </a:xfrm>
          <a:prstGeom prst="roundRect">
            <a:avLst>
              <a:gd name="adj" fmla="val 8000"/>
            </a:avLst>
          </a:prstGeom>
          <a:solidFill>
            <a:srgbClr val="183D2B"/>
          </a:solidFill>
          <a:ln w="10160">
            <a:solidFill>
              <a:srgbClr val="18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962656"/>
            <a:ext cx="2542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BCE05B"/>
                </a:solidFill>
                <a:latin typeface="Aptos"/>
              </a:rPr>
              <a:t>THE CONSEQUENCE TO 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401568"/>
            <a:ext cx="248716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ptos Display"/>
              </a:rPr>
              <a:t>Audit friction.
Rework. Rejection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4425696"/>
            <a:ext cx="24505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9D3CD"/>
                </a:solidFill>
                <a:latin typeface="Aptos"/>
              </a:rPr>
              <a:t>We have secondary signals—no first-hand cost baseline yet.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670048"/>
            <a:ext cx="3657600" cy="2624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962656"/>
            <a:ext cx="3063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2D844E"/>
                </a:solidFill>
                <a:latin typeface="Aptos"/>
              </a:rPr>
              <a:t>FOUR QUESTIONS DECIDE THE 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401568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D844E"/>
                </a:solidFill>
                <a:latin typeface="Apto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3648" y="3383280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31614"/>
                </a:solidFill>
                <a:latin typeface="Aptos"/>
              </a:rPr>
              <a:t>Is the problem frequent and costly?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831336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D844E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813048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31614"/>
                </a:solidFill>
                <a:latin typeface="Aptos"/>
              </a:rPr>
              <a:t>Who owns the loss and budget?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4261104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D844E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13648" y="4242816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31614"/>
                </a:solidFill>
                <a:latin typeface="Aptos"/>
              </a:rPr>
              <a:t>What evidence is trusted today?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4690872"/>
            <a:ext cx="2560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D844E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4672584"/>
            <a:ext cx="2606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131614"/>
                </a:solidFill>
                <a:latin typeface="Aptos"/>
              </a:rPr>
              <a:t>Will the payer name a ₹ value?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6236208"/>
            <a:ext cx="11045952" cy="10972"/>
          </a:xfrm>
          <a:prstGeom prst="rect">
            <a:avLst/>
          </a:prstGeom>
          <a:solidFill>
            <a:srgbClr val="D6DCD6"/>
          </a:solidFill>
          <a:ln w="10160">
            <a:solidFill>
              <a:srgbClr val="D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336792"/>
            <a:ext cx="8869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55F"/>
                </a:solidFill>
                <a:latin typeface="Aptos"/>
              </a:rPr>
              <a:t>Sources: APEDA GrapeNet / Residue Monitoring workflow; repository evidence [E05–E06], [F17], [G03]. Status: secondary evidence only; 0 AgriRover interviews completed.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55480" y="63367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31614"/>
                </a:solidFill>
                <a:latin typeface="Aptos"/>
              </a:rPr>
              <a:t>TEAM: ANGRY BIRDS</a:t>
            </a:r>
          </a:p>
        </p:txBody>
      </p:sp>
    </p:spTree>
  </p:cSld>
  <p:clrMapOvr>
    <a:masterClrMapping/>
  </p:clrMapOvr>
  <p:transition spd="med" advClick="1" dur="65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31614"/>
                </a:solidFill>
                <a:latin typeface="Aptos"/>
              </a:rPr>
              <a:t>IDEAS L1C19 — KICKOFF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31614"/>
                </a:solidFill>
                <a:latin typeface="Aptos"/>
              </a:rPr>
              <a:t>PROPOSED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86384"/>
            <a:ext cx="1627632" cy="310896"/>
          </a:xfrm>
          <a:prstGeom prst="roundRect">
            <a:avLst>
              <a:gd name="adj" fmla="val 8000"/>
            </a:avLst>
          </a:prstGeom>
          <a:solidFill>
            <a:srgbClr val="183D2B"/>
          </a:solidFill>
          <a:ln w="10160">
            <a:solidFill>
              <a:srgbClr val="18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95528"/>
            <a:ext cx="162763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HYPOTHESIS · NOT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97840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614"/>
                </a:solidFill>
                <a:latin typeface="Aptos Display"/>
              </a:rPr>
              <a:t>Proposed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74519"/>
            <a:ext cx="1042416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C655F"/>
                </a:solidFill>
                <a:latin typeface="Aptos"/>
              </a:rPr>
              <a:t>One trusted evidence record: geotagged, time-stamped treatment + PHI, reviewed by an agronomist and usable by the buyer’s QA workflow.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43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D844E"/>
                </a:solidFill>
                <a:latin typeface="Aptos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127248"/>
            <a:ext cx="2423160" cy="22860"/>
          </a:xfrm>
          <a:prstGeom prst="rect">
            <a:avLst/>
          </a:prstGeom>
          <a:solidFill>
            <a:srgbClr val="D6DCD6"/>
          </a:solidFill>
          <a:ln w="10160">
            <a:solidFill>
              <a:srgbClr val="D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3364992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1614"/>
                </a:solidFill>
                <a:latin typeface="Aptos Display"/>
              </a:rPr>
              <a:t>Observe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3822191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C655F"/>
                </a:solidFill>
                <a:latin typeface="Aptos"/>
              </a:rPr>
              <a:t>Capture what happened in the field.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743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D844E"/>
                </a:solidFill>
                <a:latin typeface="Aptos"/>
              </a:rP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3127248"/>
            <a:ext cx="2423160" cy="22860"/>
          </a:xfrm>
          <a:prstGeom prst="rect">
            <a:avLst/>
          </a:prstGeom>
          <a:solidFill>
            <a:srgbClr val="D6DCD6"/>
          </a:solidFill>
          <a:ln w="10160">
            <a:solidFill>
              <a:srgbClr val="D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3364992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1614"/>
                </a:solidFill>
                <a:latin typeface="Aptos Display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3822191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C655F"/>
                </a:solidFill>
                <a:latin typeface="Aptos"/>
              </a:rPr>
              <a:t>Attach place, time and accountable review.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08192" y="2743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D844E"/>
                </a:solidFill>
                <a:latin typeface="Aptos"/>
              </a:rPr>
              <a:t>03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08192" y="3127248"/>
            <a:ext cx="2423160" cy="22860"/>
          </a:xfrm>
          <a:prstGeom prst="rect">
            <a:avLst/>
          </a:prstGeom>
          <a:solidFill>
            <a:srgbClr val="D6DCD6"/>
          </a:solidFill>
          <a:ln w="10160">
            <a:solidFill>
              <a:srgbClr val="D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2" y="3364992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1614"/>
                </a:solidFill>
                <a:latin typeface="Aptos Display"/>
              </a:rPr>
              <a:t>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8192" y="3822191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C655F"/>
                </a:solidFill>
                <a:latin typeface="Aptos"/>
              </a:rPr>
              <a:t>Map evidence to the buyer’s workflow.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274320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2D844E"/>
                </a:solidFill>
                <a:latin typeface="Aptos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78824" y="3127248"/>
            <a:ext cx="2423160" cy="22860"/>
          </a:xfrm>
          <a:prstGeom prst="rect">
            <a:avLst/>
          </a:prstGeom>
          <a:solidFill>
            <a:srgbClr val="183D2B"/>
          </a:solidFill>
          <a:ln w="10160">
            <a:solidFill>
              <a:srgbClr val="18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78824" y="3364992"/>
            <a:ext cx="23408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31614"/>
                </a:solidFill>
                <a:latin typeface="Aptos Display"/>
              </a:rPr>
              <a:t>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3822191"/>
            <a:ext cx="233172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C655F"/>
                </a:solidFill>
                <a:latin typeface="Aptos"/>
              </a:rPr>
              <a:t>Test whether the buyer will pay.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727448"/>
            <a:ext cx="11045952" cy="1051560"/>
          </a:xfrm>
          <a:prstGeom prst="roundRect">
            <a:avLst>
              <a:gd name="adj" fmla="val 8000"/>
            </a:avLst>
          </a:prstGeom>
          <a:solidFill>
            <a:srgbClr val="131614"/>
          </a:solidFill>
          <a:ln w="10160">
            <a:solidFill>
              <a:srgbClr val="1316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010912"/>
            <a:ext cx="1874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BCE05B"/>
                </a:solidFill>
                <a:latin typeface="Aptos"/>
              </a:rPr>
              <a:t>LEVEL 1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34640" y="4937760"/>
            <a:ext cx="832104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Interview first. Quantify pain. Identify payer. Seek real advancement. Only then decide go, pivot or stop.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6236208"/>
            <a:ext cx="11045952" cy="10972"/>
          </a:xfrm>
          <a:prstGeom prst="rect">
            <a:avLst/>
          </a:prstGeom>
          <a:solidFill>
            <a:srgbClr val="D6DCD6"/>
          </a:solidFill>
          <a:ln w="10160">
            <a:solidFill>
              <a:srgbClr val="D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336792"/>
            <a:ext cx="8869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55F"/>
                </a:solidFill>
                <a:latin typeface="Aptos"/>
              </a:rPr>
              <a:t>No prototype, accuracy, coverage, savings or payback claim is made. The solution is an early value hypothesis to be tested through H1–H8 interviews.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63367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31614"/>
                </a:solidFill>
                <a:latin typeface="Aptos"/>
              </a:rPr>
              <a:t>TEAM: ANGRY BIRDS</a:t>
            </a:r>
          </a:p>
        </p:txBody>
      </p:sp>
    </p:spTree>
  </p:cSld>
  <p:clrMapOvr>
    <a:masterClrMapping/>
  </p:clrMapOvr>
  <p:transition spd="med" advClick="1" dur="650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31614"/>
                </a:solidFill>
                <a:latin typeface="Aptos"/>
              </a:rPr>
              <a:t>IDEAS L1C19 — KICKOFF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131614"/>
                </a:solidFill>
                <a:latin typeface="Aptos"/>
              </a:rPr>
              <a:t>WHY US? WHY NOW?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786384"/>
            <a:ext cx="1325880" cy="310896"/>
          </a:xfrm>
          <a:prstGeom prst="roundRect">
            <a:avLst>
              <a:gd name="adj" fmla="val 8000"/>
            </a:avLst>
          </a:prstGeom>
          <a:solidFill>
            <a:srgbClr val="183D2B"/>
          </a:solidFill>
          <a:ln w="10160">
            <a:solidFill>
              <a:srgbClr val="18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795528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Aptos"/>
              </a:rPr>
              <a:t>TEAM +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1024128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131614"/>
                </a:solidFill>
                <a:latin typeface="Aptos Display"/>
              </a:rPr>
              <a:t>Why Us? Why Now?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38528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5C655F"/>
                </a:solidFill>
                <a:latin typeface="Aptos"/>
              </a:rPr>
              <a:t>A team with agricultural context—and access to people who can challenge our assumptions.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487168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2F5F0"/>
          </a:solidFill>
          <a:ln w="10160">
            <a:solidFill>
              <a:srgbClr val="2D844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651760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2D844E"/>
                </a:solidFill>
                <a:latin typeface="Aptos"/>
              </a:rPr>
              <a:t>PHOTO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487168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614"/>
                </a:solidFill>
                <a:latin typeface="Aptos"/>
              </a:rPr>
              <a:t>PRITISH NANDY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779776"/>
            <a:ext cx="3886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C655F"/>
                </a:solidFill>
                <a:latin typeface="Aptos"/>
              </a:rPr>
              <a:t>Team Head · coordinates Level 1 customer-discovery execution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36976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2F5F0"/>
          </a:solidFill>
          <a:ln w="10160">
            <a:solidFill>
              <a:srgbClr val="2D844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3401568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2D844E"/>
                </a:solidFill>
                <a:latin typeface="Apto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3236976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614"/>
                </a:solidFill>
                <a:latin typeface="Aptos"/>
              </a:rPr>
              <a:t>HITANSHU KAPADIYA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529584"/>
            <a:ext cx="3886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C655F"/>
                </a:solidFill>
                <a:latin typeface="Aptos"/>
              </a:rPr>
              <a:t>Customer discovery · wants to reduce field-to-audit friction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6784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2F5F0"/>
          </a:solidFill>
          <a:ln w="10160">
            <a:solidFill>
              <a:srgbClr val="2D844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151376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2D844E"/>
                </a:solidFill>
                <a:latin typeface="Aptos"/>
              </a:rPr>
              <a:t>PHOTO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5024" y="3986784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614"/>
                </a:solidFill>
                <a:latin typeface="Aptos"/>
              </a:rPr>
              <a:t>VIVEK KUMAR GUPTA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279392"/>
            <a:ext cx="3886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C655F"/>
                </a:solidFill>
                <a:latin typeface="Aptos"/>
              </a:rPr>
              <a:t>From Jaunpur, Uttar Pradesh · agriculture-family background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36592"/>
            <a:ext cx="566928" cy="566928"/>
          </a:xfrm>
          <a:prstGeom prst="roundRect">
            <a:avLst>
              <a:gd name="adj" fmla="val 8000"/>
            </a:avLst>
          </a:prstGeom>
          <a:solidFill>
            <a:srgbClr val="F2F5F0"/>
          </a:solidFill>
          <a:ln w="10160">
            <a:solidFill>
              <a:srgbClr val="2D844E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901183"/>
            <a:ext cx="56692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 i="0">
                <a:solidFill>
                  <a:srgbClr val="2D844E"/>
                </a:solidFill>
                <a:latin typeface="Aptos"/>
              </a:rPr>
              <a:t>PHOTO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35024" y="4736592"/>
            <a:ext cx="3794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31614"/>
                </a:solidFill>
                <a:latin typeface="Aptos"/>
              </a:rPr>
              <a:t>SHREYASH WAGH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5029200"/>
            <a:ext cx="3886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5C655F"/>
                </a:solidFill>
                <a:latin typeface="Aptos"/>
              </a:rPr>
              <a:t>Nashik context · connected to real horticulture workflows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04688" y="2340864"/>
            <a:ext cx="6108192" cy="3310128"/>
          </a:xfrm>
          <a:prstGeom prst="roundRect">
            <a:avLst>
              <a:gd name="adj" fmla="val 8000"/>
            </a:avLst>
          </a:prstGeom>
          <a:solidFill>
            <a:srgbClr val="183D2B"/>
          </a:solidFill>
          <a:ln w="10160">
            <a:solidFill>
              <a:srgbClr val="183D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33872" y="2660904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BCE05B"/>
                </a:solidFill>
                <a:latin typeface="Aptos"/>
              </a:rPr>
              <a:t>CUSTOMER-DISCOVERY ACCESS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33872" y="3182112"/>
            <a:ext cx="100584" cy="100584"/>
          </a:xfrm>
          <a:prstGeom prst="roundRect">
            <a:avLst>
              <a:gd name="adj" fmla="val 8000"/>
            </a:avLst>
          </a:prstGeom>
          <a:solidFill>
            <a:srgbClr val="BCE05B"/>
          </a:solidFill>
          <a:ln w="10160">
            <a:solidFill>
              <a:srgbClr val="BCE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3127248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Tinkerers’ Lab, IIT Bombay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9904" y="3456432"/>
            <a:ext cx="4974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CC3BE"/>
                </a:solidFill>
                <a:latin typeface="Aptos"/>
              </a:rPr>
              <a:t>We are in contact with Ashwini Ma’am to seek guidance and relevant discovery connections; this is access, not validation.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33872" y="4096511"/>
            <a:ext cx="100584" cy="100584"/>
          </a:xfrm>
          <a:prstGeom prst="roundRect">
            <a:avLst>
              <a:gd name="adj" fmla="val 8000"/>
            </a:avLst>
          </a:prstGeom>
          <a:solidFill>
            <a:srgbClr val="BCE05B"/>
          </a:solidFill>
          <a:ln w="10160">
            <a:solidFill>
              <a:srgbClr val="BCE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9904" y="4041648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Agricultural context in the team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89904" y="4370832"/>
            <a:ext cx="4974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CC3BE"/>
                </a:solidFill>
                <a:latin typeface="Aptos"/>
              </a:rPr>
              <a:t>Vivek’s Jaunpur agriculture background and Shreyash’s Nashik context can help recruit grounded conversations.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33872" y="5010912"/>
            <a:ext cx="100584" cy="100584"/>
          </a:xfrm>
          <a:prstGeom prst="roundRect">
            <a:avLst>
              <a:gd name="adj" fmla="val 8000"/>
            </a:avLst>
          </a:prstGeom>
          <a:solidFill>
            <a:srgbClr val="BCE05B"/>
          </a:solidFill>
          <a:ln w="10160">
            <a:solidFill>
              <a:srgbClr val="BCE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89904" y="4956048"/>
            <a:ext cx="4974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Online evidence guides—not replaces—interviews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9904" y="5285232"/>
            <a:ext cx="4974336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CC3BE"/>
                </a:solidFill>
                <a:latin typeface="Aptos"/>
              </a:rPr>
              <a:t>APEDA traceability, PHI and market evidence will shape questions; customer statements will test the thesis.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6236208"/>
            <a:ext cx="11045952" cy="10972"/>
          </a:xfrm>
          <a:prstGeom prst="rect">
            <a:avLst/>
          </a:prstGeom>
          <a:solidFill>
            <a:srgbClr val="D6DCD6"/>
          </a:solidFill>
          <a:ln w="10160">
            <a:solidFill>
              <a:srgbClr val="D6DC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336792"/>
            <a:ext cx="8869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5C655F"/>
                </a:solidFill>
                <a:latin typeface="Aptos"/>
              </a:rPr>
              <a:t>Team/access details: supplied by Team Angry Birds. Public discovery context: APEDA traceability and PHI guidance; repository evidence register. No endorsement or validation is implied.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63367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131614"/>
                </a:solidFill>
                <a:latin typeface="Aptos"/>
              </a:rPr>
              <a:t>TEAM: ANGRY BIRDS</a:t>
            </a:r>
          </a:p>
        </p:txBody>
      </p:sp>
    </p:spTree>
  </p:cSld>
  <p:clrMapOvr>
    <a:masterClrMapping/>
  </p:clrMapOvr>
  <p:transition spd="med" advClick="1" dur="650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16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IDEAS L1C19 — KICKOFF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29260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78992"/>
            <a:ext cx="109728" cy="4434840"/>
          </a:xfrm>
          <a:prstGeom prst="rect">
            <a:avLst/>
          </a:prstGeom>
          <a:solidFill>
            <a:srgbClr val="BCE05B"/>
          </a:solidFill>
          <a:ln w="10160">
            <a:solidFill>
              <a:srgbClr val="BCE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353312"/>
            <a:ext cx="9966960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 i="0">
                <a:solidFill>
                  <a:srgbClr val="FFFFFF"/>
                </a:solidFill>
                <a:latin typeface="Aptos Display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42032"/>
            <a:ext cx="896112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BCE05B"/>
                </a:solidFill>
                <a:latin typeface="Aptos Display"/>
              </a:rPr>
              <a:t>Level 1 begins with listening—not building.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401568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D2DAD4"/>
                </a:solidFill>
                <a:latin typeface="Aptos"/>
              </a:rPr>
              <a:t>Next: test the customer, pain, payer and value hypotheses through structured discovery.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54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TEAM NAME: ANGRY BIRDS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166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B7C0BA"/>
                </a:solidFill>
                <a:latin typeface="Aptos"/>
              </a:rPr>
              <a:t>14 AUGUST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6236208"/>
            <a:ext cx="11045952" cy="10972"/>
          </a:xfrm>
          <a:prstGeom prst="rect">
            <a:avLst/>
          </a:prstGeom>
          <a:solidFill>
            <a:srgbClr val="3E4440"/>
          </a:solidFill>
          <a:ln w="10160">
            <a:solidFill>
              <a:srgbClr val="3E4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336792"/>
            <a:ext cx="8869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DB4AF"/>
                </a:solidFill>
                <a:latin typeface="Aptos"/>
              </a:rPr>
              <a:t>IDEAS L1C19 — Kickoff · Desai Sethi School of Entrepreneurship, IIT Bombay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5480" y="6336792"/>
            <a:ext cx="2057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TEAM: ANGRY BIRDS</a:t>
            </a:r>
          </a:p>
        </p:txBody>
      </p:sp>
    </p:spTree>
  </p:cSld>
  <p:clrMapOvr>
    <a:masterClrMapping/>
  </p:clrMapOvr>
  <p:transition spd="med" advClick="1" dur="65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AgriRover — IDEAS IIT Bombay Level 1 Kickoff</dc:title>
  <dc:subject>Customer discovery: customer, pain, payer and value hypothesis</dc:subject>
  <dc:creator>Team Angry Birds, IIT Bombay</dc:creator>
  <cp:keywords/>
  <dc:description>14 August 2026. Secondary evidence is identified; no prototype or field validation claim is made.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