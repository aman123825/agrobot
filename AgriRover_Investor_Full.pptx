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Gupta" userId="4377cade93e2837d" providerId="LiveId" clId="{CCB60361-FCF7-424E-9244-3B5978FC8DEA}"/>
    <pc:docChg chg="modSld">
      <pc:chgData name="Vivek Gupta" userId="4377cade93e2837d" providerId="LiveId" clId="{CCB60361-FCF7-424E-9244-3B5978FC8DEA}" dt="2026-07-08T15:03:23.096" v="162" actId="20577"/>
      <pc:docMkLst>
        <pc:docMk/>
      </pc:docMkLst>
      <pc:sldChg chg="modSp mod">
        <pc:chgData name="Vivek Gupta" userId="4377cade93e2837d" providerId="LiveId" clId="{CCB60361-FCF7-424E-9244-3B5978FC8DEA}" dt="2026-07-08T15:03:23.096" v="162" actId="20577"/>
        <pc:sldMkLst>
          <pc:docMk/>
          <pc:sldMk cId="0" sldId="264"/>
        </pc:sldMkLst>
        <pc:spChg chg="mod">
          <ac:chgData name="Vivek Gupta" userId="4377cade93e2837d" providerId="LiveId" clId="{CCB60361-FCF7-424E-9244-3B5978FC8DEA}" dt="2026-07-08T14:56:53.517" v="11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Vivek Gupta" userId="4377cade93e2837d" providerId="LiveId" clId="{CCB60361-FCF7-424E-9244-3B5978FC8DEA}" dt="2026-07-08T14:58:38.413" v="32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Vivek Gupta" userId="4377cade93e2837d" providerId="LiveId" clId="{CCB60361-FCF7-424E-9244-3B5978FC8DEA}" dt="2026-07-08T15:00:35.121" v="83" actId="2057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Vivek Gupta" userId="4377cade93e2837d" providerId="LiveId" clId="{CCB60361-FCF7-424E-9244-3B5978FC8DEA}" dt="2026-07-08T15:03:23.096" v="162" actId="20577"/>
          <ac:spMkLst>
            <pc:docMk/>
            <pc:sldMk cId="0" sldId="264"/>
            <ac:spMk id="1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Image_0_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0"/>
            <a:ext cx="48006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30352"/>
            <a:ext cx="237744" cy="237744"/>
          </a:xfrm>
          <a:prstGeom prst="roundRect">
            <a:avLst>
              <a:gd name="adj" fmla="val 3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" y="51206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A22"/>
                </a:solidFill>
                <a:latin typeface="Calibri"/>
              </a:rPr>
              <a:t>AgriRover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400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F2A22"/>
                </a:solidFill>
                <a:latin typeface="Calibri"/>
              </a:rPr>
              <a:t>Precision farming</a:t>
            </a:r>
          </a:p>
          <a:p>
            <a:pPr algn="l">
              <a:lnSpc>
                <a:spcPct val="102000"/>
              </a:lnSpc>
            </a:pPr>
            <a:r>
              <a:rPr sz="4000" b="1">
                <a:solidFill>
                  <a:srgbClr val="1E4D36"/>
                </a:solidFill>
                <a:latin typeface="Calibri"/>
              </a:rPr>
              <a:t>for every small farm.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C6B5E"/>
                </a:solidFill>
                <a:latin typeface="Calibri"/>
              </a:rPr>
              <a:t>A small self-driving rover that checks the soil, looks at every plant, and gives each one exactly what it needs — nothing more, nothing wasted.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434840"/>
            <a:ext cx="2697480" cy="402336"/>
          </a:xfrm>
          <a:prstGeom prst="roundRect">
            <a:avLst>
              <a:gd name="adj" fmla="val 50000"/>
            </a:avLst>
          </a:prstGeom>
          <a:solidFill>
            <a:srgbClr val="1E4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IITB–Groww INV.ENT · Track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2A22"/>
                </a:solidFill>
                <a:latin typeface="Calibri"/>
              </a:rPr>
              <a:t>Hitanshu Kapadiya · Vivek Gupta · Shreyash Wagh · Pritish Nandy</a:t>
            </a:r>
          </a:p>
          <a:p>
            <a:pPr algn="l"/>
            <a:r>
              <a:rPr sz="1050" b="0">
                <a:solidFill>
                  <a:srgbClr val="5C6B5E"/>
                </a:solidFill>
                <a:latin typeface="Calibri"/>
              </a:rPr>
              <a:t>Team of 4 · IIT Bombay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_Image_0_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0"/>
            <a:ext cx="48006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486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050" b="1">
                <a:solidFill>
                  <a:srgbClr val="1E4D36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>
                <a:solidFill>
                  <a:srgbClr val="1F2A22"/>
                </a:solidFill>
                <a:latin typeface="Calibri"/>
              </a:rPr>
              <a:t>Farmers spend more every year —</a:t>
            </a:r>
          </a:p>
          <a:p>
            <a:pPr algn="l">
              <a:lnSpc>
                <a:spcPct val="102000"/>
              </a:lnSpc>
            </a:pPr>
            <a:r>
              <a:rPr sz="2700" b="1">
                <a:solidFill>
                  <a:srgbClr val="1E4D36"/>
                </a:solidFill>
                <a:latin typeface="Calibri"/>
              </a:rPr>
              <a:t>and waste much of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84831"/>
            <a:ext cx="6355080" cy="117043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03703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A22"/>
                </a:solidFill>
                <a:latin typeface="Calibri"/>
              </a:rPr>
              <a:t>Farming is done blind.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05456"/>
            <a:ext cx="5897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B5E"/>
                </a:solidFill>
                <a:latin typeface="Calibri"/>
              </a:rPr>
              <a:t>Fertilizer and water are spread evenly by hand, because there is no way to know what each plant needs. A big share is simply wasted.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01568"/>
            <a:ext cx="6355080" cy="117043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520439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A22"/>
                </a:solidFill>
                <a:latin typeface="Calibri"/>
              </a:rPr>
              <a:t>Waste costs real money.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22191"/>
            <a:ext cx="5897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B5E"/>
                </a:solidFill>
                <a:latin typeface="Calibri"/>
              </a:rPr>
              <a:t>Fertilizer, chemicals and labor get costlier every season — and over-use quietly damages the soil for years to come.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18304"/>
            <a:ext cx="6355080" cy="117043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837176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A22"/>
                </a:solidFill>
                <a:latin typeface="Calibri"/>
              </a:rPr>
              <a:t>Existing machines don't fit.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38928"/>
            <a:ext cx="5897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B5E"/>
                </a:solidFill>
                <a:latin typeface="Calibri"/>
              </a:rPr>
              <a:t>86% of India's farms are under 2 hectares — too small for tractors and big precision equipment. A lab soil test takes 2–3 weeks, so almost nobody does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71616"/>
            <a:ext cx="6355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1E4D36"/>
                </a:solidFill>
                <a:latin typeface="Calibri"/>
              </a:rPr>
              <a:t>From our field visits: fertilizer is still thrown by hand — evenly, everywhere, every season.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AgriRover · IITB–Groww INV.ENT · Track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A8B5A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6_Image_0_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0"/>
            <a:ext cx="48006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4864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050" b="1">
                <a:solidFill>
                  <a:srgbClr val="1E4D36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6492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F2A22"/>
                </a:solidFill>
                <a:latin typeface="Calibri"/>
              </a:rPr>
              <a:t>A small rover that farms </a:t>
            </a:r>
            <a:r>
              <a:rPr sz="2700" b="1">
                <a:solidFill>
                  <a:srgbClr val="1E4D36"/>
                </a:solidFill>
                <a:latin typeface="Calibri"/>
              </a:rPr>
              <a:t>plant by plant.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C6B5E"/>
                </a:solidFill>
                <a:latin typeface="Calibri"/>
              </a:rPr>
              <a:t>It drives the crop rows on its own and treats every plant individually — like a careful farmhand that never gets tired.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127248" cy="126187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1" y="22951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5" y="23317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F2A22"/>
                </a:solidFill>
                <a:latin typeface="Calibri"/>
              </a:rPr>
              <a:t>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715768"/>
            <a:ext cx="27980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B5E"/>
                </a:solidFill>
                <a:latin typeface="Calibri"/>
              </a:rPr>
              <a:t>A probe dips into the soil and reads its health in seconds — no lab, no waiting.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0208" y="2148840"/>
            <a:ext cx="3127248" cy="126187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0" y="22951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3317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F2A22"/>
                </a:solidFill>
                <a:latin typeface="Calibri"/>
              </a:rPr>
              <a:t>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15768"/>
            <a:ext cx="27980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B5E"/>
                </a:solidFill>
                <a:latin typeface="Calibri"/>
              </a:rPr>
              <a:t>An AI camera spots weeds and sick plants as the rover drives the rows.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47872"/>
            <a:ext cx="3127248" cy="126187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1" y="36941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" y="37307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F2A22"/>
                </a:solidFill>
                <a:latin typeface="Calibri"/>
              </a:rPr>
              <a:t>TREAT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114800"/>
            <a:ext cx="27980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B5E"/>
                </a:solidFill>
                <a:latin typeface="Calibri"/>
              </a:rPr>
              <a:t>Drops fertilizer or a tiny spray only where it is needed, plant by plant.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50208" y="3547872"/>
            <a:ext cx="3127248" cy="126187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114800" y="36941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7307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F2A22"/>
                </a:solidFill>
                <a:latin typeface="Calibri"/>
              </a:rPr>
              <a:t>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114800"/>
            <a:ext cx="27980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B5E"/>
                </a:solidFill>
                <a:latin typeface="Calibri"/>
              </a:rPr>
              <a:t>Sends a simple map to the farmer's phone: what it found, what it did.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10912"/>
            <a:ext cx="6437376" cy="1188720"/>
          </a:xfrm>
          <a:prstGeom prst="roundRect">
            <a:avLst>
              <a:gd name="adj" fmla="val 8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138928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4D36"/>
                </a:solidFill>
                <a:latin typeface="Calibri"/>
              </a:rPr>
              <a:t>HOW IT WORKS INSIDE — TWO BRAINS, ALWAYS SAFE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31536"/>
            <a:ext cx="5989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F2A22"/>
                </a:solidFill>
                <a:latin typeface="Calibri"/>
              </a:rPr>
              <a:t>A thinking brain</a:t>
            </a:r>
            <a:r>
              <a:rPr sz="1100" b="0">
                <a:solidFill>
                  <a:srgbClr val="5C6B5E"/>
                </a:solidFill>
                <a:latin typeface="Calibri"/>
              </a:rPr>
              <a:t> sees and decides; an </a:t>
            </a:r>
            <a:r>
              <a:rPr sz="1100" b="1">
                <a:solidFill>
                  <a:srgbClr val="1F2A22"/>
                </a:solidFill>
                <a:latin typeface="Calibri"/>
              </a:rPr>
              <a:t>acting brain</a:t>
            </a:r>
            <a:r>
              <a:rPr sz="1100" b="0">
                <a:solidFill>
                  <a:srgbClr val="5C6B5E"/>
                </a:solidFill>
                <a:latin typeface="Calibri"/>
              </a:rPr>
              <a:t> drives and doses. If anything fails — camera, AI or signal — the rover simply stops. It cannot run away or overdose a plant.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AgriRover · IITB–Groww INV.ENT · Track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A8B5A8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050" b="1">
                <a:solidFill>
                  <a:srgbClr val="1E4D36"/>
                </a:solidFill>
                <a:latin typeface="Calibri"/>
              </a:rP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F2A22"/>
                </a:solidFill>
                <a:latin typeface="Calibri"/>
              </a:rPr>
              <a:t>India already builds farm robots and drones. </a:t>
            </a:r>
            <a:r>
              <a:rPr sz="2500" b="1">
                <a:solidFill>
                  <a:srgbClr val="1E4D36"/>
                </a:solidFill>
                <a:latin typeface="Calibri"/>
              </a:rPr>
              <a:t>None reach the small farm.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27632"/>
            <a:ext cx="5257800" cy="1481328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46504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4D36"/>
                </a:solidFill>
                <a:latin typeface="Calibri"/>
              </a:rPr>
              <a:t>XMACHINES · Hyderabad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2A22"/>
                </a:solidFill>
                <a:latin typeface="Calibri"/>
              </a:rPr>
              <a:t>Autonomous field robots (X100, Neo)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04288"/>
            <a:ext cx="4800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6B5E"/>
                </a:solidFill>
                <a:latin typeface="Calibri"/>
              </a:rPr>
              <a:t>Serious machines for weeding, spraying and mowing — RTK-GPS, AI vision, 300 kg payload. But the Neo is priced at $19,995 (≈ ₹17 lakh) and aimed at large farms and export markets. No in-soil nutrient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55264"/>
            <a:ext cx="5257800" cy="1481328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374136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4D36"/>
                </a:solidFill>
                <a:latin typeface="Calibri"/>
              </a:rPr>
              <a:t>MARUT DRONES · Hyderabad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39312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2A22"/>
                </a:solidFill>
                <a:latin typeface="Calibri"/>
              </a:rPr>
              <a:t>AG365 certified spray drone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00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C6B5E"/>
                </a:solidFill>
                <a:latin typeface="Calibri"/>
              </a:rPr>
              <a:t>Sprays 6 acres an hour from the sky; service model at ~₹400/acre. But the drone costs ₹7–10 lakh, needs a licensed pilot, and it is blanket spraying — it cannot test soil or treat one plant differently from the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82896"/>
            <a:ext cx="5257800" cy="1170432"/>
          </a:xfrm>
          <a:prstGeom prst="roundRect">
            <a:avLst>
              <a:gd name="adj" fmla="val 7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001768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4D36"/>
                </a:solidFill>
                <a:latin typeface="Calibri"/>
              </a:rPr>
              <a:t>WHAT THEY PROVE — AND MISS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85232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F2A22"/>
                </a:solidFill>
                <a:latin typeface="Calibri"/>
              </a:rPr>
              <a:t>Both prove Indian farms will pay for automation. Both are priced for the 14% of farms above 2 hectares. The other 86% is open — that's ours.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27632"/>
            <a:ext cx="5349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22"/>
                </a:solidFill>
                <a:latin typeface="Calibri"/>
              </a:rPr>
              <a:t>Head to head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0" y="2084831"/>
            <a:ext cx="1005840" cy="3090672"/>
          </a:xfrm>
          <a:prstGeom prst="rect">
            <a:avLst/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2432303"/>
            <a:ext cx="4343400" cy="45720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3346703"/>
            <a:ext cx="4343400" cy="45720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4261104"/>
            <a:ext cx="4343400" cy="457200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5C6B5E"/>
                </a:solidFill>
                <a:latin typeface="Calibri"/>
              </a:rPr>
              <a:t>XMACHINES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5C6B5E"/>
                </a:solidFill>
                <a:latin typeface="Calibri"/>
              </a:rPr>
              <a:t>MARUT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1396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1E4D36"/>
                </a:solidFill>
                <a:latin typeface="Calibri"/>
              </a:rPr>
              <a:t>AGRIROVER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2432303"/>
            <a:ext cx="222199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F2A22"/>
                </a:solidFill>
                <a:latin typeface="Calibri"/>
              </a:rPr>
              <a:t>Machine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43230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1F2A22"/>
                </a:solidFill>
                <a:latin typeface="Calibri"/>
              </a:rPr>
              <a:t>~₹17 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43230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1F2A22"/>
                </a:solidFill>
                <a:latin typeface="Calibri"/>
              </a:rPr>
              <a:t>₹7–10 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243230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1E4D36"/>
                </a:solidFill>
                <a:latin typeface="Calibri"/>
              </a:rPr>
              <a:t>&lt;₹0.5 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2889503"/>
            <a:ext cx="222199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F2A22"/>
                </a:solidFill>
                <a:latin typeface="Calibri"/>
              </a:rPr>
              <a:t>On-the-spot soil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88950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88950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288950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3346703"/>
            <a:ext cx="222199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F2A22"/>
                </a:solidFill>
                <a:latin typeface="Calibri"/>
              </a:rPr>
              <a:t>Per-plant fertilizer dose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34670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334670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34670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3803904"/>
            <a:ext cx="222199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F2A22"/>
                </a:solidFill>
                <a:latin typeface="Calibri"/>
              </a:rPr>
              <a:t>Spot-sprays single weeds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80390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380390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380390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4261104"/>
            <a:ext cx="222199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F2A22"/>
                </a:solidFill>
                <a:latin typeface="Calibri"/>
              </a:rPr>
              <a:t>Fits a 1-acre veg. plot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26110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426110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426110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81928" y="4718304"/>
            <a:ext cx="222199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F2A22"/>
                </a:solidFill>
                <a:latin typeface="Calibri"/>
              </a:rPr>
              <a:t>No licensed pilot needed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71830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471830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471830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312664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C6B5E"/>
                </a:solidFill>
                <a:latin typeface="Calibri"/>
              </a:rPr>
              <a:t>A drone looks from the sky. A big robot works the big farm. AgriRover is the first one cheap enough — and small enough — for the farmer with one acre of vegetables.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AgriRover · IITB–Groww INV.ENT · Track 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442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A8B5A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0292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050" b="1">
                <a:solidFill>
                  <a:srgbClr val="1E4D36"/>
                </a:solidFill>
                <a:latin typeface="Calibri"/>
              </a:rPr>
              <a:t>WHY I'M BUILDING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F2A22"/>
                </a:solidFill>
                <a:latin typeface="Calibri"/>
              </a:rPr>
              <a:t>I grew up in the fields </a:t>
            </a:r>
            <a:r>
              <a:rPr sz="2700" b="1">
                <a:solidFill>
                  <a:srgbClr val="1E4D36"/>
                </a:solidFill>
                <a:latin typeface="Calibri"/>
              </a:rPr>
              <a:t>this is built for.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6309360" cy="1225296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58521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1">
                <a:solidFill>
                  <a:srgbClr val="1F2A22"/>
                </a:solidFill>
                <a:latin typeface="Calibri"/>
              </a:rPr>
              <a:t>My name is Vivek Kumar Gupta. </a:t>
            </a:r>
            <a:r>
              <a:rPr sz="1100" b="0">
                <a:solidFill>
                  <a:srgbClr val="5C6B5E"/>
                </a:solidFill>
                <a:latin typeface="Calibri"/>
              </a:rPr>
              <a:t>I study Mechanical Engineering at IIT Bombay, but I come from a farmer family in Jaunpur, Uttar Pradesh. My family grows what most of eastern UP grows: rice in kharif, wheat in rabi, season after season.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63240"/>
            <a:ext cx="6309360" cy="1225296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58521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1">
                <a:solidFill>
                  <a:srgbClr val="1F2A22"/>
                </a:solidFill>
                <a:latin typeface="Calibri"/>
              </a:rPr>
              <a:t>Every season, the same ritual. </a:t>
            </a:r>
            <a:r>
              <a:rPr sz="1100" b="0">
                <a:solidFill>
                  <a:srgbClr val="5C6B5E"/>
                </a:solidFill>
                <a:latin typeface="Calibri"/>
              </a:rPr>
              <a:t>Urea thrown by hand — evenly, everywhere — because no one knows what the soil actually needs. The nearest soil lab is a bus ride away and the report takes 2–3 weeks. In ten years, I have never seen a neighbour test twice.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6309360" cy="1225296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58521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100" b="1">
                <a:solidFill>
                  <a:srgbClr val="1F2A22"/>
                </a:solidFill>
                <a:latin typeface="Calibri"/>
              </a:rPr>
              <a:t>Our wheat and rice can't use this rover — and that's the point. </a:t>
            </a:r>
            <a:r>
              <a:rPr sz="1100" b="0">
                <a:solidFill>
                  <a:srgbClr val="5C6B5E"/>
                </a:solidFill>
                <a:latin typeface="Calibri"/>
              </a:rPr>
              <a:t>Broadcast-sown grain leaves no path for a machine to walk. But all around us, the money crops — tomato, chilli, cauliflower, potato, brinjal — are planted in neat rows. Rows a small rover can drive. Those plots take the most fertilizer and spray per acre, and lose the most when it's wasted.</a:t>
            </a:r>
          </a:p>
        </p:txBody>
      </p:sp>
      <p:pic>
        <p:nvPicPr>
          <p:cNvPr id="10" name="Picture 9" descr="s9_Im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91640"/>
            <a:ext cx="4343400" cy="246333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178040" y="4251960"/>
            <a:ext cx="4343400" cy="1572768"/>
          </a:xfrm>
          <a:prstGeom prst="roundRect">
            <a:avLst>
              <a:gd name="adj" fmla="val 9000"/>
            </a:avLst>
          </a:prstGeom>
          <a:solidFill>
            <a:srgbClr val="1E4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09728" rIns="201168" bIns="109728" rtlCol="0" anchor="ctr"/>
          <a:lstStyle/>
          <a:p>
            <a:pPr algn="ctr">
              <a:lnSpc>
                <a:spcPct val="115000"/>
              </a:lnSpc>
            </a:pPr>
            <a:r>
              <a:rPr sz="1200" i="1">
                <a:solidFill>
                  <a:srgbClr val="FFFFFF"/>
                </a:solidFill>
                <a:latin typeface="Calibri"/>
              </a:rPr>
              <a:t>“I couldn't build a robot for my father's rice. So I built one for every crop planted in rows — starting with the vegetable plots around my own village.”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FFFFF"/>
                </a:solidFill>
                <a:latin typeface="Calibri"/>
              </a:rPr>
              <a:t>— Vivek, AgriRover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24727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1E4D36"/>
                </a:solidFill>
                <a:latin typeface="Calibri"/>
              </a:rPr>
              <a:t>First pilot fields: the row-crop vegetable plots around Jaunpur — farmers we already know by name.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AgriRover · IITB–Groww INV.ENT · Track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A8B5A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3_Image_0_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0"/>
            <a:ext cx="48006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0292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050" b="1">
                <a:solidFill>
                  <a:srgbClr val="1E4D36"/>
                </a:solidFill>
                <a:latin typeface="Calibri"/>
              </a:rPr>
              <a:t>MARKET, MODEL &amp;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492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F2A22"/>
                </a:solidFill>
                <a:latin typeface="Calibri"/>
              </a:rPr>
              <a:t>A big market. </a:t>
            </a:r>
            <a:r>
              <a:rPr sz="2700" b="1">
                <a:solidFill>
                  <a:srgbClr val="1E4D36"/>
                </a:solidFill>
                <a:latin typeface="Calibri"/>
              </a:rPr>
              <a:t>A simple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4D36"/>
                </a:solidFill>
                <a:latin typeface="Calibri"/>
              </a:rPr>
              <a:t>146M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84831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B5E"/>
                </a:solidFill>
                <a:latin typeface="Calibri"/>
              </a:rPr>
              <a:t>farm holdings in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2928" y="164592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4D36"/>
                </a:solidFill>
                <a:latin typeface="Calibri"/>
              </a:rPr>
              <a:t>86%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2084831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B5E"/>
                </a:solidFill>
                <a:latin typeface="Calibri"/>
              </a:rPr>
              <a:t>of farms under 2 hectares — our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5776" y="164592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4D36"/>
                </a:solidFill>
                <a:latin typeface="Calibri"/>
              </a:rPr>
              <a:t>$2.5Bn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5776" y="2084831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B5E"/>
                </a:solidFill>
                <a:latin typeface="Calibri"/>
              </a:rPr>
              <a:t>India agritech market by 2034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88920"/>
            <a:ext cx="6492240" cy="1298448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2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4D36"/>
                </a:solidFill>
                <a:latin typeface="Calibri"/>
              </a:rPr>
              <a:t>HOW WE 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6035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F2A22"/>
                </a:solidFill>
                <a:latin typeface="Calibri"/>
              </a:rPr>
              <a:t>1.  Sell the rover with a yearly service plan.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F2A22"/>
                </a:solidFill>
                <a:latin typeface="Calibri"/>
              </a:rPr>
              <a:t>2.  Rent it per acre through farmer groups (FPOs) — no upfront cost for the farmer.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F2A22"/>
                </a:solidFill>
                <a:latin typeface="Calibri"/>
              </a:rPr>
              <a:t>3.  Monthly subscription for soil-health and crop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24528"/>
            <a:ext cx="6492240" cy="960120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334256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4D36"/>
                </a:solidFill>
                <a:latin typeface="Calibri"/>
              </a:rPr>
              <a:t>WHERE WE ARE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17720"/>
            <a:ext cx="6035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6B5E"/>
                </a:solidFill>
                <a:latin typeface="Calibri"/>
              </a:rPr>
              <a:t>Full software stack — driving, AI vision, navigation, farmer dashboard — built and tested in simulation. Hardware fully designed and costed: ₹27,000–48,000 per rover.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6492240" cy="868680"/>
          </a:xfrm>
          <a:prstGeom prst="roundRect">
            <a:avLst>
              <a:gd name="adj" fmla="val 9000"/>
            </a:avLst>
          </a:prstGeom>
          <a:solidFill>
            <a:srgbClr val="1E4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3152" rIns="228600" bIns="73152" rtlCol="0" anchor="ctr"/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The ask:  </a:t>
            </a:r>
            <a:r>
              <a:rPr sz="1250" b="0">
                <a:solidFill>
                  <a:srgbClr val="FFFFFF"/>
                </a:solidFill>
                <a:latin typeface="Calibri"/>
              </a:rPr>
              <a:t>seed support to build the first prototype, plus a pilot with one farmer group to prove 30–50% input savings on real farms.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AgriRover · IITB–Groww INV.ENT · Track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A8B5A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02920"/>
            <a:ext cx="2606040" cy="310896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050" b="1">
                <a:solidFill>
                  <a:srgbClr val="1E4D36"/>
                </a:solidFill>
                <a:latin typeface="Calibri"/>
              </a:rPr>
              <a:t>POC HYPOTHESIS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F2A22"/>
                </a:solidFill>
                <a:latin typeface="Calibri"/>
              </a:rPr>
              <a:t>One season. Three plots. </a:t>
            </a:r>
            <a:r>
              <a:rPr sz="2700" b="1">
                <a:solidFill>
                  <a:srgbClr val="1E4D36"/>
                </a:solidFill>
                <a:latin typeface="Calibri"/>
              </a:rPr>
              <a:t>Numbers, not promises.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881360" cy="896112"/>
          </a:xfrm>
          <a:prstGeom prst="roundRect">
            <a:avLst>
              <a:gd name="adj" fmla="val 8000"/>
            </a:avLst>
          </a:prstGeom>
          <a:solidFill>
            <a:srgbClr val="1E4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54864" rIns="228600" bIns="54864" rtlCol="0" anchor="ctr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HYPOTHESIS:  </a:t>
            </a:r>
            <a:r>
              <a:rPr sz="1250">
                <a:solidFill>
                  <a:srgbClr val="FFFFFF"/>
                </a:solidFill>
                <a:latin typeface="Calibri"/>
              </a:rPr>
              <a:t>if soil is sensed and fertilizer dosed plant-by-plant on row vegetables, the farmer saves 30–50% of input cost with no loss of yield.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0881360" cy="786384"/>
          </a:xfrm>
          <a:prstGeom prst="roundRect">
            <a:avLst>
              <a:gd name="adj" fmla="val 8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852928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4D36"/>
                </a:solidFill>
                <a:latin typeface="Calibri"/>
              </a:rPr>
              <a:t>HOW WE TEST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2A22"/>
                </a:solidFill>
                <a:latin typeface="Calibri"/>
              </a:rPr>
              <a:t>A/B on 3 vegetable plots (Jaunpur network), one growing season: half of each plot farmed as usual, half managed by AgriRover. Same seed, same water, same farmer.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3401568" cy="1097280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385876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E4D36"/>
                </a:solidFill>
                <a:latin typeface="Calibri"/>
              </a:rPr>
              <a:t>−30–50%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251959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2A22"/>
                </a:solidFill>
                <a:latin typeface="Calibri"/>
              </a:rPr>
              <a:t>fertilizer used per acre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51713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B5E"/>
                </a:solidFill>
                <a:latin typeface="Calibri"/>
              </a:rPr>
              <a:t>measured in kg, A vs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3749039"/>
            <a:ext cx="3401568" cy="1097280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385876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E4D36"/>
                </a:solidFill>
                <a:latin typeface="Calibri"/>
              </a:rPr>
              <a:t>−60–80%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4251959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2A22"/>
                </a:solidFill>
                <a:latin typeface="Calibri"/>
              </a:rPr>
              <a:t>weedkiller sprayed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451713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B5E"/>
                </a:solidFill>
                <a:latin typeface="Calibri"/>
              </a:rPr>
              <a:t>spot-spray vs blanket spray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18704" y="3749039"/>
            <a:ext cx="3401568" cy="1097280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01583" y="385876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E4D36"/>
                </a:solidFill>
                <a:latin typeface="Calibri"/>
              </a:rPr>
              <a:t>±0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3" y="4251959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2A22"/>
                </a:solidFill>
                <a:latin typeface="Calibri"/>
              </a:rPr>
              <a:t>yield per acre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451713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B5E"/>
                </a:solidFill>
                <a:latin typeface="Calibri"/>
              </a:rPr>
              <a:t>must not drop — else we fail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83480"/>
            <a:ext cx="3401568" cy="1097280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" y="50932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E4D36"/>
                </a:solidFill>
                <a:latin typeface="Calibri"/>
              </a:rPr>
              <a:t>30 sec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54864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2A22"/>
                </a:solidFill>
                <a:latin typeface="Calibri"/>
              </a:rPr>
              <a:t>soil test, in the 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75157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B5E"/>
                </a:solidFill>
                <a:latin typeface="Calibri"/>
              </a:rPr>
              <a:t>vs 2–3 weeks at a lab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4983480"/>
            <a:ext cx="3401568" cy="1097280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62272" y="50932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E4D36"/>
                </a:solidFill>
                <a:latin typeface="Calibri"/>
              </a:rPr>
              <a:t>1 acre/day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54864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2A22"/>
                </a:solidFill>
                <a:latin typeface="Calibri"/>
              </a:rPr>
              <a:t>covered per rover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575157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B5E"/>
                </a:solidFill>
                <a:latin typeface="Calibri"/>
              </a:rPr>
              <a:t>coverage &amp; uptime logged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18704" y="4983480"/>
            <a:ext cx="3401568" cy="1097280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01583" y="50932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E4D36"/>
                </a:solidFill>
                <a:latin typeface="Calibri"/>
              </a:rPr>
              <a:t>&lt;2 seasons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3" y="54864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2A22"/>
                </a:solidFill>
                <a:latin typeface="Calibri"/>
              </a:rPr>
              <a:t>payback for the farmer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1583" y="575157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5C6B5E"/>
                </a:solidFill>
                <a:latin typeface="Calibri"/>
              </a:rPr>
              <a:t>input savings vs rover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AgriRover · IITB–Groww INV.ENT · Track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A8B5A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029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050" b="1">
                <a:solidFill>
                  <a:srgbClr val="1E4D36"/>
                </a:solidFill>
                <a:latin typeface="Calibri"/>
              </a:rPr>
              <a:t>EXECUTION &amp; BUSINESS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F2A22"/>
                </a:solidFill>
                <a:latin typeface="Calibri"/>
              </a:rPr>
              <a:t>Build. Test. Iterate. </a:t>
            </a:r>
            <a:r>
              <a:rPr sz="2700" b="1">
                <a:solidFill>
                  <a:srgbClr val="1E4D36"/>
                </a:solidFill>
                <a:latin typeface="Calibri"/>
              </a:rPr>
              <a:t>Then rent it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456432" cy="2011680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8288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E4D36"/>
                </a:solidFill>
                <a:latin typeface="Calibri"/>
              </a:rPr>
              <a:t>M1 ·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52928" y="18288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1E4D36"/>
                </a:solidFill>
                <a:latin typeface="Calibri"/>
              </a:rPr>
              <a:t>Weeks 1–8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12848"/>
            <a:ext cx="30632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C6B5E"/>
                </a:solidFill>
                <a:latin typeface="Calibri"/>
              </a:rPr>
              <a:t>Assemble the first rover from our fully-costed BOM (₹27–48k). The design, wiring and firmware are already done — this is assembly and bench testing, then autonomous runs on campus.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91640"/>
            <a:ext cx="3456432" cy="2011680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848" y="18288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E4D36"/>
                </a:solidFill>
                <a:latin typeface="Calibri"/>
              </a:rPr>
              <a:t>M2 ·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0528" y="18288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1E4D36"/>
                </a:solidFill>
                <a:latin typeface="Calibri"/>
              </a:rPr>
              <a:t>Weeks 9–20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212848"/>
            <a:ext cx="30632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C6B5E"/>
                </a:solidFill>
                <a:latin typeface="Calibri"/>
              </a:rPr>
              <a:t>One growing season with 3–5 farmers from our own networks (Jaunpur UP, Nashik MH). Run the A/B protocol from slide 7 and collect the savings and yield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691640"/>
            <a:ext cx="3456432" cy="2011680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56448" y="18288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E4D36"/>
                </a:solidFill>
                <a:latin typeface="Calibri"/>
              </a:rPr>
              <a:t>M3 · ITERATE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68128" y="18288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00" b="1">
                <a:solidFill>
                  <a:srgbClr val="1E4D36"/>
                </a:solidFill>
                <a:latin typeface="Calibri"/>
              </a:rPr>
              <a:t>Weeks 21–28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212848"/>
            <a:ext cx="30632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5C6B5E"/>
                </a:solidFill>
                <a:latin typeface="Calibri"/>
              </a:rPr>
              <a:t>Fix what the field breaks. Add the attachment farmers ask for most. Start the first paid rental pilot with one FPO.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39"/>
            <a:ext cx="6720840" cy="1417320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96511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4D36"/>
                </a:solidFill>
                <a:latin typeface="Calibri"/>
              </a:rPr>
              <a:t>PRICING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15968"/>
            <a:ext cx="6263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1F2A22"/>
                </a:solidFill>
                <a:latin typeface="Calibri"/>
              </a:rPr>
              <a:t>Own it:  </a:t>
            </a:r>
            <a:r>
              <a:rPr sz="1050" b="0">
                <a:solidFill>
                  <a:srgbClr val="5C6B5E"/>
                </a:solidFill>
                <a:latin typeface="Calibri"/>
              </a:rPr>
              <a:t>₹75,000 per rover + ₹6,000/yr service &amp; software plan.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1F2A22"/>
                </a:solidFill>
                <a:latin typeface="Calibri"/>
              </a:rPr>
              <a:t>Rent it:  </a:t>
            </a:r>
            <a:r>
              <a:rPr sz="1050" b="0">
                <a:solidFill>
                  <a:srgbClr val="5C6B5E"/>
                </a:solidFill>
                <a:latin typeface="Calibri"/>
              </a:rPr>
              <a:t>₹300 per acre-pass through FPOs — cheaper than the drone's ₹400, and it tests soil while it drives.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1F2A22"/>
                </a:solidFill>
                <a:latin typeface="Calibri"/>
              </a:rPr>
              <a:t>Know it:  </a:t>
            </a:r>
            <a:r>
              <a:rPr sz="1050" b="0">
                <a:solidFill>
                  <a:srgbClr val="5C6B5E"/>
                </a:solidFill>
                <a:latin typeface="Calibri"/>
              </a:rPr>
              <a:t>₹199/month soil-health &amp; crop report subscription.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3977639"/>
            <a:ext cx="3977639" cy="1417320"/>
          </a:xfrm>
          <a:prstGeom prst="roundRect">
            <a:avLst>
              <a:gd name="adj" fmla="val 7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0" y="4096511"/>
            <a:ext cx="35204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4D36"/>
                </a:solidFill>
                <a:latin typeface="Calibri"/>
              </a:rPr>
              <a:t>COMPETITORS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315968"/>
            <a:ext cx="3520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F2A22"/>
                </a:solidFill>
                <a:latin typeface="Calibri"/>
              </a:rPr>
              <a:t>XMachines (₹17 L robots) and Marut (₹7–10 L drones) — detailed on slide 4. Nobody serves the under-2-hectare farm at under ₹1 lakh. We 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1E4D36"/>
                </a:solidFill>
                <a:latin typeface="Calibri"/>
              </a:rPr>
              <a:t>Every milestone ends in something a farmer can see: a rover that drives (M1), a savings number (M2), a paying pilot (M3).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AgriRover · IITB–Groww INV.ENT · Track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A8B5A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029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050" b="1">
                <a:solidFill>
                  <a:srgbClr val="1E4D36"/>
                </a:solidFill>
                <a:latin typeface="Calibri"/>
              </a:rPr>
              <a:t>TEAM, BUDGET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F2A22"/>
                </a:solidFill>
                <a:latin typeface="Calibri"/>
              </a:rPr>
              <a:t>Four builders. </a:t>
            </a:r>
            <a:r>
              <a:rPr sz="2700" b="1">
                <a:solidFill>
                  <a:srgbClr val="1E4D36"/>
                </a:solidFill>
                <a:latin typeface="Calibri"/>
              </a:rPr>
              <a:t>One of us grew up on the farm.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64208"/>
            <a:ext cx="2615184" cy="117043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7830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2A22"/>
                </a:solidFill>
                <a:latin typeface="Calibri"/>
              </a:rPr>
              <a:t>Hitanshu Kapadiya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02996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8B5A8"/>
                </a:solidFill>
                <a:latin typeface="Calibri"/>
              </a:rPr>
              <a:t>Mech. Engg, IITB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267712"/>
            <a:ext cx="2286000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dirty="0">
                <a:solidFill>
                  <a:srgbClr val="5C6B5E"/>
                </a:solidFill>
                <a:latin typeface="Calibri"/>
              </a:rPr>
              <a:t>Chassis, CAD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664208"/>
            <a:ext cx="2615184" cy="117043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2A22"/>
                </a:solidFill>
                <a:latin typeface="Calibri"/>
              </a:rPr>
              <a:t>Vivek Kumar Gupta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2996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8B5A8"/>
                </a:solidFill>
                <a:latin typeface="Calibri"/>
              </a:rPr>
              <a:t>Mech. Engg, IITB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67712"/>
            <a:ext cx="2286000" cy="3007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dirty="0">
                <a:solidFill>
                  <a:srgbClr val="5C6B5E"/>
                </a:solidFill>
                <a:latin typeface="Calibri"/>
              </a:rPr>
              <a:t>Electronics </a:t>
            </a:r>
            <a:r>
              <a:rPr lang="en-US" sz="950" b="0" dirty="0">
                <a:solidFill>
                  <a:srgbClr val="5C6B5E"/>
                </a:solidFill>
                <a:latin typeface="Calibri"/>
              </a:rPr>
              <a:t>,</a:t>
            </a:r>
            <a:r>
              <a:rPr sz="950" b="0" dirty="0">
                <a:solidFill>
                  <a:srgbClr val="5C6B5E"/>
                </a:solidFill>
                <a:latin typeface="Calibri"/>
              </a:rPr>
              <a:t> firmware </a:t>
            </a:r>
            <a:r>
              <a:rPr lang="en-US" sz="950" dirty="0">
                <a:solidFill>
                  <a:srgbClr val="5C6B5E"/>
                </a:solidFill>
                <a:latin typeface="Calibri"/>
              </a:rPr>
              <a:t>&amp; </a:t>
            </a:r>
            <a:r>
              <a:rPr lang="en-US" sz="950" b="0" dirty="0">
                <a:solidFill>
                  <a:srgbClr val="5C6B5E"/>
                </a:solidFill>
                <a:latin typeface="Calibri"/>
              </a:rPr>
              <a:t>AI vision</a:t>
            </a:r>
            <a:r>
              <a:rPr sz="950" b="0" dirty="0">
                <a:solidFill>
                  <a:srgbClr val="5C6B5E"/>
                </a:solidFill>
                <a:latin typeface="Calibri"/>
              </a:rPr>
              <a:t>· farmer-family domain (</a:t>
            </a:r>
            <a:r>
              <a:rPr sz="950" b="0" dirty="0" err="1">
                <a:solidFill>
                  <a:srgbClr val="5C6B5E"/>
                </a:solidFill>
                <a:latin typeface="Calibri"/>
              </a:rPr>
              <a:t>Jaunpur</a:t>
            </a:r>
            <a:r>
              <a:rPr sz="950" b="0" dirty="0">
                <a:solidFill>
                  <a:srgbClr val="5C6B5E"/>
                </a:solidFill>
                <a:latin typeface="Calibri"/>
              </a:rPr>
              <a:t>)</a:t>
            </a:r>
            <a:r>
              <a:rPr lang="en-US" sz="950" b="0" dirty="0">
                <a:solidFill>
                  <a:srgbClr val="5C6B5E"/>
                </a:solidFill>
                <a:latin typeface="Calibri"/>
              </a:rPr>
              <a:t>  </a:t>
            </a:r>
            <a:endParaRPr sz="950" b="0" dirty="0">
              <a:solidFill>
                <a:srgbClr val="5C6B5E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63056" y="1664208"/>
            <a:ext cx="2615184" cy="117043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7830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2A22"/>
                </a:solidFill>
                <a:latin typeface="Calibri"/>
              </a:rPr>
              <a:t>Shreyash Wagh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02996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8B5A8"/>
                </a:solidFill>
                <a:latin typeface="Calibri"/>
              </a:rPr>
              <a:t>Mech. Engg, IITB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267712"/>
            <a:ext cx="2286000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dirty="0">
                <a:solidFill>
                  <a:srgbClr val="5C6B5E"/>
                </a:solidFill>
                <a:latin typeface="Calibri"/>
              </a:rPr>
              <a:t> </a:t>
            </a:r>
            <a:r>
              <a:rPr lang="en-US" sz="950" dirty="0">
                <a:solidFill>
                  <a:srgbClr val="5C6B5E"/>
                </a:solidFill>
                <a:latin typeface="Calibri"/>
              </a:rPr>
              <a:t>Structural integration</a:t>
            </a:r>
            <a:r>
              <a:rPr sz="950" b="0" dirty="0">
                <a:solidFill>
                  <a:srgbClr val="5C6B5E"/>
                </a:solidFill>
                <a:latin typeface="Calibri"/>
              </a:rPr>
              <a:t> (Nashik veg. belt)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544" y="1664208"/>
            <a:ext cx="2615184" cy="117043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89136" y="17830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2A22"/>
                </a:solidFill>
                <a:latin typeface="Calibri"/>
              </a:rPr>
              <a:t>Pritish Nandy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02996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A8B5A8"/>
                </a:solidFill>
                <a:latin typeface="Calibri"/>
              </a:rPr>
              <a:t>IITB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267712"/>
            <a:ext cx="2286000" cy="3007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950" dirty="0">
                <a:solidFill>
                  <a:srgbClr val="5C6B5E"/>
                </a:solidFill>
                <a:latin typeface="Calibri"/>
              </a:rPr>
              <a:t>D</a:t>
            </a:r>
            <a:r>
              <a:rPr sz="950" b="0" dirty="0">
                <a:solidFill>
                  <a:srgbClr val="5C6B5E"/>
                </a:solidFill>
                <a:latin typeface="Calibri"/>
              </a:rPr>
              <a:t>ashboard </a:t>
            </a:r>
            <a:r>
              <a:rPr lang="en-US" sz="950" b="0" dirty="0">
                <a:solidFill>
                  <a:srgbClr val="5C6B5E"/>
                </a:solidFill>
                <a:latin typeface="Calibri"/>
              </a:rPr>
              <a:t>, </a:t>
            </a:r>
            <a:r>
              <a:rPr sz="950" b="0" dirty="0">
                <a:solidFill>
                  <a:srgbClr val="5C6B5E"/>
                </a:solidFill>
                <a:latin typeface="Calibri"/>
              </a:rPr>
              <a:t>data</a:t>
            </a:r>
            <a:r>
              <a:rPr lang="en-US" sz="950" b="0" dirty="0">
                <a:solidFill>
                  <a:srgbClr val="5C6B5E"/>
                </a:solidFill>
                <a:latin typeface="Calibri"/>
              </a:rPr>
              <a:t> sourcing , mechanical design &amp; </a:t>
            </a:r>
            <a:r>
              <a:rPr lang="en-US" sz="950" b="0">
                <a:solidFill>
                  <a:srgbClr val="5C6B5E"/>
                </a:solidFill>
                <a:latin typeface="Calibri"/>
              </a:rPr>
              <a:t>structural integration </a:t>
            </a:r>
            <a:endParaRPr sz="950" b="0" dirty="0">
              <a:solidFill>
                <a:srgbClr val="5C6B5E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3017520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136391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4D36"/>
                </a:solidFill>
                <a:latin typeface="Calibri"/>
              </a:rPr>
              <a:t>WHY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3375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1F2A22"/>
                </a:solidFill>
                <a:latin typeface="Calibri"/>
              </a:rPr>
              <a:t>We already built the full software stack — and we know the user by name. Our pilot farmers are our own families' neighbours.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6908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18795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4D36"/>
                </a:solidFill>
                <a:latin typeface="Calibri"/>
              </a:rPr>
              <a:t>USE OF FUNDS — ₹1.0 LAKH, 28 WEEKS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40740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E4D36"/>
                </a:solidFill>
                <a:latin typeface="Calibri"/>
              </a:rPr>
              <a:t>₹49k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40740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F2A22"/>
                </a:solidFill>
                <a:latin typeface="Calibri"/>
              </a:rPr>
              <a:t>Prototype parts (full BOM, next slide)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407408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M1 · weeks 1–8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3659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E4D36"/>
                </a:solidFill>
                <a:latin typeface="Calibri"/>
              </a:rPr>
              <a:t>₹30k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736592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F2A22"/>
                </a:solidFill>
                <a:latin typeface="Calibri"/>
              </a:rPr>
              <a:t>Field pilot: travel, spares, consumables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4736592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M2 · weeks 9–20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06577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E4D36"/>
                </a:solidFill>
                <a:latin typeface="Calibri"/>
              </a:rPr>
              <a:t>₹21k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506577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F2A22"/>
                </a:solidFill>
                <a:latin typeface="Calibri"/>
              </a:rPr>
              <a:t>Iteration, attachments, FPO 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5065776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M3 · weeks 21–28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44068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1F2A22"/>
                </a:solidFill>
                <a:latin typeface="Calibri"/>
              </a:rPr>
              <a:t>Proposed output: </a:t>
            </a:r>
            <a:r>
              <a:rPr sz="1000" b="0">
                <a:solidFill>
                  <a:srgbClr val="5C6B5E"/>
                </a:solidFill>
                <a:latin typeface="Calibri"/>
              </a:rPr>
              <a:t>one field-proven rover + a one-season savings dataset + a signed FPO rental pilot.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017520"/>
            <a:ext cx="5257800" cy="1371600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3136391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4D36"/>
                </a:solidFill>
                <a:latin typeface="Calibri"/>
              </a:rPr>
              <a:t>IMPACT — WHAT IT'S WORTH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337560"/>
            <a:ext cx="4800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F2A22"/>
                </a:solidFill>
                <a:latin typeface="Calibri"/>
              </a:rPr>
              <a:t>For one farmer: </a:t>
            </a:r>
            <a:r>
              <a:rPr sz="1000" b="0">
                <a:solidFill>
                  <a:srgbClr val="5C6B5E"/>
                </a:solidFill>
                <a:latin typeface="Calibri"/>
              </a:rPr>
              <a:t>₹8–15k saved per season on one acre of vegetables — often the family's entire margin.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F2A22"/>
                </a:solidFill>
                <a:latin typeface="Calibri"/>
              </a:rPr>
              <a:t>For the soil &amp; the plate: </a:t>
            </a:r>
            <a:r>
              <a:rPr sz="1000" b="0">
                <a:solidFill>
                  <a:srgbClr val="5C6B5E"/>
                </a:solidFill>
                <a:latin typeface="Calibri"/>
              </a:rPr>
              <a:t>less chemical in the ground and none of it on the food.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526280"/>
            <a:ext cx="5257800" cy="1508760"/>
          </a:xfrm>
          <a:prstGeom prst="roundRect">
            <a:avLst>
              <a:gd name="adj" fmla="val 8000"/>
            </a:avLst>
          </a:prstGeom>
          <a:solidFill>
            <a:srgbClr val="1E4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4681728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LONG-TERM VISION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956048"/>
            <a:ext cx="48006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A rover in every village, not every farm: FPO-owned fleets with swappable attachments (weeder, sower, sprayer) working plots on demand — precision farming as a ₹300 service, not a ₹17 lakh machine.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AgriRover · IITB–Groww INV.ENT · Track 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42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A8B5A8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050" b="1">
                <a:solidFill>
                  <a:srgbClr val="1E4D36"/>
                </a:solidFill>
                <a:latin typeface="Calibri"/>
              </a:rPr>
              <a:t>BUDGET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F2A22"/>
                </a:solidFill>
                <a:latin typeface="Calibri"/>
              </a:rPr>
              <a:t>Every rupee is already itemised — </a:t>
            </a:r>
            <a:r>
              <a:rPr sz="2700" b="1">
                <a:solidFill>
                  <a:srgbClr val="1E4D36"/>
                </a:solidFill>
                <a:latin typeface="Calibri"/>
              </a:rPr>
              <a:t>110 parts, priced.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0992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5C6B5E"/>
                </a:solidFill>
                <a:latin typeface="Calibri"/>
              </a:rPr>
              <a:t>SUBSYSTEM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170992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5C6B5E"/>
                </a:solidFill>
                <a:latin typeface="Calibri"/>
              </a:rPr>
              <a:t>₹ (range)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02536"/>
            <a:ext cx="6172200" cy="402336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002536"/>
            <a:ext cx="43708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F2A22"/>
                </a:solidFill>
                <a:latin typeface="Calibri"/>
              </a:rPr>
              <a:t>Brain &amp; compute (ESP32, Pi 4, cams)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002536"/>
            <a:ext cx="1581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1F2A22"/>
                </a:solidFill>
                <a:latin typeface="Calibri"/>
              </a:rPr>
              <a:t>5,880 – 8,150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04872"/>
            <a:ext cx="43708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F2A22"/>
                </a:solidFill>
                <a:latin typeface="Calibri"/>
              </a:rPr>
              <a:t>Power (LiPo, buck, protection, solar)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404872"/>
            <a:ext cx="1581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1F2A22"/>
                </a:solidFill>
                <a:latin typeface="Calibri"/>
              </a:rPr>
              <a:t>2,350 – 4,040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07208"/>
            <a:ext cx="6172200" cy="402336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807208"/>
            <a:ext cx="43708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F2A22"/>
                </a:solidFill>
                <a:latin typeface="Calibri"/>
              </a:rPr>
              <a:t>Motors &amp; drive (4 gear motors, drivers)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807208"/>
            <a:ext cx="1581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1F2A22"/>
                </a:solidFill>
                <a:latin typeface="Calibri"/>
              </a:rPr>
              <a:t>1,840 – 3,600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09544"/>
            <a:ext cx="43708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F2A22"/>
                </a:solidFill>
                <a:latin typeface="Calibri"/>
              </a:rPr>
              <a:t>Soil &amp; field sensors (NPK probe, GPS…)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209544"/>
            <a:ext cx="1581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1F2A22"/>
                </a:solidFill>
                <a:latin typeface="Calibri"/>
              </a:rPr>
              <a:t>3,740 – 8,080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11880"/>
            <a:ext cx="6172200" cy="402336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611880"/>
            <a:ext cx="43708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F2A22"/>
                </a:solidFill>
                <a:latin typeface="Calibri"/>
              </a:rPr>
              <a:t>AI camera kit (Pi Cam, Coral TPU)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611880"/>
            <a:ext cx="1581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1F2A22"/>
                </a:solidFill>
                <a:latin typeface="Calibri"/>
              </a:rPr>
              <a:t>4,680 – 7,100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014216"/>
            <a:ext cx="43708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F2A22"/>
                </a:solidFill>
                <a:latin typeface="Calibri"/>
              </a:rPr>
              <a:t>Dosing &amp; actuation (pump, actuator…)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014216"/>
            <a:ext cx="1581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1F2A22"/>
                </a:solidFill>
                <a:latin typeface="Calibri"/>
              </a:rPr>
              <a:t>1,760 – 3,330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16552"/>
            <a:ext cx="6172200" cy="402336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4416552"/>
            <a:ext cx="43708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F2A22"/>
                </a:solidFill>
                <a:latin typeface="Calibri"/>
              </a:rPr>
              <a:t>Chassis, wiring &amp; passives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416552"/>
            <a:ext cx="1581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1F2A22"/>
                </a:solidFill>
                <a:latin typeface="Calibri"/>
              </a:rPr>
              <a:t>2,210 – 4,130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818888"/>
            <a:ext cx="43708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F2A22"/>
                </a:solidFill>
                <a:latin typeface="Calibri"/>
              </a:rPr>
              <a:t>Safety, thermal &amp;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818888"/>
            <a:ext cx="1581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1F2A22"/>
                </a:solidFill>
                <a:latin typeface="Calibri"/>
              </a:rPr>
              <a:t>3,630 – 7,040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221224"/>
            <a:ext cx="6172200" cy="402336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5221224"/>
            <a:ext cx="43708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F2A22"/>
                </a:solidFill>
                <a:latin typeface="Calibri"/>
              </a:rPr>
              <a:t>Comms, interface &amp; upgrade parts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5221224"/>
            <a:ext cx="15819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1F2A22"/>
                </a:solidFill>
                <a:latin typeface="Calibri"/>
              </a:rPr>
              <a:t>1,740 – 3,440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623560"/>
            <a:ext cx="6172200" cy="475488"/>
          </a:xfrm>
          <a:prstGeom prst="roundRect">
            <a:avLst>
              <a:gd name="adj" fmla="val 12000"/>
            </a:avLst>
          </a:prstGeom>
          <a:solidFill>
            <a:srgbClr val="1E4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623560"/>
            <a:ext cx="43434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FULL AI ROVER — 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623560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₹27,830 – 48,910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1691640"/>
            <a:ext cx="4297680" cy="1554480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52360" y="181051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4D36"/>
                </a:solidFill>
                <a:latin typeface="Calibri"/>
              </a:rPr>
              <a:t>BUILD TIERS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202996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F2A22"/>
                </a:solidFill>
                <a:latin typeface="Calibri"/>
              </a:rPr>
              <a:t>Core (drives + soil test + dosing)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202996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1E4D36"/>
                </a:solidFill>
                <a:latin typeface="Calibri"/>
              </a:rPr>
              <a:t>₹8–14k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34086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F2A22"/>
                </a:solidFill>
                <a:latin typeface="Calibri"/>
              </a:rPr>
              <a:t>+ Navigation (GPS, encoders, safety)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23408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1E4D36"/>
                </a:solidFill>
                <a:latin typeface="Calibri"/>
              </a:rPr>
              <a:t>₹12–20k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26517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F2A22"/>
                </a:solidFill>
                <a:latin typeface="Calibri"/>
              </a:rPr>
              <a:t>Full AI (camera + weed/disease AI)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26517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1E4D36"/>
                </a:solidFill>
                <a:latin typeface="Calibri"/>
              </a:rPr>
              <a:t>₹28–49k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2980944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C6B5E"/>
                </a:solidFill>
                <a:latin typeface="Calibri"/>
              </a:rPr>
              <a:t>We build Full AI for the PoC — it's what we must prove.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3760" y="3429000"/>
            <a:ext cx="4297680" cy="1234440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52360" y="354787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4D36"/>
                </a:solidFill>
                <a:latin typeface="Calibri"/>
              </a:rPr>
              <a:t>PILOT &amp; CONTINGENCY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376732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F2A22"/>
                </a:solidFill>
                <a:latin typeface="Calibri"/>
              </a:rPr>
              <a:t>Field pilot (travel, spares, consumables)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376732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1E4D36"/>
                </a:solidFill>
                <a:latin typeface="Calibri"/>
              </a:rPr>
              <a:t>₹30k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4078224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1F2A22"/>
                </a:solidFill>
                <a:latin typeface="Calibri"/>
              </a:rPr>
              <a:t>Iteration &amp; attachment parts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4078224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1E4D36"/>
                </a:solidFill>
                <a:latin typeface="Calibri"/>
              </a:rPr>
              <a:t>₹21k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360" y="4407407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C6B5E"/>
                </a:solidFill>
                <a:latin typeface="Calibri"/>
              </a:rPr>
              <a:t>Biggest swing items: NPK probe, Pi 4, Coral TPU.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23760" y="4846320"/>
            <a:ext cx="4297680" cy="960120"/>
          </a:xfrm>
          <a:prstGeom prst="roundRect">
            <a:avLst>
              <a:gd name="adj" fmla="val 9000"/>
            </a:avLst>
          </a:prstGeom>
          <a:solidFill>
            <a:srgbClr val="1E4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54864" rIns="182880" bIns="54864" rtlCol="0" anchor="ctr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Total ask: ₹1.0 lakh </a:t>
            </a:r>
            <a:r>
              <a:rPr sz="1100">
                <a:solidFill>
                  <a:srgbClr val="FFFFFF"/>
                </a:solidFill>
                <a:latin typeface="Calibri"/>
              </a:rPr>
              <a:t>— one rover, one season of proof, one paying pilot.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199632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A8B5A8"/>
                </a:solidFill>
                <a:latin typeface="Calibri"/>
              </a:rPr>
              <a:t>Full 110-part priced list with vendors lives in our repo (docs/shopping-list.md) — available on request.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AgriRover · IITB–Groww INV.ENT · Track 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442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A8B5A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2045</Words>
  <Application>Microsoft Office PowerPoint</Application>
  <PresentationFormat>Widescreen</PresentationFormat>
  <Paragraphs>227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Vivek Gupta</cp:lastModifiedBy>
  <cp:revision>1</cp:revision>
  <dcterms:created xsi:type="dcterms:W3CDTF">2013-01-27T09:14:16Z</dcterms:created>
  <dcterms:modified xsi:type="dcterms:W3CDTF">2026-07-08T15:03:27Z</dcterms:modified>
  <cp:category/>
</cp:coreProperties>
</file>