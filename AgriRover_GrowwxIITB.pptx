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3B2A"/>
              </a:gs>
              <a:gs pos="100000">
                <a:srgbClr val="07271B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FB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2011680"/>
            <a:ext cx="5120640" cy="5120640"/>
          </a:xfrm>
          <a:prstGeom prst="ellipse">
            <a:avLst/>
          </a:prstGeom>
          <a:solidFill>
            <a:srgbClr val="1F925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6FBF44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4480560"/>
            <a:ext cx="2011680" cy="2011680"/>
          </a:xfrm>
          <a:prstGeom prst="ellipse">
            <a:avLst/>
          </a:prstGeom>
          <a:solidFill>
            <a:srgbClr val="F2A03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56692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6FB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rdrop 7"/>
          <p:cNvSpPr/>
          <p:nvPr/>
        </p:nvSpPr>
        <p:spPr>
          <a:xfrm rot="8100000">
            <a:off x="955365" y="633496"/>
            <a:ext cx="247253" cy="294802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6464" y="530352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 Semibold"/>
              </a:rPr>
              <a:t>Agri</a:t>
            </a:r>
            <a:r>
              <a:rPr sz="1700" b="1">
                <a:solidFill>
                  <a:srgbClr val="6FBF44"/>
                </a:solidFill>
                <a:latin typeface="Segoe UI Semibold"/>
              </a:rPr>
              <a:t>Rover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03D"/>
                </a:solidFill>
                <a:latin typeface="Segoe UI Semibold"/>
              </a:rPr>
              <a:t>PRECISION FARMING FOR EVERY SMALL FARM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76272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Segoe UI Semibold"/>
              </a:rPr>
              <a:t>Agri</a:t>
            </a:r>
            <a:r>
              <a:rPr sz="6600" b="1">
                <a:solidFill>
                  <a:srgbClr val="6FBF44"/>
                </a:solidFill>
                <a:latin typeface="Segoe UI Semibold"/>
              </a:rPr>
              <a:t>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564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EAD9"/>
                </a:solidFill>
                <a:latin typeface="Segoe UI"/>
              </a:rPr>
              <a:t>Affordable autonomous rover — soil-NPK sensing · AI weed &amp; disease detection · per-plant micro-dosing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434840"/>
            <a:ext cx="4114800" cy="329184"/>
          </a:xfrm>
          <a:prstGeom prst="roundRect">
            <a:avLst>
              <a:gd name="adj" fmla="val 5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434840"/>
            <a:ext cx="4114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81C"/>
                </a:solidFill>
                <a:latin typeface="Segoe UI"/>
              </a:rPr>
              <a:t>IITB–Groww INV.ENT  ·  Track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138928"/>
            <a:ext cx="10515600" cy="18288"/>
          </a:xfrm>
          <a:prstGeom prst="rect">
            <a:avLst/>
          </a:prstGeom>
          <a:solidFill>
            <a:srgbClr val="27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2852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6FBF44"/>
                </a:solidFill>
                <a:latin typeface="Calibri"/>
              </a:rPr>
              <a:t>Team of 4 · IIT Bombay:  </a:t>
            </a:r>
            <a:r>
              <a:rPr sz="1250" b="1">
                <a:solidFill>
                  <a:srgbClr val="FFFFFF"/>
                </a:solidFill>
                <a:latin typeface="Calibri"/>
              </a:rPr>
              <a:t>Hitanshu Kapadiya · Vivek Gupta · Shreyash Wagh · Pritish Nandy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3270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C2AC"/>
                </a:solidFill>
                <a:latin typeface="Calibri"/>
              </a:rPr>
              <a:t>Mechanical Engineering ×3  ·  Aerospace Engineering ×1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Segoe UI Semibold"/>
              </a:rPr>
              <a:t>PROBLEM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Farming runs on guesswork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664208"/>
            <a:ext cx="10509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B62"/>
                </a:solidFill>
                <a:latin typeface="Calibri"/>
              </a:rPr>
              <a:t>India's small farms can't use big machinery — and fertilise blind. That wastes money and degrades soil.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395728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395728"/>
            <a:ext cx="109728" cy="13716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26334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2596896"/>
            <a:ext cx="38829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81C"/>
                </a:solidFill>
                <a:latin typeface="Segoe UI Semibold"/>
              </a:rPr>
              <a:t>Farms too small for machinery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328416"/>
            <a:ext cx="456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≈86% of India's holdings are under 2 ha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(Agriculture Census 2015–16).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395728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2395728"/>
            <a:ext cx="109728" cy="13716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4759" y="26334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759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7991" y="2596896"/>
            <a:ext cx="38829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81C"/>
                </a:solidFill>
                <a:latin typeface="Segoe UI Semibold"/>
              </a:rPr>
              <a:t>Fertilise by guesswork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328416"/>
            <a:ext cx="456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No affordable way to sense soil NPK 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dose per plant.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02336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4023360"/>
            <a:ext cx="109728" cy="1371600"/>
          </a:xfrm>
          <a:prstGeom prst="rect">
            <a:avLst/>
          </a:prstGeom>
          <a:solidFill>
            <a:srgbClr val="B46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26110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B46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611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4224528"/>
            <a:ext cx="38829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81C"/>
                </a:solidFill>
                <a:latin typeface="Segoe UI Semibold"/>
              </a:rPr>
              <a:t>NPK imbalance vs 4:2:1 (FAI)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956048"/>
            <a:ext cx="456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Excess urea wastes money 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degrades the soil.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402336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8727" y="40233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34759" y="426110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4759" y="42611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7991" y="4224528"/>
            <a:ext cx="38829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281C"/>
                </a:solidFill>
                <a:latin typeface="Segoe UI Semibold"/>
              </a:rPr>
              <a:t>Soil Health Cards underused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047" y="4956048"/>
            <a:ext cx="456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Lab tests take 2–3 weeks — so old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62"/>
                </a:solidFill>
                <a:latin typeface="Calibri"/>
              </a:rPr>
              <a:t>habits win.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96128"/>
            <a:ext cx="10509199" cy="603504"/>
          </a:xfrm>
          <a:prstGeom prst="roundRect">
            <a:avLst>
              <a:gd name="adj" fmla="val 4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5596128"/>
            <a:ext cx="996055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F9254"/>
                </a:solidFill>
                <a:latin typeface="Segoe UI Semibold"/>
              </a:rPr>
              <a:t>Validated in the field:  </a:t>
            </a:r>
            <a:r>
              <a:rPr sz="1250" b="0">
                <a:solidFill>
                  <a:srgbClr val="12281C"/>
                </a:solidFill>
                <a:latin typeface="Calibri"/>
              </a:rPr>
              <a:t>talks with local farmers &amp; input dealers confirm uniform hand-broadcasting and guesswork dosing is the norm.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2648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AA8A0"/>
                </a:solidFill>
                <a:latin typeface="Calibri"/>
              </a:rPr>
              <a:t>Sources: Agriculture Census 2015–16; FAI. Indicative.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SOLUTION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One low-cost autonomous rover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664208"/>
            <a:ext cx="10509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B62"/>
                </a:solidFill>
                <a:latin typeface="Calibri"/>
              </a:rPr>
              <a:t>AgriRover senses, decides and acts per plant — precision farming at a fraction of big-ag machinery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377440"/>
            <a:ext cx="242155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377440"/>
            <a:ext cx="109728" cy="265176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261518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15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2578608"/>
            <a:ext cx="12328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81C"/>
                </a:solidFill>
                <a:latin typeface="Segoe UI Semibold"/>
              </a:rPr>
              <a:t>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310128"/>
            <a:ext cx="191863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7-in-1 NPK probe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moisture · TDS · pH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GPS + IMU + encoders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7127" y="2377440"/>
            <a:ext cx="242155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7127" y="2377440"/>
            <a:ext cx="109728" cy="265176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93159" y="261518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3159" y="2615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6391" y="2578608"/>
            <a:ext cx="12328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81C"/>
                </a:solidFill>
                <a:latin typeface="Segoe UI Semibold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1447" y="3310128"/>
            <a:ext cx="191863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YOLOv8n vision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weed · disease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obstacle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2377440"/>
            <a:ext cx="242155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2377440"/>
            <a:ext cx="109728" cy="265176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9039" y="261518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9039" y="2615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2271" y="2578608"/>
            <a:ext cx="12328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81C"/>
                </a:solidFill>
                <a:latin typeface="Segoe UI Semibold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310128"/>
            <a:ext cx="191863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micro-dosing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aimed spot-spray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cutter · seeder · weeder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8887" y="2377440"/>
            <a:ext cx="242155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28887" y="2377440"/>
            <a:ext cx="109728" cy="265176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4919" y="261518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4919" y="2615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8151" y="2578608"/>
            <a:ext cx="12328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2281C"/>
                </a:solidFill>
                <a:latin typeface="Segoe UI Semibold"/>
              </a:rPr>
              <a:t>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3207" y="3310128"/>
            <a:ext cx="191863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geo-tagged logs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prescription maps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62"/>
                </a:solidFill>
                <a:latin typeface="Calibri"/>
              </a:rPr>
              <a:t>dashboard +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321808"/>
            <a:ext cx="10509199" cy="603504"/>
          </a:xfrm>
          <a:prstGeom prst="roundRect">
            <a:avLst>
              <a:gd name="adj" fmla="val 4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5321808"/>
            <a:ext cx="996055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F9254"/>
                </a:solidFill>
                <a:latin typeface="Segoe UI Semibold"/>
              </a:rPr>
              <a:t>Why it's different:  </a:t>
            </a:r>
            <a:r>
              <a:rPr sz="1250" b="0">
                <a:solidFill>
                  <a:srgbClr val="12281C"/>
                </a:solidFill>
                <a:latin typeface="Calibri"/>
              </a:rPr>
              <a:t>the only affordable, autonomous, per-plant solution purpose-built for India's small farms.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BD6"/>
                </a:solidFill>
                <a:latin typeface="Segoe UI Semibold"/>
              </a:rPr>
              <a:t>WHY AGRIROVER?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Vs the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8" y="1709928"/>
          <a:ext cx="10515600" cy="3428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737360"/>
                <a:gridCol w="1645920"/>
                <a:gridCol w="1600200"/>
                <a:gridCol w="1691640"/>
              </a:tblGrid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Capability</a:t>
                      </a:r>
                    </a:p>
                  </a:txBody>
                  <a:tcPr marL="109728" marR="54864" marT="18288" marB="18288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AgriRover</a:t>
                      </a:r>
                    </a:p>
                  </a:txBody>
                  <a:tcPr marL="109728" marR="54864" marT="18288" marB="18288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Big-ag
machinery</a:t>
                      </a:r>
                    </a:p>
                  </a:txBody>
                  <a:tcPr marL="109728" marR="54864" marT="18288" marB="18288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Manual
labour</a:t>
                      </a:r>
                    </a:p>
                  </a:txBody>
                  <a:tcPr marL="109728" marR="54864" marT="18288" marB="18288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Ag-drones</a:t>
                      </a:r>
                    </a:p>
                  </a:txBody>
                  <a:tcPr marL="109728" marR="54864" marT="18288" marB="18288" anchor="ctr">
                    <a:solidFill>
                      <a:srgbClr val="0E3B2A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Affordable for &lt;2 ha farms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✓*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2A03D"/>
                          </a:solidFill>
                          <a:latin typeface="Segoe UI Semibold"/>
                        </a:rPr>
                        <a:t>~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Senses soil NPK per spot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Per-plant micro-dosing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2A03D"/>
                          </a:solidFill>
                          <a:latin typeface="Segoe UI Semibold"/>
                        </a:rPr>
                        <a:t>~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AI weed &amp; disease ID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2A03D"/>
                          </a:solidFill>
                          <a:latin typeface="Segoe UI Semibold"/>
                        </a:rPr>
                        <a:t>~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Autonomous operation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2A03D"/>
                          </a:solidFill>
                          <a:latin typeface="Segoe UI Semibold"/>
                        </a:rPr>
                        <a:t>~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281C"/>
                          </a:solidFill>
                          <a:latin typeface="Calibri"/>
                        </a:rPr>
                        <a:t>One-time low-cost asset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254"/>
                          </a:solidFill>
                          <a:latin typeface="Segoe UI Semibold"/>
                        </a:rPr>
                        <a:t>✓</a:t>
                      </a:r>
                    </a:p>
                  </a:txBody>
                  <a:tcPr marL="109728" marR="54864" marT="18288" marB="18288" anchor="ctr">
                    <a:solidFill>
                      <a:srgbClr val="E7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473B"/>
                          </a:solidFill>
                          <a:latin typeface="Segoe UI Semibold"/>
                        </a:rPr>
                        <a:t>✗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2A03D"/>
                          </a:solidFill>
                          <a:latin typeface="Segoe UI Semibold"/>
                        </a:rPr>
                        <a:t>~</a:t>
                      </a:r>
                    </a:p>
                  </a:txBody>
                  <a:tcPr marL="109728" marR="54864" marT="18288" marB="18288" anchor="ctr">
                    <a:solidFill>
                      <a:srgbClr val="EEF4E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41248" y="5303520"/>
            <a:ext cx="10509199" cy="548640"/>
          </a:xfrm>
          <a:prstGeom prst="roundRect">
            <a:avLst>
              <a:gd name="adj" fmla="val 4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303520"/>
            <a:ext cx="99605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9254"/>
                </a:solidFill>
                <a:latin typeface="Segoe UI Semibold"/>
              </a:rPr>
              <a:t>Our edge:  </a:t>
            </a:r>
            <a:r>
              <a:rPr sz="1200" b="0">
                <a:solidFill>
                  <a:srgbClr val="12281C"/>
                </a:solidFill>
                <a:latin typeface="Calibri"/>
              </a:rPr>
              <a:t>affordable + autonomous + per-plant, in one asset that also senses soil.   </a:t>
            </a:r>
            <a:r>
              <a:rPr sz="1050" b="0">
                <a:solidFill>
                  <a:srgbClr val="5B6B62"/>
                </a:solidFill>
                <a:latin typeface="Calibri"/>
              </a:rPr>
              <a:t>*manual labour is cheap per use but recurring.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Two brains, one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645920"/>
            <a:ext cx="105091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B62"/>
                </a:solidFill>
                <a:latin typeface="Calibri"/>
              </a:rPr>
              <a:t>A real-time ESP32 (FreeRTOS) runs drive, sensing &amp; dosing; a Raspberry Pi 4 runs AI vision &amp; analytics — over an HMAC-signed link.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7613" y="2185416"/>
            <a:ext cx="6656468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77" y="2240280"/>
            <a:ext cx="6546740" cy="3666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Dual-controller architecture — real-time control + on-board AI.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SENSE &amp;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Know the soil, see the crop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09928"/>
            <a:ext cx="5852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7-in-1 soil probe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N·P·K·pH·EC·moisture·temp over RS485 Modbus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Calibrated &amp; robust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oversampled ADC, multi-point moisture, temp-comp TDS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Three AI models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obstacle · weed (DeepWeeds) · disease (PlantVillage)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Runs on Coral Edge TPU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~10× faster than CPU; fails safe if a model is absent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2864" y="2239409"/>
            <a:ext cx="4492447" cy="214143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294273"/>
            <a:ext cx="4382719" cy="20317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41248" y="5029200"/>
            <a:ext cx="242155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5029200"/>
            <a:ext cx="2421559" cy="109728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5285232"/>
            <a:ext cx="21472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9254"/>
                </a:solidFill>
                <a:latin typeface="Segoe UI Semibold"/>
              </a:rPr>
              <a:t>7-in-1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5665622"/>
            <a:ext cx="21472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soil probe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37127" y="5029200"/>
            <a:ext cx="242155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7127" y="5029200"/>
            <a:ext cx="2421559" cy="109728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4287" y="5285232"/>
            <a:ext cx="21472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B9BD6"/>
                </a:solidFill>
                <a:latin typeface="Segoe UI Semibold"/>
              </a:rP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4287" y="5665622"/>
            <a:ext cx="21472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disease classes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5029200"/>
            <a:ext cx="242155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5029200"/>
            <a:ext cx="2421559" cy="10972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7" y="5285232"/>
            <a:ext cx="21472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A03D"/>
                </a:solidFill>
                <a:latin typeface="Segoe UI Semibold"/>
              </a:rPr>
              <a:t>~30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665622"/>
            <a:ext cx="21472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FPS on Coral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887" y="5029200"/>
            <a:ext cx="242155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28887" y="5029200"/>
            <a:ext cx="2421559" cy="1097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6047" y="5285232"/>
            <a:ext cx="21472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A4C93"/>
                </a:solidFill>
                <a:latin typeface="Segoe UI Semibold"/>
              </a:rPr>
              <a:t>~10–20cm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6047" y="5665622"/>
            <a:ext cx="21472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plant geo-tag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Segoe UI Semibold"/>
              </a:rPr>
              <a:t>ACT &amp;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Treat the plant, drive the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09928"/>
            <a:ext cx="61264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F2A03D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Sequential micro-dosing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pre-soak → probe → dose → retract; drive frozen while dosing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F2A03D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Vision-aimed spot-spray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pan/tilt nozzle targets each detected weed (FC-01)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F2A03D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Autonomous snake-route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GPS + SBAS + EKF fusion → sub-meter coverage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F2A03D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Closed-loop velocity PID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encoder feedback → straight rows, repeatable spacing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F2A03D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2281C"/>
                </a:solidFill>
                <a:latin typeface="Calibri"/>
              </a:rPr>
              <a:t>Fail-safe by design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E-stop, dead-man heartbeat, thermal guardian, stall 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2425681"/>
            <a:ext cx="4309567" cy="2683293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480545"/>
            <a:ext cx="4199839" cy="257356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BD6"/>
                </a:solidFill>
                <a:latin typeface="Segoe UI Semibold"/>
              </a:rPr>
              <a:t>MARKET OPPORTUNITY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A large, growing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709928"/>
            <a:ext cx="4846320" cy="1280160"/>
          </a:xfrm>
          <a:prstGeom prst="roundRect">
            <a:avLst>
              <a:gd name="adj" fmla="val 6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1709928"/>
            <a:ext cx="118872" cy="128016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1837944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9254"/>
                </a:solidFill>
                <a:latin typeface="Segoe UI Semibold"/>
              </a:rPr>
              <a:t>$2.5 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368296"/>
            <a:ext cx="4343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India agritech market by 2034 (from ~$0.97 Bn in 2025, ~10.6% CAGR).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191256"/>
            <a:ext cx="4846320" cy="1280160"/>
          </a:xfrm>
          <a:prstGeom prst="roundRect">
            <a:avLst>
              <a:gd name="adj" fmla="val 6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191256"/>
            <a:ext cx="118872" cy="128016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319272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9BD6"/>
                </a:solidFill>
                <a:latin typeface="Segoe UI Semibold"/>
              </a:rPr>
              <a:t>$739 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849624"/>
            <a:ext cx="4343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India precision-agriculture market by 2034 (~9.2% CAGR).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672583"/>
            <a:ext cx="4846320" cy="1280160"/>
          </a:xfrm>
          <a:prstGeom prst="roundRect">
            <a:avLst>
              <a:gd name="adj" fmla="val 6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672583"/>
            <a:ext cx="118872" cy="128016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800599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A03D"/>
                </a:solidFill>
                <a:latin typeface="Segoe UI Semibold"/>
              </a:rPr>
              <a:t>~146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5330951"/>
            <a:ext cx="43434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farm holdings in India — 86% small/marginal (&lt;2 ha): our core market.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1709928"/>
            <a:ext cx="5297119" cy="4160520"/>
          </a:xfrm>
          <a:prstGeom prst="roundRect">
            <a:avLst>
              <a:gd name="adj" fmla="val 4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929384"/>
            <a:ext cx="4794199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Scope — what it does today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Soil NPK sensing, AI weed/disease ID, targeted micro-dosing, autonomous nav.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Scope — where it grows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Crops: vegetables, cotton, cereals, orchards, polyhouses.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Geography: India's small-farm belts via FPOs / co-ops.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Add-ons: seeding, spraying, weeding, scouting, yield mapping.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Data services: soil &amp; crop analytics + prescription maps (recurring).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12648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AA8A0"/>
                </a:solidFill>
                <a:latin typeface="Calibri"/>
              </a:rPr>
              <a:t>Sources: IMARC (agritech &amp; precision-ag), Agriculture Census 2015–16. Indicative.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TAILWINDS &amp;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Policy is on our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37360"/>
            <a:ext cx="58064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SMAM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50–80% subsidy on farm machinery; funds Custom Hiring Centres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Agri Infrastructure Fund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interest-subvented loans for FPOs/SHGs to set up CHCs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Namo Drone Didi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15,000 drones to women SHGs — momentum for ag-robotics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Soil Health Card scheme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national soil-testing push — aligns with our NPK sensing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10,000 FPOs + Digital Agri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aggregation &amp; farm-data tailwinds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1709928"/>
            <a:ext cx="4428439" cy="411480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1929384"/>
            <a:ext cx="392551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How we leverage it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Rover qualifies as agri-machinery → SMAM subsidy cuts farmer cost.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Deploy via FPOs / CHCs financed by AIF → shared-asset model.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Revenue streams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Rover sale + annual service contract.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Rover-as-a-Service: per-acre fee via FPO/CHC.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Subscription: soil &amp; crop analytics + prescription maps.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12648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AA8A0"/>
                </a:solidFill>
                <a:latin typeface="Calibri"/>
              </a:rPr>
              <a:t>Scheme details per Govt of India / PIB — verify exact terms before claims.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4C93"/>
                </a:solidFill>
                <a:latin typeface="Segoe UI Semibold"/>
              </a:rPr>
              <a:t>WHAT WE'VE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A working POC /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8013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1801368"/>
            <a:ext cx="109728" cy="178308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03911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002536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Firmware · ESP32/FreeRTOS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7340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Dual-core drive + RS485 NPK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Dosing state machine · secure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5754" y="18013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5754" y="1801368"/>
            <a:ext cx="109728" cy="178308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91786" y="203911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1786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5018" y="2002536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AI Vision · Raspberry 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0074" y="27340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YOLOv8n weed/disease/obstacle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Coral TPU · training notebooks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0260" y="18013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0260" y="1801368"/>
            <a:ext cx="109728" cy="1783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86292" y="203911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6292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9524" y="2002536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Navigation &amp;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4580" y="27340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EKF + GPS + vision geo-tag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Snake planner · ROS2 · simulator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38587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" y="3858768"/>
            <a:ext cx="109728" cy="178308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97280" y="4096511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09651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4059935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Software Tooling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7914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Live dashboard + Telegram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CI pipeline · black-box logging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5754" y="38587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5754" y="3858768"/>
            <a:ext cx="109728" cy="17830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91786" y="4096511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1786" y="409651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5018" y="4059935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Hardware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0074" y="47914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Verified circuit + wiring v2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110-part costed BOM (+15 audit)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30260" y="3858768"/>
            <a:ext cx="332018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30260" y="3858768"/>
            <a:ext cx="109728" cy="17830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86292" y="4096511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6292" y="409651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9524" y="4059935"/>
            <a:ext cx="21314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81C"/>
                </a:solidFill>
                <a:latin typeface="Segoe UI Semibold"/>
              </a:rPr>
              <a:t>Field Reliability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4580" y="4791456"/>
            <a:ext cx="28172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10 real field risks engineered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62"/>
                </a:solidFill>
                <a:latin typeface="Calibri"/>
              </a:rPr>
              <a:t>Heat, stall, comms-loss, sealing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08990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AA8A0"/>
                </a:solidFill>
                <a:latin typeface="Calibri"/>
              </a:rPr>
              <a:t>Built end-to-end by our 4-member team — software validated in simulation; hardware integration is the next step.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POC HYPOTHESIS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What we will 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755648"/>
            <a:ext cx="10509199" cy="731520"/>
          </a:xfrm>
          <a:prstGeom prst="roundRect">
            <a:avLst>
              <a:gd name="adj" fmla="val 4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755648"/>
            <a:ext cx="996055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9254"/>
                </a:solidFill>
                <a:latin typeface="Segoe UI Semibold"/>
              </a:rPr>
              <a:t>Hypothesis:  </a:t>
            </a:r>
            <a:r>
              <a:rPr sz="1350" b="0">
                <a:solidFill>
                  <a:srgbClr val="12281C"/>
                </a:solidFill>
                <a:latin typeface="Calibri"/>
              </a:rPr>
              <a:t>per-plant sensing + targeted dosing cuts fertiliser/chemical use sharply — with no yield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07208"/>
            <a:ext cx="1050919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500" b="1">
                <a:solidFill>
                  <a:srgbClr val="12281C"/>
                </a:solidFill>
                <a:latin typeface="Calibri"/>
              </a:rPr>
              <a:t>Input reduction</a:t>
            </a:r>
            <a:r>
              <a:rPr sz="1350" b="0">
                <a:solidFill>
                  <a:srgbClr val="5B6B62"/>
                </a:solidFill>
                <a:latin typeface="Calibri"/>
              </a:rPr>
              <a:t>  —  fertiliser &amp; pesticide saved vs hand-broadcasting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500" b="1">
                <a:solidFill>
                  <a:srgbClr val="12281C"/>
                </a:solidFill>
                <a:latin typeface="Calibri"/>
              </a:rPr>
              <a:t>Detection accuracy</a:t>
            </a:r>
            <a:r>
              <a:rPr sz="1350" b="0">
                <a:solidFill>
                  <a:srgbClr val="5B6B62"/>
                </a:solidFill>
                <a:latin typeface="Calibri"/>
              </a:rPr>
              <a:t>  —  weed/disease precision &amp; recall; dosing placement (cm)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500" b="1">
                <a:solidFill>
                  <a:srgbClr val="12281C"/>
                </a:solidFill>
                <a:latin typeface="Calibri"/>
              </a:rPr>
              <a:t>Coverage &amp; economics</a:t>
            </a:r>
            <a:r>
              <a:rPr sz="1350" b="0">
                <a:solidFill>
                  <a:srgbClr val="5B6B62"/>
                </a:solidFill>
                <a:latin typeface="Calibri"/>
              </a:rPr>
              <a:t>  —  area per charge; cost saving per acre per season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910328"/>
            <a:ext cx="10509199" cy="685800"/>
          </a:xfrm>
          <a:prstGeom prst="roundRect">
            <a:avLst>
              <a:gd name="adj" fmla="val 40000"/>
            </a:avLst>
          </a:prstGeom>
          <a:solidFill>
            <a:srgbClr val="EE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910328"/>
            <a:ext cx="996055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A03D"/>
                </a:solidFill>
                <a:latin typeface="Segoe UI Semibold"/>
              </a:rPr>
              <a:t>Targets to prove in pilot:  </a:t>
            </a:r>
            <a:r>
              <a:rPr sz="1400" b="1">
                <a:solidFill>
                  <a:srgbClr val="12281C"/>
                </a:solidFill>
                <a:latin typeface="Calibri"/>
              </a:rPr>
              <a:t>30–50% input reduction  ·  &gt;85% detection accuracy.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PROJECTED IMPACT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The numbers we're chasing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12</a:t>
            </a:r>
          </a:p>
        </p:txBody>
      </p:sp>
      <p:pic>
        <p:nvPicPr>
          <p:cNvPr id="12" name="Picture 11" descr="impac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45" y="1709928"/>
            <a:ext cx="8901404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1248" y="4590288"/>
            <a:ext cx="332018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590288"/>
            <a:ext cx="100584" cy="13716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27448"/>
            <a:ext cx="29087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81C"/>
                </a:solidFill>
                <a:latin typeface="Segoe UI Semibold"/>
              </a:rPr>
              <a:t>AI detection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010912"/>
            <a:ext cx="29087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9BD6"/>
                </a:solidFill>
                <a:latin typeface="Segoe UI Semibold"/>
              </a:rPr>
              <a:t>88%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614416"/>
            <a:ext cx="2817266" cy="146304"/>
          </a:xfrm>
          <a:prstGeom prst="round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614416"/>
            <a:ext cx="2479194" cy="146304"/>
          </a:xfrm>
          <a:prstGeom prst="round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5754" y="4590288"/>
            <a:ext cx="332018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5754" y="4590288"/>
            <a:ext cx="100584" cy="13716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3498" y="4727448"/>
            <a:ext cx="29087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81C"/>
                </a:solidFill>
                <a:latin typeface="Segoe UI Semibold"/>
              </a:rPr>
              <a:t>Fertiliser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498" y="5010912"/>
            <a:ext cx="29087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9254"/>
                </a:solidFill>
                <a:latin typeface="Segoe UI Semibold"/>
              </a:rPr>
              <a:t>45%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1786" y="5614416"/>
            <a:ext cx="2817266" cy="146304"/>
          </a:xfrm>
          <a:prstGeom prst="round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91786" y="5614416"/>
            <a:ext cx="1267769" cy="146304"/>
          </a:xfrm>
          <a:prstGeom prst="round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30260" y="4590288"/>
            <a:ext cx="332018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0260" y="4590288"/>
            <a:ext cx="100584" cy="13716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8004" y="4727448"/>
            <a:ext cx="29087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81C"/>
                </a:solidFill>
                <a:latin typeface="Segoe UI Semibold"/>
              </a:rPr>
              <a:t>Cost saving / acre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8004" y="5010912"/>
            <a:ext cx="29087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2A03D"/>
                </a:solidFill>
                <a:latin typeface="Segoe UI Semibold"/>
              </a:rPr>
              <a:t>40%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6292" y="5614416"/>
            <a:ext cx="2817266" cy="146304"/>
          </a:xfrm>
          <a:prstGeom prst="round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86292" y="5614416"/>
            <a:ext cx="1126906" cy="146304"/>
          </a:xfrm>
          <a:prstGeom prst="round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612648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AA8A0"/>
                </a:solidFill>
                <a:latin typeface="Calibri"/>
              </a:rPr>
              <a:t>Projected from our simulation model &amp; targets — to be validated in field pilots.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BD6"/>
                </a:solidFill>
                <a:latin typeface="Segoe UI Semibold"/>
              </a:rPr>
              <a:t>EXECUTION &amp;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From prototype to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200400"/>
            <a:ext cx="10143439" cy="27432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044952"/>
            <a:ext cx="329184" cy="329184"/>
          </a:xfrm>
          <a:prstGeom prst="ellipse">
            <a:avLst/>
          </a:prstGeom>
          <a:solidFill>
            <a:srgbClr val="1F9254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1417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417320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837944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Hardware prototype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62"/>
                </a:solidFill>
                <a:latin typeface="Calibri"/>
              </a:rPr>
              <a:t>BTS7960 drive, NPK probe, pan/tilt sprayer, LiFePO4 — ~3 months</a:t>
            </a:r>
          </a:p>
        </p:txBody>
      </p:sp>
      <p:sp>
        <p:nvSpPr>
          <p:cNvPr id="17" name="Oval 16"/>
          <p:cNvSpPr/>
          <p:nvPr/>
        </p:nvSpPr>
        <p:spPr>
          <a:xfrm>
            <a:off x="4249826" y="3044952"/>
            <a:ext cx="329184" cy="329184"/>
          </a:xfrm>
          <a:prstGeom prst="ellipse">
            <a:avLst/>
          </a:prstGeom>
          <a:solidFill>
            <a:srgbClr val="2B9BD6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25114" y="36118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5114" y="3611880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5114" y="4032504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Pilot on 5–10 farms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62"/>
                </a:solidFill>
                <a:latin typeface="Calibri"/>
              </a:rPr>
              <a:t>measure input savings, accuracy &amp; uptime</a:t>
            </a:r>
          </a:p>
        </p:txBody>
      </p:sp>
      <p:sp>
        <p:nvSpPr>
          <p:cNvPr id="21" name="Oval 20"/>
          <p:cNvSpPr/>
          <p:nvPr/>
        </p:nvSpPr>
        <p:spPr>
          <a:xfrm>
            <a:off x="7630972" y="3044952"/>
            <a:ext cx="329184" cy="329184"/>
          </a:xfrm>
          <a:prstGeom prst="ellipse">
            <a:avLst/>
          </a:prstGeom>
          <a:solidFill>
            <a:srgbClr val="F2A03D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6260" y="1417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6260" y="1417320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ITERATE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6260" y="1837944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Harden from field 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62"/>
                </a:solidFill>
                <a:latin typeface="Calibri"/>
              </a:rPr>
              <a:t>tune dosing + AI; seal for dust &amp; 40–45 °C heat</a:t>
            </a:r>
          </a:p>
        </p:txBody>
      </p:sp>
      <p:sp>
        <p:nvSpPr>
          <p:cNvPr id="25" name="Oval 24"/>
          <p:cNvSpPr/>
          <p:nvPr/>
        </p:nvSpPr>
        <p:spPr>
          <a:xfrm>
            <a:off x="11012119" y="3044952"/>
            <a:ext cx="329184" cy="329184"/>
          </a:xfrm>
          <a:prstGeom prst="ellipse">
            <a:avLst/>
          </a:prstGeom>
          <a:solidFill>
            <a:srgbClr val="6A4C93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0127" y="36118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0127" y="3611880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0127" y="4032504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FPO / CHC roll-out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62"/>
                </a:solidFill>
                <a:latin typeface="Calibri"/>
              </a:rPr>
              <a:t>SMAM/AIF support → Rover-as-a-Service + data subscription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TEAM OF 4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Built end-to-end at IIT Bombay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755648"/>
            <a:ext cx="239412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1755648"/>
            <a:ext cx="2394127" cy="548640"/>
          </a:xfrm>
          <a:prstGeom prst="round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048256"/>
            <a:ext cx="2394127" cy="25603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81111" y="2103120"/>
            <a:ext cx="914400" cy="914400"/>
          </a:xfrm>
          <a:prstGeom prst="ellipse">
            <a:avLst/>
          </a:prstGeom>
          <a:solidFill>
            <a:srgbClr val="1F9254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111" y="21031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HK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127248"/>
            <a:ext cx="21746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Hitanshu Kapadiya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9254"/>
                </a:solidFill>
                <a:latin typeface="Calibri"/>
              </a:rPr>
              <a:t>Mechanical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6271" y="1755648"/>
            <a:ext cx="239412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46271" y="1755648"/>
            <a:ext cx="2394127" cy="548640"/>
          </a:xfrm>
          <a:prstGeom prst="round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46271" y="2048256"/>
            <a:ext cx="2394127" cy="25603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86135" y="2103120"/>
            <a:ext cx="914400" cy="914400"/>
          </a:xfrm>
          <a:prstGeom prst="ellipse">
            <a:avLst/>
          </a:prstGeom>
          <a:solidFill>
            <a:srgbClr val="2B9BD6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6135" y="21031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5999" y="3127248"/>
            <a:ext cx="21746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Vivek Gupta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9BD6"/>
                </a:solidFill>
                <a:latin typeface="Calibri"/>
              </a:rPr>
              <a:t>Mechanical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1295" y="1755648"/>
            <a:ext cx="239412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1295" y="1755648"/>
            <a:ext cx="2394127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1295" y="2048256"/>
            <a:ext cx="2394127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91159" y="2103120"/>
            <a:ext cx="914400" cy="914400"/>
          </a:xfrm>
          <a:prstGeom prst="ellipse">
            <a:avLst/>
          </a:prstGeom>
          <a:solidFill>
            <a:srgbClr val="6A4C93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1159" y="21031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SW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1023" y="3127248"/>
            <a:ext cx="21746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Shreyash Wagh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4C93"/>
                </a:solidFill>
                <a:latin typeface="Calibri"/>
              </a:rPr>
              <a:t>Mechanical Engineering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6319" y="1755648"/>
            <a:ext cx="239412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6319" y="1755648"/>
            <a:ext cx="2394127" cy="548640"/>
          </a:xfrm>
          <a:prstGeom prst="round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56319" y="2048256"/>
            <a:ext cx="2394127" cy="256032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96183" y="2103120"/>
            <a:ext cx="914400" cy="914400"/>
          </a:xfrm>
          <a:prstGeom prst="ellipse">
            <a:avLst/>
          </a:prstGeom>
          <a:solidFill>
            <a:srgbClr val="F2A03D"/>
          </a:solidFill>
          <a:ln>
            <a:noFill/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6183" y="21031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PN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6047" y="3127248"/>
            <a:ext cx="21746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2281C"/>
                </a:solidFill>
                <a:latin typeface="Segoe UI Semibold"/>
              </a:rPr>
              <a:t>Pritish Nandy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A03D"/>
                </a:solidFill>
                <a:latin typeface="Calibri"/>
              </a:rPr>
              <a:t>Aerospace Engineering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114800"/>
            <a:ext cx="10509199" cy="1600200"/>
          </a:xfrm>
          <a:prstGeom prst="roundRect">
            <a:avLst>
              <a:gd name="adj" fmla="val 4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" y="4334256"/>
            <a:ext cx="1000627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Why us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An IIT Bombay team of 4 that built the full software stack, circuit design and mechanical fabrication — end to end.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Impact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Lower input cost, less runoff, healthier soil and higher net income — affordable precision farming for every smallholder.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Segoe UI Semibold"/>
              </a:rPr>
              <a:t>BUDGET &amp; BUILD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Affordable, modular, costed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187035"/>
            <a:ext cx="6693408" cy="2886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s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41899"/>
            <a:ext cx="6583680" cy="27765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99248" y="1755648"/>
            <a:ext cx="3651199" cy="3931920"/>
          </a:xfrm>
          <a:prstGeom prst="roundRect">
            <a:avLst>
              <a:gd name="adj" fmla="val 4000"/>
            </a:avLst>
          </a:prstGeom>
          <a:solidFill>
            <a:srgbClr val="EEF4EC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1975104"/>
            <a:ext cx="314827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Build tiers (India prices)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Core / demo: ₹8,000–14,000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Core + Navigation: ₹12,000–20,000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Full AI build: ₹27,000–48,000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300"/>
              </a:spcAft>
            </a:pPr>
            <a:r>
              <a:rPr sz="1350" b="1" i="0">
                <a:solidFill>
                  <a:srgbClr val="1F9254"/>
                </a:solidFill>
                <a:latin typeface="Segoe UI Semibold"/>
              </a:rPr>
              <a:t>Notes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Off-the-shelf parts; software is free.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3D-printed parts are PETG, not bought.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1150" b="1">
                <a:solidFill>
                  <a:srgbClr val="1F9254"/>
                </a:solidFill>
              </a:rPr>
              <a:t>▪  </a:t>
            </a:r>
            <a:r>
              <a:rPr sz="1150">
                <a:solidFill>
                  <a:srgbClr val="12281C"/>
                </a:solidFill>
                <a:latin typeface="Calibri"/>
              </a:rPr>
              <a:t>Verify prices before ordering.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3B2A"/>
              </a:gs>
              <a:gs pos="100000">
                <a:srgbClr val="07271B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FB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2743200"/>
            <a:ext cx="5120640" cy="5120640"/>
          </a:xfrm>
          <a:prstGeom prst="ellipse">
            <a:avLst/>
          </a:prstGeom>
          <a:solidFill>
            <a:srgbClr val="1F9254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solidFill>
            <a:srgbClr val="6FBF4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640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6FB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rdrop 6"/>
          <p:cNvSpPr/>
          <p:nvPr/>
        </p:nvSpPr>
        <p:spPr>
          <a:xfrm rot="8100000">
            <a:off x="950976" y="704088"/>
            <a:ext cx="237744" cy="283464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603503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 Semibold"/>
              </a:rPr>
              <a:t>Agri</a:t>
            </a:r>
            <a:r>
              <a:rPr sz="1700" b="1">
                <a:solidFill>
                  <a:srgbClr val="6FBF44"/>
                </a:solidFill>
                <a:latin typeface="Segoe UI Semibold"/>
              </a:rPr>
              <a:t>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546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9EAD9"/>
                </a:solidFill>
                <a:latin typeface="Calibri"/>
              </a:rPr>
              <a:t>Precision farming for every small farm.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4048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 Semibold"/>
              </a:rPr>
              <a:t>OUR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16052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6FBF4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EAF3EA"/>
                </a:solidFill>
                <a:latin typeface="Calibri"/>
              </a:rPr>
              <a:t>Mentorship &amp; a pilot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field access via an FPO / Custom Hiring Centre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 b="1">
                <a:solidFill>
                  <a:srgbClr val="6FBF44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EAF3EA"/>
                </a:solidFill>
                <a:latin typeface="Calibri"/>
              </a:rPr>
              <a:t>Seed support</a:t>
            </a:r>
            <a:r>
              <a:rPr sz="1250" b="0">
                <a:solidFill>
                  <a:srgbClr val="5B6B62"/>
                </a:solidFill>
                <a:latin typeface="Calibri"/>
              </a:rPr>
              <a:t>  —  to build the hardware prototype and run the first pilots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440680"/>
            <a:ext cx="10515600" cy="18288"/>
          </a:xfrm>
          <a:prstGeom prst="rect">
            <a:avLst/>
          </a:prstGeom>
          <a:solidFill>
            <a:srgbClr val="27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55955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Hitanshu Kapadiya · Vivek Gupta · Shreyash Wagh · Pritish Nandy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C2AC"/>
                </a:solidFill>
                <a:latin typeface="Calibri"/>
              </a:rPr>
              <a:t>IIT Bombay  ·  IITB–Groww INV.ENT  ·  Track A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3B2A"/>
              </a:gs>
              <a:gs pos="100000">
                <a:srgbClr val="07271B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F925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B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743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03D"/>
                </a:solidFill>
                <a:latin typeface="Segoe UI Semibold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Engineering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6D8"/>
                </a:solidFill>
                <a:latin typeface="Calibri"/>
              </a:rPr>
              <a:t>Verified circuit, drive, mechanical layout &amp; field-risk engineering.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BD6"/>
                </a:solidFill>
                <a:latin typeface="Segoe UI Semibold"/>
              </a:rPr>
              <a:t>APPENDIX ·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Every wire accounted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645920"/>
            <a:ext cx="105091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62"/>
                </a:solidFill>
                <a:latin typeface="Calibri"/>
              </a:rPr>
              <a:t>110 BOM components + 15 gap-audit items — every bus, divider and safety part placed.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5637" y="2139696"/>
            <a:ext cx="5360419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501" y="2194560"/>
            <a:ext cx="5250691" cy="3758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5971031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Consolidated v2 wiring schematic — red = safety-critical paths.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9BD6"/>
                </a:solidFill>
                <a:latin typeface="Segoe UI Semibold"/>
              </a:rPr>
              <a:t>APPENDIX · DRIVE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MOSFET power for soil 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2B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82548" y="1609344"/>
            <a:ext cx="6089799" cy="423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iv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412" y="1664208"/>
            <a:ext cx="5980071" cy="4123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580644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Pin-level 2× BTS7960 (IBT-2) drive schematic.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892808"/>
            <a:ext cx="2462479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B9BD6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2× BTS7960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replaced the L298N (FC-10)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B9BD6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~43 A peak/side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handles soil-loaded motors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B9BD6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Dual-PWM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forward / reverse / coast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B9BD6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1N5819 flyback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clamps back-EMF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B9BD6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Current-sense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IS → stall detection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9254"/>
                </a:solidFill>
                <a:latin typeface="Segoe UI Semibold"/>
              </a:rPr>
              <a:t>APPENDIX ·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Stable, service-friendly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1F9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9446" y="1609344"/>
            <a:ext cx="5464563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FE7"/>
            </a:solidFill>
          </a:ln>
          <a:effectLst>
            <a:outerShdw blurRad="90000" dist="38000" dir="5400000" rotWithShape="0">
              <a:srgbClr val="0B24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ssis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10" y="1664208"/>
            <a:ext cx="5354835" cy="4078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576072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62"/>
                </a:solidFill>
                <a:latin typeface="Calibri"/>
              </a:rPr>
              <a:t>To-scale layout from verified component coordinates.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1892808"/>
            <a:ext cx="2553919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Double-decker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320 × 450 mm, two layers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Low CoG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battery + tank low, centred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Fluids below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leaks drain from the Pi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Heat apart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drivers at the rear + fan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1F9254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2281C"/>
                </a:solidFill>
                <a:latin typeface="Calibri"/>
              </a:rPr>
              <a:t>Field-hardened</a:t>
            </a:r>
            <a:r>
              <a:rPr sz="1150" b="0">
                <a:solidFill>
                  <a:srgbClr val="5B6B62"/>
                </a:solidFill>
                <a:latin typeface="Calibri"/>
              </a:rPr>
              <a:t>  —  grommets, glands, coating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Segoe UI Semibold"/>
              </a:rPr>
              <a:t>APPENDIX · FIELD-READY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836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2281C"/>
                </a:solidFill>
                <a:latin typeface="Segoe UI Semibold"/>
              </a:rPr>
              <a:t>Ten field risks, engineered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71600"/>
            <a:ext cx="1371600" cy="50292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175" y="457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2281C"/>
                </a:solidFill>
                <a:latin typeface="Segoe UI Semibold"/>
              </a:rPr>
              <a:t>Agri</a:t>
            </a:r>
            <a:r>
              <a:rPr sz="1250" b="1">
                <a:solidFill>
                  <a:srgbClr val="1F9254"/>
                </a:solidFill>
                <a:latin typeface="Segoe UI Semibold"/>
              </a:rPr>
              <a:t>Rover</a:t>
            </a:r>
          </a:p>
        </p:txBody>
      </p:sp>
      <p:sp>
        <p:nvSpPr>
          <p:cNvPr id="8" name="Oval 7"/>
          <p:cNvSpPr/>
          <p:nvPr/>
        </p:nvSpPr>
        <p:spPr>
          <a:xfrm>
            <a:off x="11624767" y="530352"/>
            <a:ext cx="182880" cy="182880"/>
          </a:xfrm>
          <a:prstGeom prst="ellipse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6455664"/>
            <a:ext cx="10509199" cy="12801"/>
          </a:xfrm>
          <a:prstGeom prst="rect">
            <a:avLst/>
          </a:prstGeom>
          <a:solidFill>
            <a:srgbClr val="E7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AgriRover  ·  IITB–Groww INV.ENT  ·  Track A  ·  Team of 4 (IIT Bombay)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3167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8A0"/>
                </a:solidFill>
                <a:latin typeface="Calibri"/>
              </a:rPr>
              <a:t>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8" y="1682496"/>
          <a:ext cx="10469880" cy="4434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3840480"/>
                <a:gridCol w="4251960"/>
                <a:gridCol w="1371600"/>
              </a:tblGrid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ID</a:t>
                      </a:r>
                    </a:p>
                  </a:txBody>
                  <a:tcPr marL="73152" marR="45720" marT="9144" marB="9144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Field challenge</a:t>
                      </a:r>
                    </a:p>
                  </a:txBody>
                  <a:tcPr marL="73152" marR="45720" marT="9144" marB="9144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Engineered solution</a:t>
                      </a:r>
                    </a:p>
                  </a:txBody>
                  <a:tcPr marL="73152" marR="45720" marT="9144" marB="9144" anchor="ctr">
                    <a:solidFill>
                      <a:srgbClr val="0E3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Status</a:t>
                      </a:r>
                    </a:p>
                  </a:txBody>
                  <a:tcPr marL="73152" marR="45720" marT="9144" marB="9144" anchor="ctr">
                    <a:solidFill>
                      <a:srgbClr val="0E3B2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FC-01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Weeds above the pathway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Vision-guided pan/tilt aimed spray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2A03D"/>
                          </a:solidFill>
                          <a:latin typeface="Calibri"/>
                        </a:rPr>
                        <a:t>Code-ready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FC-02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Field heat → battery fire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Thermal guardian + NTC + LiFePO4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2A03D"/>
                          </a:solidFill>
                          <a:latin typeface="Calibri"/>
                        </a:rPr>
                        <a:t>Code-ready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FC-03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Actuator retract type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Dual compile-flag branches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2A03D"/>
                          </a:solidFill>
                          <a:latin typeface="Calibri"/>
                        </a:rPr>
                        <a:t>Code-ready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FC-04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Per-plant GPS precision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SBAS + averaging + EKF + vision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FC-05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Sensors over-volt the ADC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Powered from the 3.3 V rail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FC-06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Relays twitch ON at boot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10 kΩ pull-ups + fail-safe OFF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FC-07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Comms link drops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HMAC heartbeat dead-man halt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FC-08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Dust, dew &amp; spray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Conformal coat + glands + gaskets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FC-09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Wheel / cutter jam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ADS1115 current-sense stall stop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 marL="73152" marR="45720" marT="9144" marB="9144" anchor="ctr"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9254"/>
                          </a:solidFill>
                          <a:latin typeface="Segoe UI Semibold"/>
                        </a:rPr>
                        <a:t>FC-10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Driver under-spec (L298N)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2281C"/>
                          </a:solidFill>
                          <a:latin typeface="Calibri"/>
                        </a:rPr>
                        <a:t>2× BTS7960 MOSFET drivers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2A03D"/>
                          </a:solidFill>
                          <a:latin typeface="Calibri"/>
                        </a:rPr>
                        <a:t>Code-ready</a:t>
                      </a:r>
                    </a:p>
                  </a:txBody>
                  <a:tcPr marL="73152" marR="45720" marT="9144" marB="9144" anchor="ctr">
                    <a:solidFill>
                      <a:srgbClr val="EE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