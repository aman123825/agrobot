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3B2A"/>
              </a:gs>
              <a:gs pos="100000">
                <a:srgbClr val="07271B"/>
              </a:gs>
            </a:gsLst>
            <a:lin scaled="0" ang="183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FB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869680" y="-2011680"/>
            <a:ext cx="5120640" cy="5120640"/>
          </a:xfrm>
          <a:prstGeom prst="ellipse">
            <a:avLst/>
          </a:prstGeom>
          <a:solidFill>
            <a:srgbClr val="1F9254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07040" y="3291840"/>
            <a:ext cx="3840480" cy="3840480"/>
          </a:xfrm>
          <a:prstGeom prst="ellipse">
            <a:avLst/>
          </a:prstGeom>
          <a:solidFill>
            <a:srgbClr val="6FBF44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955279" y="4480560"/>
            <a:ext cx="2011680" cy="2011680"/>
          </a:xfrm>
          <a:prstGeom prst="ellipse">
            <a:avLst/>
          </a:prstGeom>
          <a:solidFill>
            <a:srgbClr val="F2A03D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1248" y="56692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6FB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ardrop 7"/>
          <p:cNvSpPr/>
          <p:nvPr/>
        </p:nvSpPr>
        <p:spPr>
          <a:xfrm rot="8100000">
            <a:off x="955365" y="633496"/>
            <a:ext cx="247253" cy="294802"/>
          </a:xfrm>
          <a:prstGeom prst="teardrop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6464" y="530352"/>
            <a:ext cx="2743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Segoe UI Semibold"/>
              </a:rPr>
              <a:t>Agri</a:t>
            </a:r>
            <a:r>
              <a:rPr sz="1700" b="1">
                <a:solidFill>
                  <a:srgbClr val="6FBF44"/>
                </a:solidFill>
                <a:latin typeface="Segoe UI Semibold"/>
              </a:rPr>
              <a:t>Rover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8288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03D"/>
                </a:solidFill>
                <a:latin typeface="Segoe UI Semibold"/>
              </a:rPr>
              <a:t>PRECISION FARMING FOR EVERY SMALL FARM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" y="2176272"/>
            <a:ext cx="9875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600" b="1">
                <a:solidFill>
                  <a:srgbClr val="FFFFFF"/>
                </a:solidFill>
                <a:latin typeface="Segoe UI Semibold"/>
              </a:rPr>
              <a:t>Agri</a:t>
            </a:r>
            <a:r>
              <a:rPr sz="6600" b="1">
                <a:solidFill>
                  <a:srgbClr val="6FBF44"/>
                </a:solidFill>
                <a:latin typeface="Segoe UI Semibold"/>
              </a:rPr>
              <a:t>Rover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45643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D9EAD9"/>
                </a:solidFill>
                <a:latin typeface="Segoe UI"/>
              </a:rPr>
              <a:t>Affordable autonomous rover — soil-NPK sensing · AI weed &amp; disease detection · per-plant micro-dosing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4434840"/>
            <a:ext cx="4114800" cy="329184"/>
          </a:xfrm>
          <a:prstGeom prst="roundRect">
            <a:avLst>
              <a:gd name="adj" fmla="val 50000"/>
            </a:avLst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434840"/>
            <a:ext cx="41148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2281C"/>
                </a:solidFill>
                <a:latin typeface="Segoe UI"/>
              </a:rPr>
              <a:t>IITB–Groww INV.ENT  ·  Track 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5138928"/>
            <a:ext cx="10515600" cy="18288"/>
          </a:xfrm>
          <a:prstGeom prst="rect">
            <a:avLst/>
          </a:prstGeom>
          <a:solidFill>
            <a:srgbClr val="275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528523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6FBF44"/>
                </a:solidFill>
                <a:latin typeface="Calibri"/>
              </a:rPr>
              <a:t>Team of 4 · IIT Bombay:  </a:t>
            </a:r>
            <a:r>
              <a:rPr sz="1250" b="1">
                <a:solidFill>
                  <a:srgbClr val="FFFFFF"/>
                </a:solidFill>
                <a:latin typeface="Calibri"/>
              </a:rPr>
              <a:t>Hitanshu Kapadiya · Vivek Gupta · Shreyash Wagh · Pritish Nandy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5632704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FC2AC"/>
                </a:solidFill>
                <a:latin typeface="Calibri"/>
              </a:rPr>
              <a:t>Mechanical Engineering ×3  ·  Aerospace Engineering ×1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Segoe UI Semibold"/>
              </a:rPr>
              <a:t>PROBLEM &amp;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Farming runs on guesswork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1664208"/>
            <a:ext cx="1050919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B6B62"/>
                </a:solidFill>
                <a:latin typeface="Calibri"/>
              </a:rPr>
              <a:t>Fertiliser and water are applied blindly — with no feedback on what each plant actually needs — so inputs are wasted and the soil is degraded.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2395728"/>
            <a:ext cx="5071719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" y="2395728"/>
            <a:ext cx="109728" cy="137160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7280" y="2633472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3347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 Semibold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2596896"/>
            <a:ext cx="388299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81C"/>
                </a:solidFill>
                <a:latin typeface="Segoe UI Semibold"/>
              </a:rPr>
              <a:t>Farms too small for machinery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3328416"/>
            <a:ext cx="456879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B62"/>
                </a:solidFill>
                <a:latin typeface="Calibri"/>
              </a:rPr>
              <a:t>≈86% of holdings are under 2 ha — too small for tractors.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2395728"/>
            <a:ext cx="5071719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78727" y="2395728"/>
            <a:ext cx="109728" cy="1371600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34759" y="2633472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4759" y="263347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 Semibold"/>
              </a:rPr>
              <a:t>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47991" y="2596896"/>
            <a:ext cx="388299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81C"/>
                </a:solidFill>
                <a:latin typeface="Segoe UI Semibold"/>
              </a:rPr>
              <a:t>Fertilise by guesswork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047" y="3328416"/>
            <a:ext cx="456879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B62"/>
                </a:solidFill>
                <a:latin typeface="Calibri"/>
              </a:rPr>
              <a:t>No feedback loop to sense soil NPK or dose per plant.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" y="4023360"/>
            <a:ext cx="5071719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1248" y="4023360"/>
            <a:ext cx="109728" cy="1371600"/>
          </a:xfrm>
          <a:prstGeom prst="rect">
            <a:avLst/>
          </a:prstGeom>
          <a:solidFill>
            <a:srgbClr val="B46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97280" y="4261104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B46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26110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 Semibold"/>
              </a:rPr>
              <a:t>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10512" y="4224528"/>
            <a:ext cx="388299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81C"/>
                </a:solidFill>
                <a:latin typeface="Segoe UI Semibold"/>
              </a:rPr>
              <a:t>NPK imbalance vs 4:2:1 (FAI)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" y="4956048"/>
            <a:ext cx="456879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B62"/>
                </a:solidFill>
                <a:latin typeface="Calibri"/>
              </a:rPr>
              <a:t>Blanket urea over-application wastes money and degrades soil.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78727" y="4023360"/>
            <a:ext cx="5071719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78727" y="4023360"/>
            <a:ext cx="109728" cy="137160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534759" y="4261104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4759" y="426110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 Semibold"/>
              </a:rPr>
              <a:t>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47991" y="4224528"/>
            <a:ext cx="388299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81C"/>
                </a:solidFill>
                <a:latin typeface="Segoe UI Semibold"/>
              </a:rPr>
              <a:t>Soil Health Cards underused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3047" y="4956048"/>
            <a:ext cx="456879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B62"/>
                </a:solidFill>
                <a:latin typeface="Calibri"/>
              </a:rPr>
              <a:t>Soil-test labs take 2–3 weeks, so guesswork wins.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" y="6126480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9AA8A0"/>
                </a:solidFill>
                <a:latin typeface="Calibri"/>
              </a:rPr>
              <a:t>Sources: Agriculture Census 2015–16; FAI. Indicative.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9254"/>
                </a:solidFill>
                <a:latin typeface="Segoe UI Semibold"/>
              </a:rPr>
              <a:t>SOLUTION &amp;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One autonomous field rover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1664208"/>
            <a:ext cx="10509199" cy="50292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B6B62"/>
                </a:solidFill>
                <a:latin typeface="Calibri"/>
              </a:rPr>
              <a:t>An autonomous rover that closes the sense–decide–act loop for each plant: it measures soil N-P-K, pH and moisture, identifies weeds and disease with AI vision (YOLOv8n on an edge TPU), then actuates precise per-plant dosing and targeted spraying — logging geo-tagged data into a prescription map.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2377440"/>
            <a:ext cx="2421559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" y="2377440"/>
            <a:ext cx="109728" cy="2651760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7280" y="2615184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151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2578608"/>
            <a:ext cx="12328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2281C"/>
                </a:solidFill>
                <a:latin typeface="Segoe UI Semibold"/>
              </a:rPr>
              <a:t>SENSE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3310128"/>
            <a:ext cx="1918639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62"/>
                </a:solidFill>
                <a:latin typeface="Calibri"/>
              </a:rPr>
              <a:t>Soil probe: N·P·K, pH, EC &amp; moisture (RS485)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37127" y="2377440"/>
            <a:ext cx="2421559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37127" y="2377440"/>
            <a:ext cx="109728" cy="2651760"/>
          </a:xfrm>
          <a:prstGeom prst="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793159" y="2615184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93159" y="26151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6391" y="2578608"/>
            <a:ext cx="12328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2281C"/>
                </a:solidFill>
                <a:latin typeface="Segoe UI Semibold"/>
              </a:rPr>
              <a:t>DECIDE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1447" y="3310128"/>
            <a:ext cx="1918639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62"/>
                </a:solidFill>
                <a:latin typeface="Calibri"/>
              </a:rPr>
              <a:t>AI vision: weed, disease &amp; obstacle (YOLOv8n)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3007" y="2377440"/>
            <a:ext cx="2421559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3007" y="2377440"/>
            <a:ext cx="109728" cy="2651760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89039" y="2615184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9039" y="26151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2271" y="2578608"/>
            <a:ext cx="12328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2281C"/>
                </a:solidFill>
                <a:latin typeface="Segoe UI Semibold"/>
              </a:rPr>
              <a:t>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310128"/>
            <a:ext cx="1918639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62"/>
                </a:solidFill>
                <a:latin typeface="Calibri"/>
              </a:rPr>
              <a:t>Acts: micro-dose, spot-spray, cut &amp; seed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28887" y="2377440"/>
            <a:ext cx="2421559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28887" y="2377440"/>
            <a:ext cx="109728" cy="265176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184919" y="2615184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84919" y="26151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98151" y="2578608"/>
            <a:ext cx="12328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2281C"/>
                </a:solidFill>
                <a:latin typeface="Segoe UI Semibold"/>
              </a:rPr>
              <a:t>LEARN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03207" y="3310128"/>
            <a:ext cx="1918639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62"/>
                </a:solidFill>
                <a:latin typeface="Calibri"/>
              </a:rPr>
              <a:t>Learns: geo-tagged logs → prescription maps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1248" y="5321808"/>
            <a:ext cx="10509199" cy="603504"/>
          </a:xfrm>
          <a:prstGeom prst="roundRect">
            <a:avLst>
              <a:gd name="adj" fmla="val 40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15568" y="5321808"/>
            <a:ext cx="996055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1F9254"/>
                </a:solidFill>
                <a:latin typeface="Segoe UI Semibold"/>
              </a:rPr>
              <a:t>Why it's different: the only autonomous, per-plant solution that also senses the soil — built for small farms.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9BD6"/>
                </a:solidFill>
                <a:latin typeface="Segoe UI Semibold"/>
              </a:rPr>
              <a:t>WHY AGRIROVER?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Vs the alternatives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4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41248" y="1709928"/>
          <a:ext cx="10515600" cy="34289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0"/>
                <a:gridCol w="1737360"/>
                <a:gridCol w="1645920"/>
                <a:gridCol w="1600200"/>
                <a:gridCol w="1691640"/>
              </a:tblGrid>
              <a:tr h="48985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Segoe UI Semibold"/>
                        </a:rPr>
                        <a:t>Capability</a:t>
                      </a:r>
                    </a:p>
                  </a:txBody>
                  <a:tcPr marL="109728" marR="54864" marT="18288" marB="18288" anchor="ctr">
                    <a:solidFill>
                      <a:srgbClr val="0E3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 Semibold"/>
                        </a:rPr>
                        <a:t>AgriRover</a:t>
                      </a:r>
                    </a:p>
                  </a:txBody>
                  <a:tcPr marL="109728" marR="54864" marT="18288" marB="18288" anchor="ctr">
                    <a:solidFill>
                      <a:srgbClr val="0E3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 Semibold"/>
                        </a:rPr>
                        <a:t>Big-ag
machinery</a:t>
                      </a:r>
                    </a:p>
                  </a:txBody>
                  <a:tcPr marL="109728" marR="54864" marT="18288" marB="18288" anchor="ctr">
                    <a:solidFill>
                      <a:srgbClr val="0E3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 Semibold"/>
                        </a:rPr>
                        <a:t>Manual
labour</a:t>
                      </a:r>
                    </a:p>
                  </a:txBody>
                  <a:tcPr marL="109728" marR="54864" marT="18288" marB="18288" anchor="ctr">
                    <a:solidFill>
                      <a:srgbClr val="0E3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 Semibold"/>
                        </a:rPr>
                        <a:t>Ag-drones</a:t>
                      </a:r>
                    </a:p>
                  </a:txBody>
                  <a:tcPr marL="109728" marR="54864" marT="18288" marB="18288" anchor="ctr">
                    <a:solidFill>
                      <a:srgbClr val="0E3B2A"/>
                    </a:solidFill>
                  </a:tcPr>
                </a:tc>
              </a:tr>
              <a:tr h="48985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2281C"/>
                          </a:solidFill>
                          <a:latin typeface="Calibri"/>
                        </a:rPr>
                        <a:t>Affordable for &lt;2 ha farms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254"/>
                          </a:solidFill>
                          <a:latin typeface="Segoe UI Semibold"/>
                        </a:rPr>
                        <a:t>✓</a:t>
                      </a:r>
                    </a:p>
                  </a:txBody>
                  <a:tcPr marL="109728" marR="54864" marT="18288" marB="18288" anchor="ctr">
                    <a:solidFill>
                      <a:srgbClr val="E7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473B"/>
                          </a:solidFill>
                          <a:latin typeface="Segoe UI Semibold"/>
                        </a:rPr>
                        <a:t>✗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254"/>
                          </a:solidFill>
                          <a:latin typeface="Segoe UI Semibold"/>
                        </a:rPr>
                        <a:t>✓*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2A03D"/>
                          </a:solidFill>
                          <a:latin typeface="Segoe UI Semibold"/>
                        </a:rPr>
                        <a:t>~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</a:tr>
              <a:tr h="48985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2281C"/>
                          </a:solidFill>
                          <a:latin typeface="Calibri"/>
                        </a:rPr>
                        <a:t>Senses soil NPK per spot</a:t>
                      </a:r>
                    </a:p>
                  </a:txBody>
                  <a:tcPr marL="109728" marR="54864" marT="18288" marB="18288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254"/>
                          </a:solidFill>
                          <a:latin typeface="Segoe UI Semibold"/>
                        </a:rPr>
                        <a:t>✓</a:t>
                      </a:r>
                    </a:p>
                  </a:txBody>
                  <a:tcPr marL="109728" marR="54864" marT="18288" marB="18288" anchor="ctr">
                    <a:solidFill>
                      <a:srgbClr val="E7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473B"/>
                          </a:solidFill>
                          <a:latin typeface="Segoe UI Semibold"/>
                        </a:rPr>
                        <a:t>✗</a:t>
                      </a:r>
                    </a:p>
                  </a:txBody>
                  <a:tcPr marL="109728" marR="54864" marT="18288" marB="18288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473B"/>
                          </a:solidFill>
                          <a:latin typeface="Segoe UI Semibold"/>
                        </a:rPr>
                        <a:t>✗</a:t>
                      </a:r>
                    </a:p>
                  </a:txBody>
                  <a:tcPr marL="109728" marR="54864" marT="18288" marB="18288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473B"/>
                          </a:solidFill>
                          <a:latin typeface="Segoe UI Semibold"/>
                        </a:rPr>
                        <a:t>✗</a:t>
                      </a:r>
                    </a:p>
                  </a:txBody>
                  <a:tcPr marL="109728" marR="54864" marT="18288" marB="18288" anchor="ctr">
                    <a:solidFill>
                      <a:srgbClr val="EEF4EC"/>
                    </a:solidFill>
                  </a:tcPr>
                </a:tc>
              </a:tr>
              <a:tr h="48985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2281C"/>
                          </a:solidFill>
                          <a:latin typeface="Calibri"/>
                        </a:rPr>
                        <a:t>Per-plant micro-dosing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254"/>
                          </a:solidFill>
                          <a:latin typeface="Segoe UI Semibold"/>
                        </a:rPr>
                        <a:t>✓</a:t>
                      </a:r>
                    </a:p>
                  </a:txBody>
                  <a:tcPr marL="109728" marR="54864" marT="18288" marB="18288" anchor="ctr">
                    <a:solidFill>
                      <a:srgbClr val="E7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473B"/>
                          </a:solidFill>
                          <a:latin typeface="Segoe UI Semibold"/>
                        </a:rPr>
                        <a:t>✗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2A03D"/>
                          </a:solidFill>
                          <a:latin typeface="Segoe UI Semibold"/>
                        </a:rPr>
                        <a:t>~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473B"/>
                          </a:solidFill>
                          <a:latin typeface="Segoe UI Semibold"/>
                        </a:rPr>
                        <a:t>✗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</a:tr>
              <a:tr h="48985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2281C"/>
                          </a:solidFill>
                          <a:latin typeface="Calibri"/>
                        </a:rPr>
                        <a:t>AI weed &amp; disease ID</a:t>
                      </a:r>
                    </a:p>
                  </a:txBody>
                  <a:tcPr marL="109728" marR="54864" marT="18288" marB="18288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254"/>
                          </a:solidFill>
                          <a:latin typeface="Segoe UI Semibold"/>
                        </a:rPr>
                        <a:t>✓</a:t>
                      </a:r>
                    </a:p>
                  </a:txBody>
                  <a:tcPr marL="109728" marR="54864" marT="18288" marB="18288" anchor="ctr">
                    <a:solidFill>
                      <a:srgbClr val="E7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473B"/>
                          </a:solidFill>
                          <a:latin typeface="Segoe UI Semibold"/>
                        </a:rPr>
                        <a:t>✗</a:t>
                      </a:r>
                    </a:p>
                  </a:txBody>
                  <a:tcPr marL="109728" marR="54864" marT="18288" marB="18288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473B"/>
                          </a:solidFill>
                          <a:latin typeface="Segoe UI Semibold"/>
                        </a:rPr>
                        <a:t>✗</a:t>
                      </a:r>
                    </a:p>
                  </a:txBody>
                  <a:tcPr marL="109728" marR="54864" marT="18288" marB="18288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2A03D"/>
                          </a:solidFill>
                          <a:latin typeface="Segoe UI Semibold"/>
                        </a:rPr>
                        <a:t>~</a:t>
                      </a:r>
                    </a:p>
                  </a:txBody>
                  <a:tcPr marL="109728" marR="54864" marT="18288" marB="18288" anchor="ctr">
                    <a:solidFill>
                      <a:srgbClr val="EEF4EC"/>
                    </a:solidFill>
                  </a:tcPr>
                </a:tc>
              </a:tr>
              <a:tr h="48985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2281C"/>
                          </a:solidFill>
                          <a:latin typeface="Calibri"/>
                        </a:rPr>
                        <a:t>Autonomous operation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254"/>
                          </a:solidFill>
                          <a:latin typeface="Segoe UI Semibold"/>
                        </a:rPr>
                        <a:t>✓</a:t>
                      </a:r>
                    </a:p>
                  </a:txBody>
                  <a:tcPr marL="109728" marR="54864" marT="18288" marB="18288" anchor="ctr">
                    <a:solidFill>
                      <a:srgbClr val="E7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254"/>
                          </a:solidFill>
                          <a:latin typeface="Segoe UI Semibold"/>
                        </a:rPr>
                        <a:t>✓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473B"/>
                          </a:solidFill>
                          <a:latin typeface="Segoe UI Semibold"/>
                        </a:rPr>
                        <a:t>✗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2A03D"/>
                          </a:solidFill>
                          <a:latin typeface="Segoe UI Semibold"/>
                        </a:rPr>
                        <a:t>~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</a:tr>
              <a:tr h="48985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2281C"/>
                          </a:solidFill>
                          <a:latin typeface="Calibri"/>
                        </a:rPr>
                        <a:t>One-time low-cost asset</a:t>
                      </a:r>
                    </a:p>
                  </a:txBody>
                  <a:tcPr marL="109728" marR="54864" marT="18288" marB="18288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254"/>
                          </a:solidFill>
                          <a:latin typeface="Segoe UI Semibold"/>
                        </a:rPr>
                        <a:t>✓</a:t>
                      </a:r>
                    </a:p>
                  </a:txBody>
                  <a:tcPr marL="109728" marR="54864" marT="18288" marB="18288" anchor="ctr">
                    <a:solidFill>
                      <a:srgbClr val="E7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473B"/>
                          </a:solidFill>
                          <a:latin typeface="Segoe UI Semibold"/>
                        </a:rPr>
                        <a:t>✗</a:t>
                      </a:r>
                    </a:p>
                  </a:txBody>
                  <a:tcPr marL="109728" marR="54864" marT="18288" marB="18288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473B"/>
                          </a:solidFill>
                          <a:latin typeface="Segoe UI Semibold"/>
                        </a:rPr>
                        <a:t>✗</a:t>
                      </a:r>
                    </a:p>
                  </a:txBody>
                  <a:tcPr marL="109728" marR="54864" marT="18288" marB="18288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2A03D"/>
                          </a:solidFill>
                          <a:latin typeface="Segoe UI Semibold"/>
                        </a:rPr>
                        <a:t>~</a:t>
                      </a:r>
                    </a:p>
                  </a:txBody>
                  <a:tcPr marL="109728" marR="54864" marT="18288" marB="18288" anchor="ctr">
                    <a:solidFill>
                      <a:srgbClr val="EEF4EC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841248" y="5303520"/>
            <a:ext cx="10509199" cy="548640"/>
          </a:xfrm>
          <a:prstGeom prst="roundRect">
            <a:avLst>
              <a:gd name="adj" fmla="val 40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5303520"/>
            <a:ext cx="996055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F9254"/>
                </a:solidFill>
                <a:latin typeface="Segoe UI Semibold"/>
              </a:rPr>
              <a:t>Our edge:  </a:t>
            </a:r>
            <a:r>
              <a:rPr sz="1200" b="0">
                <a:solidFill>
                  <a:srgbClr val="12281C"/>
                </a:solidFill>
                <a:latin typeface="Calibri"/>
              </a:rPr>
              <a:t>affordable + autonomous + per-plant, in one asset that also senses soil.   </a:t>
            </a:r>
            <a:r>
              <a:rPr sz="1050" b="0">
                <a:solidFill>
                  <a:srgbClr val="5B6B62"/>
                </a:solidFill>
                <a:latin typeface="Calibri"/>
              </a:rPr>
              <a:t>*manual labour is cheap per use but recurring.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9254"/>
                </a:solidFill>
                <a:latin typeface="Segoe UI Semibold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Two brains, one mission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1645920"/>
            <a:ext cx="1050919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5B6B62"/>
                </a:solidFill>
                <a:latin typeface="Calibri"/>
              </a:rPr>
              <a:t>A real-time ESP32 (FreeRTOS) runs drive, sensing &amp; dosing; a Raspberry Pi 4 runs AI vision &amp; analytics — over an HMAC-signed link.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67613" y="2185416"/>
            <a:ext cx="6656468" cy="3776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2477" y="2240280"/>
            <a:ext cx="6546740" cy="3666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41248" y="5925312"/>
            <a:ext cx="105091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B6B62"/>
                </a:solidFill>
                <a:latin typeface="Calibri"/>
              </a:rPr>
              <a:t>Dual-controller architecture — real-time control + on-board AI.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9254"/>
                </a:solidFill>
                <a:latin typeface="Segoe UI Semibold"/>
              </a:rPr>
              <a:t>SENSE &amp; 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Know the soil, see the crop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1709928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00" b="1">
                <a:solidFill>
                  <a:srgbClr val="1F9254"/>
                </a:solidFill>
                <a:latin typeface="Segoe UI Semibold"/>
              </a:rPr>
              <a:t>▸  </a:t>
            </a:r>
            <a:r>
              <a:rPr sz="1400" b="1">
                <a:solidFill>
                  <a:srgbClr val="12281C"/>
                </a:solidFill>
                <a:latin typeface="Calibri"/>
              </a:rPr>
              <a:t>7-in-1 soil probe</a:t>
            </a:r>
            <a:r>
              <a:rPr sz="1250" b="0">
                <a:solidFill>
                  <a:srgbClr val="5B6B62"/>
                </a:solidFill>
                <a:latin typeface="Calibri"/>
              </a:rPr>
              <a:t>  —  N·P·K·pH·EC·moisture·temp over RS485 Modbus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00" b="1">
                <a:solidFill>
                  <a:srgbClr val="1F9254"/>
                </a:solidFill>
                <a:latin typeface="Segoe UI Semibold"/>
              </a:rPr>
              <a:t>▸  </a:t>
            </a:r>
            <a:r>
              <a:rPr sz="1400" b="1">
                <a:solidFill>
                  <a:srgbClr val="12281C"/>
                </a:solidFill>
                <a:latin typeface="Calibri"/>
              </a:rPr>
              <a:t>Calibrated &amp; robust</a:t>
            </a:r>
            <a:r>
              <a:rPr sz="1250" b="0">
                <a:solidFill>
                  <a:srgbClr val="5B6B62"/>
                </a:solidFill>
                <a:latin typeface="Calibri"/>
              </a:rPr>
              <a:t>  —  oversampled ADC, multi-point moisture, temp-comp TDS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00" b="1">
                <a:solidFill>
                  <a:srgbClr val="1F9254"/>
                </a:solidFill>
                <a:latin typeface="Segoe UI Semibold"/>
              </a:rPr>
              <a:t>▸  </a:t>
            </a:r>
            <a:r>
              <a:rPr sz="1400" b="1">
                <a:solidFill>
                  <a:srgbClr val="12281C"/>
                </a:solidFill>
                <a:latin typeface="Calibri"/>
              </a:rPr>
              <a:t>Three AI models</a:t>
            </a:r>
            <a:r>
              <a:rPr sz="1250" b="0">
                <a:solidFill>
                  <a:srgbClr val="5B6B62"/>
                </a:solidFill>
                <a:latin typeface="Calibri"/>
              </a:rPr>
              <a:t>  —  obstacle · weed (DeepWeeds) · disease (PlantVillage)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00" b="1">
                <a:solidFill>
                  <a:srgbClr val="1F9254"/>
                </a:solidFill>
                <a:latin typeface="Segoe UI Semibold"/>
              </a:rPr>
              <a:t>▸  </a:t>
            </a:r>
            <a:r>
              <a:rPr sz="1400" b="1">
                <a:solidFill>
                  <a:srgbClr val="12281C"/>
                </a:solidFill>
                <a:latin typeface="Calibri"/>
              </a:rPr>
              <a:t>Runs on Coral Edge TPU</a:t>
            </a:r>
            <a:r>
              <a:rPr sz="1250" b="0">
                <a:solidFill>
                  <a:srgbClr val="5B6B62"/>
                </a:solidFill>
                <a:latin typeface="Calibri"/>
              </a:rPr>
              <a:t>  —  ~10× faster than CPU; fails safe if a model is absent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12864" y="2239409"/>
            <a:ext cx="4492447" cy="2141436"/>
          </a:xfrm>
          <a:prstGeom prst="rect">
            <a:avLst/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i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728" y="2294273"/>
            <a:ext cx="4382719" cy="203170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41248" y="5029200"/>
            <a:ext cx="2421559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" y="5029200"/>
            <a:ext cx="2421559" cy="109728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5285232"/>
            <a:ext cx="214723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F9254"/>
                </a:solidFill>
                <a:latin typeface="Segoe UI Semibold"/>
              </a:rPr>
              <a:t>7-in-1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" y="5665622"/>
            <a:ext cx="2147239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soil probe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37127" y="5029200"/>
            <a:ext cx="2421559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37127" y="5029200"/>
            <a:ext cx="2421559" cy="109728"/>
          </a:xfrm>
          <a:prstGeom prst="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74287" y="5285232"/>
            <a:ext cx="214723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B9BD6"/>
                </a:solidFill>
                <a:latin typeface="Segoe UI Semibold"/>
              </a:rPr>
              <a:t>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74287" y="5665622"/>
            <a:ext cx="2147239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disease classes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3007" y="5029200"/>
            <a:ext cx="2421559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3007" y="5029200"/>
            <a:ext cx="2421559" cy="109728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0167" y="5285232"/>
            <a:ext cx="214723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2A03D"/>
                </a:solidFill>
                <a:latin typeface="Segoe UI Semibold"/>
              </a:rPr>
              <a:t>~30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665622"/>
            <a:ext cx="2147239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FPS on Coral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28887" y="5029200"/>
            <a:ext cx="2421559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28887" y="5029200"/>
            <a:ext cx="2421559" cy="109728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66047" y="5285232"/>
            <a:ext cx="214723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A4C93"/>
                </a:solidFill>
                <a:latin typeface="Segoe UI Semibold"/>
              </a:rPr>
              <a:t>~10–20cm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66047" y="5665622"/>
            <a:ext cx="2147239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plant geo-tag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03D"/>
                </a:solidFill>
                <a:latin typeface="Segoe UI Semibold"/>
              </a:rPr>
              <a:t>ACT &amp; AUTONOMY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Treat the plant, drive the field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1709928"/>
            <a:ext cx="612648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00" b="1">
                <a:solidFill>
                  <a:srgbClr val="F2A03D"/>
                </a:solidFill>
                <a:latin typeface="Segoe UI Semibold"/>
              </a:rPr>
              <a:t>Sequential micro-dosing — pre-soak, probe, dose, retract (drive frozen while dosing).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00" b="1">
                <a:solidFill>
                  <a:srgbClr val="F2A03D"/>
                </a:solidFill>
                <a:latin typeface="Segoe UI Semibold"/>
              </a:rPr>
              <a:t>Vision-aimed spot-spray — a pan/tilt nozzle targets each detected weed.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00" b="1">
                <a:solidFill>
                  <a:srgbClr val="F2A03D"/>
                </a:solidFill>
                <a:latin typeface="Segoe UI Semibold"/>
              </a:rPr>
              <a:t>Autonomous snake-route — GPS + SBAS + EKF fusion for sub-metre coverage.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00" b="1">
                <a:solidFill>
                  <a:srgbClr val="F2A03D"/>
                </a:solidFill>
                <a:latin typeface="Segoe UI Semibold"/>
              </a:rPr>
              <a:t>Closed-loop velocity PID — straight rows and repeatable spacing.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00" b="1">
                <a:solidFill>
                  <a:srgbClr val="F2A03D"/>
                </a:solidFill>
                <a:latin typeface="Segoe UI Semibold"/>
              </a:rPr>
              <a:t>Fail-safe by design — E-stop, dead-man heartbeat, thermal guardian, stall stop.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95744" y="2425681"/>
            <a:ext cx="4309567" cy="2683293"/>
          </a:xfrm>
          <a:prstGeom prst="rect">
            <a:avLst/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av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08" y="2480545"/>
            <a:ext cx="4199839" cy="2573565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9BD6"/>
                </a:solidFill>
                <a:latin typeface="Segoe UI Semibold"/>
              </a:rPr>
              <a:t>MARKET OPPORTUNITY &amp;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A large, growing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1709928"/>
            <a:ext cx="4846320" cy="1280160"/>
          </a:xfrm>
          <a:prstGeom prst="roundRect">
            <a:avLst>
              <a:gd name="adj" fmla="val 6000"/>
            </a:avLst>
          </a:prstGeom>
          <a:solidFill>
            <a:srgbClr val="EEF4EC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8" y="1709928"/>
            <a:ext cx="118872" cy="1280160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52144" y="1837944"/>
            <a:ext cx="4389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F9254"/>
                </a:solidFill>
                <a:latin typeface="Segoe UI Semibold"/>
              </a:rPr>
              <a:t>$2.5 Bn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2368296"/>
            <a:ext cx="434340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India agritech market by 2034 (from ~$0.97 Bn in 2025, ~10.6% CAGR).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3191256"/>
            <a:ext cx="4846320" cy="1280160"/>
          </a:xfrm>
          <a:prstGeom prst="roundRect">
            <a:avLst>
              <a:gd name="adj" fmla="val 6000"/>
            </a:avLst>
          </a:prstGeom>
          <a:solidFill>
            <a:srgbClr val="EEF4EC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1248" y="3191256"/>
            <a:ext cx="118872" cy="1280160"/>
          </a:xfrm>
          <a:prstGeom prst="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52144" y="3319272"/>
            <a:ext cx="4389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9BD6"/>
                </a:solidFill>
                <a:latin typeface="Segoe UI Semibold"/>
              </a:rPr>
              <a:t>$739 Mn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" y="3849624"/>
            <a:ext cx="434340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India precision-agriculture market by 2034 (~9.2% CAGR).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4672583"/>
            <a:ext cx="4846320" cy="1280160"/>
          </a:xfrm>
          <a:prstGeom prst="roundRect">
            <a:avLst>
              <a:gd name="adj" fmla="val 6000"/>
            </a:avLst>
          </a:prstGeom>
          <a:solidFill>
            <a:srgbClr val="EEF4EC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1248" y="4672583"/>
            <a:ext cx="118872" cy="1280160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52144" y="4800599"/>
            <a:ext cx="4389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2A03D"/>
                </a:solidFill>
                <a:latin typeface="Segoe UI Semibold"/>
              </a:rPr>
              <a:t>~146 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" y="5330951"/>
            <a:ext cx="434340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farm holdings in India — 86% small/marginal (&lt;2 ha): our core market.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53328" y="1709928"/>
            <a:ext cx="5297119" cy="4160520"/>
          </a:xfrm>
          <a:prstGeom prst="roundRect">
            <a:avLst>
              <a:gd name="adj" fmla="val 4000"/>
            </a:avLst>
          </a:prstGeom>
          <a:solidFill>
            <a:srgbClr val="EEF4EC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27648" y="1929384"/>
            <a:ext cx="4794199" cy="3794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F9254"/>
                </a:solidFill>
                <a:latin typeface="Segoe UI Semibold"/>
              </a:rPr>
              <a:t>Scope — what it does today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Soil NPK sensing, AI weed/disease ID, targeted micro-dosing, autonomous nav.</a:t>
            </a:r>
          </a:p>
          <a:p>
            <a:pPr algn="l">
              <a:lnSpc>
                <a:spcPct val="108000"/>
              </a:lnSpc>
              <a:spcBef>
                <a:spcPts val="800"/>
              </a:spcBef>
              <a:spcAft>
                <a:spcPts val="300"/>
              </a:spcAft>
            </a:pPr>
            <a:r>
              <a:rPr sz="1350" b="1" i="0">
                <a:solidFill>
                  <a:srgbClr val="1F9254"/>
                </a:solidFill>
                <a:latin typeface="Segoe UI Semibold"/>
              </a:rPr>
              <a:t>Scope — where it grows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Crops: vegetables, cotton, cereals, orchards, polyhouses.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Geography: India's small-farm belts via FPOs / co-ops.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Add-ons: seeding, spraying, weeding, scouting, yield mapping.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Data services: soil &amp; crop analytics + prescription maps (recurring).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6126480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9AA8A0"/>
                </a:solidFill>
                <a:latin typeface="Calibri"/>
              </a:rPr>
              <a:t>Sources: IMARC (agritech &amp; precision-ag), Agriculture Census 2015–16. Indicative.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9254"/>
                </a:solidFill>
                <a:latin typeface="Segoe UI Semibold"/>
              </a:rPr>
              <a:t>TAILWINDS &amp; 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Policy is on our side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1737360"/>
            <a:ext cx="58064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300" b="1">
                <a:solidFill>
                  <a:srgbClr val="1F9254"/>
                </a:solidFill>
                <a:latin typeface="Segoe UI Semibold"/>
              </a:rPr>
              <a:t>▸  </a:t>
            </a:r>
            <a:r>
              <a:rPr sz="1300" b="1">
                <a:solidFill>
                  <a:srgbClr val="12281C"/>
                </a:solidFill>
                <a:latin typeface="Calibri"/>
              </a:rPr>
              <a:t>SMAM</a:t>
            </a:r>
            <a:r>
              <a:rPr sz="1150" b="0">
                <a:solidFill>
                  <a:srgbClr val="5B6B62"/>
                </a:solidFill>
                <a:latin typeface="Calibri"/>
              </a:rPr>
              <a:t>  —  50–80% subsidy on farm machinery; funds Custom Hiring Centres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300" b="1">
                <a:solidFill>
                  <a:srgbClr val="1F9254"/>
                </a:solidFill>
                <a:latin typeface="Segoe UI Semibold"/>
              </a:rPr>
              <a:t>▸  </a:t>
            </a:r>
            <a:r>
              <a:rPr sz="1300" b="1">
                <a:solidFill>
                  <a:srgbClr val="12281C"/>
                </a:solidFill>
                <a:latin typeface="Calibri"/>
              </a:rPr>
              <a:t>Agri Infrastructure Fund</a:t>
            </a:r>
            <a:r>
              <a:rPr sz="1150" b="0">
                <a:solidFill>
                  <a:srgbClr val="5B6B62"/>
                </a:solidFill>
                <a:latin typeface="Calibri"/>
              </a:rPr>
              <a:t>  —  interest-subvented loans for FPOs/SHGs to set up CHCs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300" b="1">
                <a:solidFill>
                  <a:srgbClr val="1F9254"/>
                </a:solidFill>
                <a:latin typeface="Segoe UI Semibold"/>
              </a:rPr>
              <a:t>▸  </a:t>
            </a:r>
            <a:r>
              <a:rPr sz="1300" b="1">
                <a:solidFill>
                  <a:srgbClr val="12281C"/>
                </a:solidFill>
                <a:latin typeface="Calibri"/>
              </a:rPr>
              <a:t>Namo Drone Didi</a:t>
            </a:r>
            <a:r>
              <a:rPr sz="1150" b="0">
                <a:solidFill>
                  <a:srgbClr val="5B6B62"/>
                </a:solidFill>
                <a:latin typeface="Calibri"/>
              </a:rPr>
              <a:t>  —  15,000 drones to women SHGs — momentum for ag-robotics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300" b="1">
                <a:solidFill>
                  <a:srgbClr val="1F9254"/>
                </a:solidFill>
                <a:latin typeface="Segoe UI Semibold"/>
              </a:rPr>
              <a:t>▸  </a:t>
            </a:r>
            <a:r>
              <a:rPr sz="1300" b="1">
                <a:solidFill>
                  <a:srgbClr val="12281C"/>
                </a:solidFill>
                <a:latin typeface="Calibri"/>
              </a:rPr>
              <a:t>Soil Health Card scheme</a:t>
            </a:r>
            <a:r>
              <a:rPr sz="1150" b="0">
                <a:solidFill>
                  <a:srgbClr val="5B6B62"/>
                </a:solidFill>
                <a:latin typeface="Calibri"/>
              </a:rPr>
              <a:t>  —  national soil-testing push — aligns with our NPK sensing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300" b="1">
                <a:solidFill>
                  <a:srgbClr val="1F9254"/>
                </a:solidFill>
                <a:latin typeface="Segoe UI Semibold"/>
              </a:rPr>
              <a:t>▸  </a:t>
            </a:r>
            <a:r>
              <a:rPr sz="1300" b="1">
                <a:solidFill>
                  <a:srgbClr val="12281C"/>
                </a:solidFill>
                <a:latin typeface="Calibri"/>
              </a:rPr>
              <a:t>10,000 FPOs + Digital Agri</a:t>
            </a:r>
            <a:r>
              <a:rPr sz="1150" b="0">
                <a:solidFill>
                  <a:srgbClr val="5B6B62"/>
                </a:solidFill>
                <a:latin typeface="Calibri"/>
              </a:rPr>
              <a:t>  —  aggregation &amp; farm-data tailwinds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22008" y="1709928"/>
            <a:ext cx="4428439" cy="4114800"/>
          </a:xfrm>
          <a:prstGeom prst="roundRect">
            <a:avLst>
              <a:gd name="adj" fmla="val 4000"/>
            </a:avLst>
          </a:prstGeom>
          <a:solidFill>
            <a:srgbClr val="E7F3EC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96328" y="1929384"/>
            <a:ext cx="3925519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F9254"/>
                </a:solidFill>
                <a:latin typeface="Segoe UI Semibold"/>
              </a:rPr>
              <a:t>How we leverage it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Rover qualifies as agri-machinery → SMAM subsidy cuts farmer cost.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Deploy via FPOs / CHCs financed by AIF → shared-asset model.</a:t>
            </a:r>
          </a:p>
          <a:p>
            <a:pPr algn="l">
              <a:lnSpc>
                <a:spcPct val="108000"/>
              </a:lnSpc>
              <a:spcBef>
                <a:spcPts val="800"/>
              </a:spcBef>
              <a:spcAft>
                <a:spcPts val="300"/>
              </a:spcAft>
            </a:pPr>
            <a:r>
              <a:rPr sz="1350" b="1" i="0">
                <a:solidFill>
                  <a:srgbClr val="1F9254"/>
                </a:solidFill>
                <a:latin typeface="Segoe UI Semibold"/>
              </a:rPr>
              <a:t>Revenue streams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Rover sale + annual service contract.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Rover-as-a-Service: per-acre fee via FPO/CHC.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Subscription: soil &amp; crop analytics + prescription maps.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6126480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9AA8A0"/>
                </a:solidFill>
                <a:latin typeface="Calibri"/>
              </a:rPr>
              <a:t>Scheme details per Govt of India / PIB — verify exact terms before claims.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A4C93"/>
                </a:solidFill>
                <a:latin typeface="Segoe UI Semibold"/>
              </a:rPr>
              <a:t>WHAT WE'VE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A working POC / MVP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1801368"/>
            <a:ext cx="332018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8" y="1801368"/>
            <a:ext cx="109728" cy="1783080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2039112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203911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 Semibold"/>
              </a:rP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0512" y="2002536"/>
            <a:ext cx="213146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81C"/>
                </a:solidFill>
                <a:latin typeface="Segoe UI Semibold"/>
              </a:rPr>
              <a:t>Firmware · ESP32/FreeRTOS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2734056"/>
            <a:ext cx="281726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Dual-core drive + RS485 NPK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Dosing state machine · secure link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5754" y="1801368"/>
            <a:ext cx="332018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5754" y="1801368"/>
            <a:ext cx="109728" cy="1783080"/>
          </a:xfrm>
          <a:prstGeom prst="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91786" y="2039112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91786" y="203911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 Semibold"/>
              </a:rPr>
              <a:t>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05018" y="2002536"/>
            <a:ext cx="213146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81C"/>
                </a:solidFill>
                <a:latin typeface="Segoe UI Semibold"/>
              </a:rPr>
              <a:t>AI Vision · Raspberry 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10074" y="2734056"/>
            <a:ext cx="281726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YOLOv8n weed/disease/obstacle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Coral TPU · training notebooks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30260" y="1801368"/>
            <a:ext cx="332018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30260" y="1801368"/>
            <a:ext cx="109728" cy="178308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86292" y="2039112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86292" y="203911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 Semibold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99524" y="2002536"/>
            <a:ext cx="213146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81C"/>
                </a:solidFill>
                <a:latin typeface="Segoe UI Semibold"/>
              </a:rPr>
              <a:t>Navigation &amp;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4580" y="2734056"/>
            <a:ext cx="281726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EKF + GPS + vision geo-tag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Snake planner · ROS2 · simulator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1248" y="3858768"/>
            <a:ext cx="332018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1248" y="3858768"/>
            <a:ext cx="109728" cy="1783080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97280" y="4096511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4096511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 Semibold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10512" y="4059935"/>
            <a:ext cx="213146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81C"/>
                </a:solidFill>
                <a:latin typeface="Segoe UI Semibold"/>
              </a:rPr>
              <a:t>Software Tooling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" y="4791456"/>
            <a:ext cx="281726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Live dashboard + Telegram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CI pipeline · black-box logging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35754" y="3858768"/>
            <a:ext cx="332018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435754" y="3858768"/>
            <a:ext cx="109728" cy="178308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691786" y="4096511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1786" y="4096511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 Semibold"/>
              </a:rPr>
              <a:t>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05018" y="4059935"/>
            <a:ext cx="213146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81C"/>
                </a:solidFill>
                <a:latin typeface="Segoe UI Semibold"/>
              </a:rPr>
              <a:t>Hardware Design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10074" y="4791456"/>
            <a:ext cx="281726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Verified circuit + wiring v2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110-part costed BOM (+15 audit)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30260" y="3858768"/>
            <a:ext cx="332018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030260" y="3858768"/>
            <a:ext cx="109728" cy="178308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286292" y="4096511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86292" y="4096511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 Semibold"/>
              </a:rPr>
              <a:t>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99524" y="4059935"/>
            <a:ext cx="213146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81C"/>
                </a:solidFill>
                <a:latin typeface="Segoe UI Semibold"/>
              </a:rPr>
              <a:t>Field Reliability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04580" y="4791456"/>
            <a:ext cx="281726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10 real field risks engineered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Heat, stall, comms-loss, sealing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" y="608990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9AA8A0"/>
                </a:solidFill>
                <a:latin typeface="Calibri"/>
              </a:rPr>
              <a:t>Built end-to-end by our 4-member team — software validated in simulation; hardware integration is the next step.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9254"/>
                </a:solidFill>
                <a:latin typeface="Segoe UI Semibold"/>
              </a:rPr>
              <a:t>PILOT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What we will measure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1755648"/>
            <a:ext cx="10509199" cy="731520"/>
          </a:xfrm>
          <a:prstGeom prst="roundRect">
            <a:avLst>
              <a:gd name="adj" fmla="val 40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1755648"/>
            <a:ext cx="9960559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9254"/>
                </a:solidFill>
                <a:latin typeface="Segoe UI Semibold"/>
              </a:rPr>
              <a:t>What we will measure in the field pilot — on real farms, not assumptions: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807208"/>
            <a:ext cx="10509199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500" b="1">
                <a:solidFill>
                  <a:srgbClr val="1F9254"/>
                </a:solidFill>
                <a:latin typeface="Segoe UI Semibold"/>
              </a:rPr>
              <a:t>Input reduction — fertiliser &amp; pesticide saved vs hand-broadcasting.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500" b="1">
                <a:solidFill>
                  <a:srgbClr val="1F9254"/>
                </a:solidFill>
                <a:latin typeface="Segoe UI Semibold"/>
              </a:rPr>
              <a:t>Detection accuracy — weed/disease precision &amp; recall; dosing placement (cm).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500" b="1">
                <a:solidFill>
                  <a:srgbClr val="1F9254"/>
                </a:solidFill>
                <a:latin typeface="Segoe UI Semibold"/>
              </a:rPr>
              <a:t>Coverage &amp; economics — area covered per charge; cost saving per acre.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4910328"/>
            <a:ext cx="10509199" cy="685800"/>
          </a:xfrm>
          <a:prstGeom prst="roundRect">
            <a:avLst>
              <a:gd name="adj" fmla="val 40000"/>
            </a:avLst>
          </a:prstGeom>
          <a:solidFill>
            <a:srgbClr val="EE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9254"/>
                </a:solidFill>
                <a:latin typeface="Segoe UI Semibold"/>
              </a:rPr>
              <a:t>PROJECTED IMPACT &amp;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The numbers we're chasing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12</a:t>
            </a:r>
          </a:p>
        </p:txBody>
      </p:sp>
      <p:pic>
        <p:nvPicPr>
          <p:cNvPr id="12" name="Picture 11" descr="impact_ch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145" y="1709928"/>
            <a:ext cx="8901404" cy="27432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41248" y="4590288"/>
            <a:ext cx="3320186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" y="4590288"/>
            <a:ext cx="100584" cy="1371600"/>
          </a:xfrm>
          <a:prstGeom prst="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4727448"/>
            <a:ext cx="290870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2281C"/>
                </a:solidFill>
                <a:latin typeface="Segoe UI Semibold"/>
              </a:rPr>
              <a:t>AI detection accuracy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5010912"/>
            <a:ext cx="290870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B9BD6"/>
                </a:solidFill>
                <a:latin typeface="Segoe UI Semibold"/>
              </a:rPr>
              <a:t>88%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5614416"/>
            <a:ext cx="2817266" cy="146304"/>
          </a:xfrm>
          <a:prstGeom prst="round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5614416"/>
            <a:ext cx="2479194" cy="146304"/>
          </a:xfrm>
          <a:prstGeom prst="round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35754" y="4590288"/>
            <a:ext cx="3320186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35754" y="4590288"/>
            <a:ext cx="100584" cy="1371600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73498" y="4727448"/>
            <a:ext cx="290870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2281C"/>
                </a:solidFill>
                <a:latin typeface="Segoe UI Semibold"/>
              </a:rPr>
              <a:t>Fertiliser reduction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3498" y="5010912"/>
            <a:ext cx="290870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9254"/>
                </a:solidFill>
                <a:latin typeface="Segoe UI Semibold"/>
              </a:rPr>
              <a:t>45%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91786" y="5614416"/>
            <a:ext cx="2817266" cy="146304"/>
          </a:xfrm>
          <a:prstGeom prst="round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691786" y="5614416"/>
            <a:ext cx="1267769" cy="146304"/>
          </a:xfrm>
          <a:prstGeom prst="round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30260" y="4590288"/>
            <a:ext cx="3320186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30260" y="4590288"/>
            <a:ext cx="100584" cy="1371600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8004" y="4727448"/>
            <a:ext cx="290870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2281C"/>
                </a:solidFill>
                <a:latin typeface="Segoe UI Semibold"/>
              </a:rPr>
              <a:t>Cost saving / acre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8004" y="5010912"/>
            <a:ext cx="290870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2A03D"/>
                </a:solidFill>
                <a:latin typeface="Segoe UI Semibold"/>
              </a:rPr>
              <a:t>40%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86292" y="5614416"/>
            <a:ext cx="2817266" cy="146304"/>
          </a:xfrm>
          <a:prstGeom prst="round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86292" y="5614416"/>
            <a:ext cx="1126906" cy="146304"/>
          </a:xfrm>
          <a:prstGeom prst="round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6126480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9AA8A0"/>
                </a:solidFill>
                <a:latin typeface="Calibri"/>
              </a:rPr>
              <a:t>Projected from our simulation &amp; targets — to be validated in the pilot.  Basis: FAI / Soil Health Card data show India's N:P:K use is skewed vs the ideal 4:2:1, so balanced, targeted dosing is where the savings come from.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9BD6"/>
                </a:solidFill>
                <a:latin typeface="Segoe UI Semibold"/>
              </a:rPr>
              <a:t>EXECUTION &amp; GO-TO-MARKET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From prototype to fleet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13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" y="3200400"/>
            <a:ext cx="10143439" cy="27432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680" y="3044952"/>
            <a:ext cx="329184" cy="329184"/>
          </a:xfrm>
          <a:prstGeom prst="ellipse">
            <a:avLst/>
          </a:prstGeom>
          <a:solidFill>
            <a:srgbClr val="1F9254"/>
          </a:solidFill>
          <a:ln>
            <a:noFill/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1248" y="141732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1417320"/>
            <a:ext cx="10515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1837944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281C"/>
                </a:solidFill>
                <a:latin typeface="Segoe UI Semibold"/>
              </a:rPr>
              <a:t>Hardware prototype — BTS7960 drive, NPK probe, pan/tilt sprayer, LiFePO4.   (Jul–Sep 2026)</a:t>
            </a:r>
          </a:p>
        </p:txBody>
      </p:sp>
      <p:sp>
        <p:nvSpPr>
          <p:cNvPr id="17" name="Oval 16"/>
          <p:cNvSpPr/>
          <p:nvPr/>
        </p:nvSpPr>
        <p:spPr>
          <a:xfrm>
            <a:off x="4249826" y="3044952"/>
            <a:ext cx="329184" cy="329184"/>
          </a:xfrm>
          <a:prstGeom prst="ellipse">
            <a:avLst/>
          </a:prstGeom>
          <a:solidFill>
            <a:srgbClr val="2B9BD6"/>
          </a:solidFill>
          <a:ln>
            <a:noFill/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125114" y="361188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25114" y="3611880"/>
            <a:ext cx="10515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25114" y="4032504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281C"/>
                </a:solidFill>
                <a:latin typeface="Segoe UI Semibold"/>
              </a:rPr>
              <a:t>Pilot on 5–10 farms — measure input savings, accuracy &amp; uptime.   (Oct–Nov 2026)</a:t>
            </a:r>
          </a:p>
        </p:txBody>
      </p:sp>
      <p:sp>
        <p:nvSpPr>
          <p:cNvPr id="21" name="Oval 20"/>
          <p:cNvSpPr/>
          <p:nvPr/>
        </p:nvSpPr>
        <p:spPr>
          <a:xfrm>
            <a:off x="7630972" y="3044952"/>
            <a:ext cx="329184" cy="329184"/>
          </a:xfrm>
          <a:prstGeom prst="ellipse">
            <a:avLst/>
          </a:prstGeom>
          <a:solidFill>
            <a:srgbClr val="F2A03D"/>
          </a:solidFill>
          <a:ln>
            <a:noFill/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06260" y="141732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6260" y="1417320"/>
            <a:ext cx="10515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ITERATE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6260" y="1837944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281C"/>
                </a:solidFill>
                <a:latin typeface="Segoe UI Semibold"/>
              </a:rPr>
              <a:t>Harden from field data — tune dosing + AI; seal for dust &amp; 40–45 °C heat.   (Dec 2026)</a:t>
            </a:r>
          </a:p>
        </p:txBody>
      </p:sp>
      <p:sp>
        <p:nvSpPr>
          <p:cNvPr id="25" name="Oval 24"/>
          <p:cNvSpPr/>
          <p:nvPr/>
        </p:nvSpPr>
        <p:spPr>
          <a:xfrm>
            <a:off x="11012119" y="3044952"/>
            <a:ext cx="329184" cy="329184"/>
          </a:xfrm>
          <a:prstGeom prst="ellipse">
            <a:avLst/>
          </a:prstGeom>
          <a:solidFill>
            <a:srgbClr val="6A4C93"/>
          </a:solidFill>
          <a:ln>
            <a:noFill/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90127" y="361188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90127" y="3611880"/>
            <a:ext cx="10515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SCALE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90127" y="4032504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281C"/>
                </a:solidFill>
                <a:latin typeface="Segoe UI Semibold"/>
              </a:rPr>
              <a:t>FPO / CHC roll-out — SMAM / AIF support → Rover-as-a-Service + data.   (2027 onwards)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9254"/>
                </a:solidFill>
                <a:latin typeface="Segoe UI Semibold"/>
              </a:rPr>
              <a:t>TEAM OF 4 &amp;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Built end-to-end at IIT Bombay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1755648"/>
            <a:ext cx="2394127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8" y="1755648"/>
            <a:ext cx="2394127" cy="548640"/>
          </a:xfrm>
          <a:prstGeom prst="round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" y="2048256"/>
            <a:ext cx="2394127" cy="256032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581111" y="2103120"/>
            <a:ext cx="914400" cy="914400"/>
          </a:xfrm>
          <a:prstGeom prst="ellipse">
            <a:avLst/>
          </a:prstGeom>
          <a:solidFill>
            <a:srgbClr val="1F9254"/>
          </a:solidFill>
          <a:ln>
            <a:noFill/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81111" y="210312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HK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3127248"/>
            <a:ext cx="2174671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281C"/>
                </a:solidFill>
                <a:latin typeface="Segoe UI Semibold"/>
              </a:rPr>
              <a:t>Hitanshu Kapadiya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9254"/>
                </a:solidFill>
                <a:latin typeface="Calibri"/>
              </a:rPr>
              <a:t>Mechanical Engineering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46271" y="1755648"/>
            <a:ext cx="2394127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546271" y="1755648"/>
            <a:ext cx="2394127" cy="548640"/>
          </a:xfrm>
          <a:prstGeom prst="round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46271" y="2048256"/>
            <a:ext cx="2394127" cy="256032"/>
          </a:xfrm>
          <a:prstGeom prst="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286135" y="2103120"/>
            <a:ext cx="914400" cy="914400"/>
          </a:xfrm>
          <a:prstGeom prst="ellipse">
            <a:avLst/>
          </a:prstGeom>
          <a:solidFill>
            <a:srgbClr val="2B9BD6"/>
          </a:solidFill>
          <a:ln>
            <a:noFill/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86135" y="210312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VG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5999" y="3127248"/>
            <a:ext cx="2174671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281C"/>
                </a:solidFill>
                <a:latin typeface="Segoe UI Semibold"/>
              </a:rPr>
              <a:t>Vivek Gupta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9BD6"/>
                </a:solidFill>
                <a:latin typeface="Calibri"/>
              </a:rPr>
              <a:t>Mechanical Engineering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1295" y="1755648"/>
            <a:ext cx="2394127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51295" y="1755648"/>
            <a:ext cx="2394127" cy="548640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51295" y="2048256"/>
            <a:ext cx="2394127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991159" y="2103120"/>
            <a:ext cx="914400" cy="914400"/>
          </a:xfrm>
          <a:prstGeom prst="ellipse">
            <a:avLst/>
          </a:prstGeom>
          <a:solidFill>
            <a:srgbClr val="6A4C93"/>
          </a:solidFill>
          <a:ln>
            <a:noFill/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91159" y="210312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SW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1023" y="3127248"/>
            <a:ext cx="2174671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281C"/>
                </a:solidFill>
                <a:latin typeface="Segoe UI Semibold"/>
              </a:rPr>
              <a:t>Shreyash Wagh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A4C93"/>
                </a:solidFill>
                <a:latin typeface="Calibri"/>
              </a:rPr>
              <a:t>Mechanical Engineering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56319" y="1755648"/>
            <a:ext cx="2394127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956319" y="1755648"/>
            <a:ext cx="2394127" cy="548640"/>
          </a:xfrm>
          <a:prstGeom prst="round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56319" y="2048256"/>
            <a:ext cx="2394127" cy="256032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696183" y="2103120"/>
            <a:ext cx="914400" cy="914400"/>
          </a:xfrm>
          <a:prstGeom prst="ellipse">
            <a:avLst/>
          </a:prstGeom>
          <a:solidFill>
            <a:srgbClr val="F2A03D"/>
          </a:solidFill>
          <a:ln>
            <a:noFill/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96183" y="210312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PN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66047" y="3127248"/>
            <a:ext cx="2174671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281C"/>
                </a:solidFill>
                <a:latin typeface="Segoe UI Semibold"/>
              </a:rPr>
              <a:t>Pritish Nandy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2A03D"/>
                </a:solidFill>
                <a:latin typeface="Calibri"/>
              </a:rPr>
              <a:t>Aerospace Engineering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" y="4114800"/>
            <a:ext cx="10509199" cy="1600200"/>
          </a:xfrm>
          <a:prstGeom prst="roundRect">
            <a:avLst>
              <a:gd name="adj" fmla="val 4000"/>
            </a:avLst>
          </a:prstGeom>
          <a:solidFill>
            <a:srgbClr val="EEF4EC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568" y="4334256"/>
            <a:ext cx="10006279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F9254"/>
                </a:solidFill>
                <a:latin typeface="Segoe UI Semibold"/>
              </a:rPr>
              <a:t>Why us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An IIT Bombay team of 4 that built the full software stack, circuit design and mechanical fabrication — end to end.</a:t>
            </a:r>
          </a:p>
          <a:p>
            <a:pPr algn="l">
              <a:lnSpc>
                <a:spcPct val="108000"/>
              </a:lnSpc>
              <a:spcBef>
                <a:spcPts val="800"/>
              </a:spcBef>
              <a:spcAft>
                <a:spcPts val="300"/>
              </a:spcAft>
            </a:pPr>
            <a:r>
              <a:rPr sz="1350" b="1" i="0">
                <a:solidFill>
                  <a:srgbClr val="1F9254"/>
                </a:solidFill>
                <a:latin typeface="Segoe UI Semibold"/>
              </a:rPr>
              <a:t>Impact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Lower input cost, less runoff, healthier soil and higher net income — affordable precision farming for every smallholder.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03D"/>
                </a:solidFill>
                <a:latin typeface="Segoe UI Semibold"/>
              </a:rPr>
              <a:t>BUDGET &amp; BUILD TIERS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Affordable, modular, costed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" y="2187035"/>
            <a:ext cx="6693408" cy="2886264"/>
          </a:xfrm>
          <a:prstGeom prst="rect">
            <a:avLst/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st_t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241899"/>
            <a:ext cx="6583680" cy="277653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699248" y="1755648"/>
            <a:ext cx="3651199" cy="3931920"/>
          </a:xfrm>
          <a:prstGeom prst="roundRect">
            <a:avLst>
              <a:gd name="adj" fmla="val 4000"/>
            </a:avLst>
          </a:prstGeom>
          <a:solidFill>
            <a:srgbClr val="EEF4EC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73568" y="1975104"/>
            <a:ext cx="3148279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F9254"/>
                </a:solidFill>
                <a:latin typeface="Segoe UI Semibold"/>
              </a:rPr>
              <a:t>Build tiers (India prices)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Core / demo: ₹8,000–14,000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Core + Navigation: ₹12,000–20,000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Full AI build: ₹27,000–48,000</a:t>
            </a:r>
          </a:p>
          <a:p>
            <a:pPr algn="l">
              <a:lnSpc>
                <a:spcPct val="108000"/>
              </a:lnSpc>
              <a:spcBef>
                <a:spcPts val="800"/>
              </a:spcBef>
              <a:spcAft>
                <a:spcPts val="300"/>
              </a:spcAft>
            </a:pPr>
            <a:r>
              <a:rPr sz="1350" b="1" i="0">
                <a:solidFill>
                  <a:srgbClr val="1F9254"/>
                </a:solidFill>
                <a:latin typeface="Segoe UI Semibold"/>
              </a:rPr>
              <a:t>Notes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Off-the-shelf parts; software is free.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3D-printed parts are PETG, not bought.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Verify prices before ordering.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3B2A"/>
              </a:gs>
              <a:gs pos="100000">
                <a:srgbClr val="07271B"/>
              </a:gs>
            </a:gsLst>
            <a:lin scaled="0" ang="183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FB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052560" y="2743200"/>
            <a:ext cx="5120640" cy="5120640"/>
          </a:xfrm>
          <a:prstGeom prst="ellipse">
            <a:avLst/>
          </a:prstGeom>
          <a:solidFill>
            <a:srgbClr val="1F9254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463040" y="-1463040"/>
            <a:ext cx="3291840" cy="3291840"/>
          </a:xfrm>
          <a:prstGeom prst="ellipse">
            <a:avLst/>
          </a:prstGeom>
          <a:solidFill>
            <a:srgbClr val="6FBF44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64008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6FB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ardrop 6"/>
          <p:cNvSpPr/>
          <p:nvPr/>
        </p:nvSpPr>
        <p:spPr>
          <a:xfrm rot="8100000">
            <a:off x="950976" y="704088"/>
            <a:ext cx="237744" cy="283464"/>
          </a:xfrm>
          <a:prstGeom prst="teardrop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603503"/>
            <a:ext cx="2743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Segoe UI Semibold"/>
              </a:rPr>
              <a:t>Agri</a:t>
            </a:r>
            <a:r>
              <a:rPr sz="1700" b="1">
                <a:solidFill>
                  <a:srgbClr val="6FBF44"/>
                </a:solidFill>
                <a:latin typeface="Segoe UI Semibold"/>
              </a:rPr>
              <a:t>Rover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0116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Segoe UI Semibold"/>
              </a:rPr>
              <a:t>Thank you.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15468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D9EAD9"/>
                </a:solidFill>
                <a:latin typeface="Calibri"/>
              </a:rPr>
              <a:t>Precision farming for every small farm.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160520"/>
            <a:ext cx="10241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00" b="1">
                <a:solidFill>
                  <a:srgbClr val="6FBF44"/>
                </a:solidFill>
                <a:latin typeface="Segoe UI Semibold"/>
              </a:rPr>
              <a:t>Lower inputs · healthier soil · higher income — precision farming for every small farm.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5440680"/>
            <a:ext cx="10515600" cy="18288"/>
          </a:xfrm>
          <a:prstGeom prst="rect">
            <a:avLst/>
          </a:prstGeom>
          <a:solidFill>
            <a:srgbClr val="275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5559552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Hitanshu Kapadiya · Vivek Gupta · Shreyash Wagh · Pritish Nandy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C2AC"/>
                </a:solidFill>
                <a:latin typeface="Calibri"/>
              </a:rPr>
              <a:t>IIT Bombay  ·  IITB–Groww INV.ENT  ·  Track A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3B2A"/>
              </a:gs>
              <a:gs pos="100000">
                <a:srgbClr val="07271B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463040"/>
            <a:ext cx="4023360" cy="4023360"/>
          </a:xfrm>
          <a:prstGeom prst="ellipse">
            <a:avLst/>
          </a:prstGeom>
          <a:solidFill>
            <a:srgbClr val="1F9254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FB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2743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03D"/>
                </a:solidFill>
                <a:latin typeface="Segoe UI Semibold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063240"/>
            <a:ext cx="10241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Segoe UI Semibold"/>
              </a:rPr>
              <a:t>Engineering Depth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114800"/>
            <a:ext cx="9875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CFE6D8"/>
                </a:solidFill>
                <a:latin typeface="Calibri"/>
              </a:rPr>
              <a:t>Verified circuit, drive, mechanical layout &amp; field-risk engineering.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9BD6"/>
                </a:solidFill>
                <a:latin typeface="Segoe UI Semibold"/>
              </a:rPr>
              <a:t>APPENDIX · ELECTRONICS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Every wire accounted for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1645920"/>
            <a:ext cx="1050919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62"/>
                </a:solidFill>
                <a:latin typeface="Calibri"/>
              </a:rPr>
              <a:t>110 BOM components + 15 gap-audit items — every bus, divider and safety part placed.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5637" y="2139696"/>
            <a:ext cx="5360419" cy="3867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i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0501" y="2194560"/>
            <a:ext cx="5250691" cy="37581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41248" y="5971031"/>
            <a:ext cx="105091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B6B62"/>
                </a:solidFill>
                <a:latin typeface="Calibri"/>
              </a:rPr>
              <a:t>Consolidated v2 wiring schematic — red = safety-critical paths.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9BD6"/>
                </a:solidFill>
                <a:latin typeface="Segoe UI Semibold"/>
              </a:rPr>
              <a:t>APPENDIX · DRIVE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MOSFET power for soil loads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82548" y="1609344"/>
            <a:ext cx="6089799" cy="4233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ive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412" y="1664208"/>
            <a:ext cx="5980071" cy="41239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1248" y="580644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B6B62"/>
                </a:solidFill>
                <a:latin typeface="Calibri"/>
              </a:rPr>
              <a:t>Pin-level 2× BTS7960 (IBT-2) drive schematic.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87968" y="1892808"/>
            <a:ext cx="2462479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300" b="1">
                <a:solidFill>
                  <a:srgbClr val="2B9BD6"/>
                </a:solidFill>
                <a:latin typeface="Segoe UI Semibold"/>
              </a:rPr>
              <a:t>▸  </a:t>
            </a:r>
            <a:r>
              <a:rPr sz="1300" b="1">
                <a:solidFill>
                  <a:srgbClr val="12281C"/>
                </a:solidFill>
                <a:latin typeface="Calibri"/>
              </a:rPr>
              <a:t>2× BTS7960</a:t>
            </a:r>
            <a:r>
              <a:rPr sz="1150" b="0">
                <a:solidFill>
                  <a:srgbClr val="5B6B62"/>
                </a:solidFill>
                <a:latin typeface="Calibri"/>
              </a:rPr>
              <a:t>  —  replaced the L298N (FC-10)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300" b="1">
                <a:solidFill>
                  <a:srgbClr val="2B9BD6"/>
                </a:solidFill>
                <a:latin typeface="Segoe UI Semibold"/>
              </a:rPr>
              <a:t>▸  </a:t>
            </a:r>
            <a:r>
              <a:rPr sz="1300" b="1">
                <a:solidFill>
                  <a:srgbClr val="12281C"/>
                </a:solidFill>
                <a:latin typeface="Calibri"/>
              </a:rPr>
              <a:t>~43 A peak/side</a:t>
            </a:r>
            <a:r>
              <a:rPr sz="1150" b="0">
                <a:solidFill>
                  <a:srgbClr val="5B6B62"/>
                </a:solidFill>
                <a:latin typeface="Calibri"/>
              </a:rPr>
              <a:t>  —  handles soil-loaded motors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300" b="1">
                <a:solidFill>
                  <a:srgbClr val="2B9BD6"/>
                </a:solidFill>
                <a:latin typeface="Segoe UI Semibold"/>
              </a:rPr>
              <a:t>▸  </a:t>
            </a:r>
            <a:r>
              <a:rPr sz="1300" b="1">
                <a:solidFill>
                  <a:srgbClr val="12281C"/>
                </a:solidFill>
                <a:latin typeface="Calibri"/>
              </a:rPr>
              <a:t>Dual-PWM</a:t>
            </a:r>
            <a:r>
              <a:rPr sz="1150" b="0">
                <a:solidFill>
                  <a:srgbClr val="5B6B62"/>
                </a:solidFill>
                <a:latin typeface="Calibri"/>
              </a:rPr>
              <a:t>  —  forward / reverse / coast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300" b="1">
                <a:solidFill>
                  <a:srgbClr val="2B9BD6"/>
                </a:solidFill>
                <a:latin typeface="Segoe UI Semibold"/>
              </a:rPr>
              <a:t>▸  </a:t>
            </a:r>
            <a:r>
              <a:rPr sz="1300" b="1">
                <a:solidFill>
                  <a:srgbClr val="12281C"/>
                </a:solidFill>
                <a:latin typeface="Calibri"/>
              </a:rPr>
              <a:t>1N5819 flyback</a:t>
            </a:r>
            <a:r>
              <a:rPr sz="1150" b="0">
                <a:solidFill>
                  <a:srgbClr val="5B6B62"/>
                </a:solidFill>
                <a:latin typeface="Calibri"/>
              </a:rPr>
              <a:t>  —  clamps back-EMF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300" b="1">
                <a:solidFill>
                  <a:srgbClr val="2B9BD6"/>
                </a:solidFill>
                <a:latin typeface="Segoe UI Semibold"/>
              </a:rPr>
              <a:t>▸  </a:t>
            </a:r>
            <a:r>
              <a:rPr sz="1300" b="1">
                <a:solidFill>
                  <a:srgbClr val="12281C"/>
                </a:solidFill>
                <a:latin typeface="Calibri"/>
              </a:rPr>
              <a:t>Current-sense</a:t>
            </a:r>
            <a:r>
              <a:rPr sz="1150" b="0">
                <a:solidFill>
                  <a:srgbClr val="5B6B62"/>
                </a:solidFill>
                <a:latin typeface="Calibri"/>
              </a:rPr>
              <a:t>  —  IS → stall detection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9254"/>
                </a:solidFill>
                <a:latin typeface="Segoe UI Semibold"/>
              </a:rPr>
              <a:t>APPENDIX · MECHANICAL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Stable, service-friendly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20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49446" y="1609344"/>
            <a:ext cx="5464563" cy="4187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assis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310" y="1664208"/>
            <a:ext cx="5354835" cy="40782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1248" y="5760720"/>
            <a:ext cx="7680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B6B62"/>
                </a:solidFill>
                <a:latin typeface="Calibri"/>
              </a:rPr>
              <a:t>To-scale layout from verified component coordinates.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96528" y="1892808"/>
            <a:ext cx="2553919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300" b="1">
                <a:solidFill>
                  <a:srgbClr val="1F9254"/>
                </a:solidFill>
                <a:latin typeface="Segoe UI Semibold"/>
              </a:rPr>
              <a:t>▸  </a:t>
            </a:r>
            <a:r>
              <a:rPr sz="1300" b="1">
                <a:solidFill>
                  <a:srgbClr val="12281C"/>
                </a:solidFill>
                <a:latin typeface="Calibri"/>
              </a:rPr>
              <a:t>Double-decker</a:t>
            </a:r>
            <a:r>
              <a:rPr sz="1150" b="0">
                <a:solidFill>
                  <a:srgbClr val="5B6B62"/>
                </a:solidFill>
                <a:latin typeface="Calibri"/>
              </a:rPr>
              <a:t>  —  320 × 450 mm, two layers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300" b="1">
                <a:solidFill>
                  <a:srgbClr val="1F9254"/>
                </a:solidFill>
                <a:latin typeface="Segoe UI Semibold"/>
              </a:rPr>
              <a:t>▸  </a:t>
            </a:r>
            <a:r>
              <a:rPr sz="1300" b="1">
                <a:solidFill>
                  <a:srgbClr val="12281C"/>
                </a:solidFill>
                <a:latin typeface="Calibri"/>
              </a:rPr>
              <a:t>Low CoG</a:t>
            </a:r>
            <a:r>
              <a:rPr sz="1150" b="0">
                <a:solidFill>
                  <a:srgbClr val="5B6B62"/>
                </a:solidFill>
                <a:latin typeface="Calibri"/>
              </a:rPr>
              <a:t>  —  battery + tank low, centred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300" b="1">
                <a:solidFill>
                  <a:srgbClr val="1F9254"/>
                </a:solidFill>
                <a:latin typeface="Segoe UI Semibold"/>
              </a:rPr>
              <a:t>▸  </a:t>
            </a:r>
            <a:r>
              <a:rPr sz="1300" b="1">
                <a:solidFill>
                  <a:srgbClr val="12281C"/>
                </a:solidFill>
                <a:latin typeface="Calibri"/>
              </a:rPr>
              <a:t>Fluids below</a:t>
            </a:r>
            <a:r>
              <a:rPr sz="1150" b="0">
                <a:solidFill>
                  <a:srgbClr val="5B6B62"/>
                </a:solidFill>
                <a:latin typeface="Calibri"/>
              </a:rPr>
              <a:t>  —  leaks drain from the Pi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300" b="1">
                <a:solidFill>
                  <a:srgbClr val="1F9254"/>
                </a:solidFill>
                <a:latin typeface="Segoe UI Semibold"/>
              </a:rPr>
              <a:t>▸  </a:t>
            </a:r>
            <a:r>
              <a:rPr sz="1300" b="1">
                <a:solidFill>
                  <a:srgbClr val="12281C"/>
                </a:solidFill>
                <a:latin typeface="Calibri"/>
              </a:rPr>
              <a:t>Heat apart</a:t>
            </a:r>
            <a:r>
              <a:rPr sz="1150" b="0">
                <a:solidFill>
                  <a:srgbClr val="5B6B62"/>
                </a:solidFill>
                <a:latin typeface="Calibri"/>
              </a:rPr>
              <a:t>  —  drivers at the rear + fan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300" b="1">
                <a:solidFill>
                  <a:srgbClr val="1F9254"/>
                </a:solidFill>
                <a:latin typeface="Segoe UI Semibold"/>
              </a:rPr>
              <a:t>▸  </a:t>
            </a:r>
            <a:r>
              <a:rPr sz="1300" b="1">
                <a:solidFill>
                  <a:srgbClr val="12281C"/>
                </a:solidFill>
                <a:latin typeface="Calibri"/>
              </a:rPr>
              <a:t>Field-hardened</a:t>
            </a:r>
            <a:r>
              <a:rPr sz="1150" b="0">
                <a:solidFill>
                  <a:srgbClr val="5B6B62"/>
                </a:solidFill>
                <a:latin typeface="Calibri"/>
              </a:rPr>
              <a:t>  —  grommets, glands, coating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03D"/>
                </a:solidFill>
                <a:latin typeface="Segoe UI Semibold"/>
              </a:rPr>
              <a:t>APPENDIX · FIELD-READY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Ten field risks, engineered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21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41248" y="1682496"/>
          <a:ext cx="10469880" cy="443483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5840"/>
                <a:gridCol w="3840480"/>
                <a:gridCol w="4251960"/>
                <a:gridCol w="1371600"/>
              </a:tblGrid>
              <a:tr h="403167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 Semibold"/>
                        </a:rPr>
                        <a:t>ID</a:t>
                      </a:r>
                    </a:p>
                  </a:txBody>
                  <a:tcPr marL="73152" marR="45720" marT="9144" marB="9144" anchor="ctr">
                    <a:solidFill>
                      <a:srgbClr val="0E3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Segoe UI Semibold"/>
                        </a:rPr>
                        <a:t>Field challenge</a:t>
                      </a:r>
                    </a:p>
                  </a:txBody>
                  <a:tcPr marL="73152" marR="45720" marT="9144" marB="9144" anchor="ctr">
                    <a:solidFill>
                      <a:srgbClr val="0E3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Segoe UI Semibold"/>
                        </a:rPr>
                        <a:t>Engineered solution</a:t>
                      </a:r>
                    </a:p>
                  </a:txBody>
                  <a:tcPr marL="73152" marR="45720" marT="9144" marB="9144" anchor="ctr">
                    <a:solidFill>
                      <a:srgbClr val="0E3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 Semibold"/>
                        </a:rPr>
                        <a:t>Status</a:t>
                      </a:r>
                    </a:p>
                  </a:txBody>
                  <a:tcPr marL="73152" marR="45720" marT="9144" marB="9144" anchor="ctr">
                    <a:solidFill>
                      <a:srgbClr val="0E3B2A"/>
                    </a:solidFill>
                  </a:tcPr>
                </a:tc>
              </a:tr>
              <a:tr h="40316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254"/>
                          </a:solidFill>
                          <a:latin typeface="Segoe UI Semibold"/>
                        </a:rPr>
                        <a:t>FC-01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Weeds above the pathway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Vision-guided pan/tilt aimed spray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2A03D"/>
                          </a:solidFill>
                          <a:latin typeface="Calibri"/>
                        </a:rPr>
                        <a:t>Code-ready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</a:tr>
              <a:tr h="40316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254"/>
                          </a:solidFill>
                          <a:latin typeface="Segoe UI Semibold"/>
                        </a:rPr>
                        <a:t>FC-02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Field heat → battery fire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Thermal guardian + NTC + LiFePO4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2A03D"/>
                          </a:solidFill>
                          <a:latin typeface="Calibri"/>
                        </a:rPr>
                        <a:t>Code-ready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</a:tr>
              <a:tr h="40316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254"/>
                          </a:solidFill>
                          <a:latin typeface="Segoe UI Semibold"/>
                        </a:rPr>
                        <a:t>FC-03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Actuator retract type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Dual compile-flag branches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2A03D"/>
                          </a:solidFill>
                          <a:latin typeface="Calibri"/>
                        </a:rPr>
                        <a:t>Code-ready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</a:tr>
              <a:tr h="40316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254"/>
                          </a:solidFill>
                          <a:latin typeface="Segoe UI Semibold"/>
                        </a:rPr>
                        <a:t>FC-04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Per-plant GPS precision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SBAS + averaging + EKF + vision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254"/>
                          </a:solidFill>
                          <a:latin typeface="Calibri"/>
                        </a:rPr>
                        <a:t>Implemented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</a:tr>
              <a:tr h="40316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254"/>
                          </a:solidFill>
                          <a:latin typeface="Segoe UI Semibold"/>
                        </a:rPr>
                        <a:t>FC-05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Sensors over-volt the ADC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Powered from the 3.3 V rail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254"/>
                          </a:solidFill>
                          <a:latin typeface="Calibri"/>
                        </a:rPr>
                        <a:t>Implemented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</a:tr>
              <a:tr h="40316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254"/>
                          </a:solidFill>
                          <a:latin typeface="Segoe UI Semibold"/>
                        </a:rPr>
                        <a:t>FC-06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Relays twitch ON at boot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10 kΩ pull-ups + fail-safe OFF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254"/>
                          </a:solidFill>
                          <a:latin typeface="Calibri"/>
                        </a:rPr>
                        <a:t>Implemented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</a:tr>
              <a:tr h="40316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254"/>
                          </a:solidFill>
                          <a:latin typeface="Segoe UI Semibold"/>
                        </a:rPr>
                        <a:t>FC-07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Comms link drops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HMAC heartbeat dead-man halt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254"/>
                          </a:solidFill>
                          <a:latin typeface="Calibri"/>
                        </a:rPr>
                        <a:t>Implemented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</a:tr>
              <a:tr h="40316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254"/>
                          </a:solidFill>
                          <a:latin typeface="Segoe UI Semibold"/>
                        </a:rPr>
                        <a:t>FC-08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Dust, dew &amp; spray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Conformal coat + glands + gaskets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254"/>
                          </a:solidFill>
                          <a:latin typeface="Calibri"/>
                        </a:rPr>
                        <a:t>Implemented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</a:tr>
              <a:tr h="40316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254"/>
                          </a:solidFill>
                          <a:latin typeface="Segoe UI Semibold"/>
                        </a:rPr>
                        <a:t>FC-09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Wheel / cutter jam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ADS1115 current-sense stall stop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254"/>
                          </a:solidFill>
                          <a:latin typeface="Calibri"/>
                        </a:rPr>
                        <a:t>Implemented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</a:tr>
              <a:tr h="40316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254"/>
                          </a:solidFill>
                          <a:latin typeface="Segoe UI Semibold"/>
                        </a:rPr>
                        <a:t>FC-10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Driver under-spec (L298N)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2× BTS7960 MOSFET drivers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2A03D"/>
                          </a:solidFill>
                          <a:latin typeface="Calibri"/>
                        </a:rPr>
                        <a:t>Code-ready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