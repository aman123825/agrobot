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4114800"/>
            <a:ext cx="5486400" cy="3600450"/>
          </a:xfrm>
          <a:prstGeom prst="rect">
            <a:avLst/>
          </a:prstGeom>
        </p:spPr>
        <p:txBody>
          <a:bodyPr vert="horz" lIns="91440" tIns="45720" rIns="91440" bIns="45720" rtlCol="0">
            <a:normAutofit/>
          </a:bodyPr>
          <a:lstStyle/>
          <a:p>
            <a:endParaRPr lang="en-US"/>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Good morning. We are AgriRover, a four-member team from IIT Bombay. Our one line: precision farming for every small farm. In the next few minutes I will walk you through the problem, our working prototype, the market and policy tailwinds, and exactly what we are asking for. (~15s)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India's farms are tiny - 86% are under 2 hectares, too small for tractors. So farmers fertilise by guesswork, over-apply urea, waste money and degrade the soil. Soil-health cards exist, but lab tests take 2-3 weeks, so old habits win. We validated this ourselves: talking to local farmers and input dealers, blind hand-broadcasting is the norm. (~40s)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Our answer is one low-cost autonomous rover that senses, decides and acts per plant. It reads soil NPK, uses AI vision to spot weeds and disease, then micro-doses fertiliser and spot-sprays exactly where needed - and logs everything for next season. Precision farming at a fraction of big-machinery cost. (~35s)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Why us and not the alternatives? Tractors are powerful but far too big and costly for small farms. Drones spray but cannot sense soil or act per plant. Manual labour is cheap per use but recurring. AgriRover is the only option that is affordable, autonomous and per-plant - and it also senses the soil. (~30s)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Under the hood, two brains. A real-time ESP32 running FreeRTOS handles drive, sensing and dosing. A Raspberry Pi 4 runs the AI vision and analytics. They talk over an HMAC-signed link, so safety-critical control stays real-time while the AI stays flexible. (~25s)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 sensing: a 7-in-1 industrial probe reads N, P, K, pH, EC, moisture and temperature over RS485 Modbus, calibrated and oversampled for reliability. On vision: three models - obstacle, weed and disease - run on a Coral Edge TPU at around 30 frames per second, roughly 10x faster than CPU, and it fails safe if a model is missing. (~35s)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Action and autonomy: dosing is sequential - pre-soak, probe, dose, retract - and the drive is frozen while dosing. A pan-tilt nozzle aims spray at each detected weed. It drives autonomous snake routes using GPS, SBAS and EKF fusion, with closed-loop velocity control for straight rows. And it is fail-safe by design: E-stop, dead-man heartbeat, thermal guardian and stall stop. (~40s)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market is large and growing. India's precision-agriculture market roughly doubles to about 739 million dollars by 2034; broader agritech hits 2.5 billion. Our core is the 126 million small and marginal farms. We grow across crops and geographies, and into recurring data services. (~30s)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And policy is firmly on our side. SMAM gives 50 to 80 percent subsidy on machinery and funds Custom Hiring Centres; the Agri Infrastructure Fund finances FPOs; the Soil Health Card mission aligns with our sensing. We go to market through FPOs and CHCs - rover sale, Rover-as-a-Service per acre, plus a data subscription. (~35s)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Crucially, this is not just an idea. As a team we have already built the full firmware, the AI vision, the navigation stack, a live dashboard, a simulator, CI, a verified circuit and a 110-part costed bill of materials - all validated in simulation. Hardware integration is the next step. (~30s)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Our core hypothesis: per-plant sensing and targeted dosing cut fertiliser and chemical use sharply, with no yield loss. In the pilot we will measure input reduction, detection accuracy, and cost per acre. Targets to prove: 30 to 50 percent input reduction and over 85 percent detection accuracy. (~30s)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the numbers we are chasing, from our simulation and targets: about 45 percent less fertiliser, 40 percent cost saving per acre, and 88 percent detection accuracy - all to be validated in field pilots. Be clear with judges: these are projections, not yet field-measured. (~20s)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Execution is staged. Build the hardware prototype in about three months. Pilot on 5 to 10 farms, measuring savings, accuracy and uptime. Iterate and harden from field data - dust and 40-45 degree heat. Then scale through FPOs and CHCs with subsidy support, into Rover-as-a-Service. (~30s)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We are four IIT Bombay engineers - three mechanical, one aerospace - and we built this end-to-end. The impact is real: lower input cost, less fertiliser runoff, healthier soil and higher income - affordable precision farming for every smallholder. (~25s)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It is affordable and modular. A demo build is 8 to 14 thousand rupees; the full AI build is 27 to 48 thousand. All off-the-shelf parts, the software is free, and the printed parts are PETG. (~20s)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So our ask: mentorship and a pilot - field access through an FPO or Custom Hiring Centre - and seed support to build the prototype and run the first pilots. Thank you - precision farming, for every small farm. We are happy to take questions. (~20s)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appendix slides are our engineering depth, if you would like to dig in during questions - electronics, the drive system, the mechanical layout, and the ten field risks we have engineered.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Our electronics: 110 BOM components plus 15 gap-audit items - every bus, divider and safety part placed. This is the consolidated v2 wiring; the red paths are safety-critical.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drive system: we replaced the under-spec L298N with two BTS7960 MOSFET drivers - about 43 amps per side, dual-PWM for forward, reverse and coast, flyback protection, and current-sense for stall detection.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mechanical layout, drawn to scale from verified coordinates: a double-decker 320 by 450 mm chassis. Low centre of gravity with battery and tank kept low, fluids below the electronics, and the heat-generating drivers at the rear by the fan.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Finally, ten real field risks we have already engineered - from weeds above the pathway and field-heat battery safety, to comms-loss dead-man halt and dust sealing. Most are implemented in code; the rest are code-ready.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3B2A"/>
              </a:gs>
              <a:gs pos="100000">
                <a:srgbClr val="07271B"/>
              </a:gs>
            </a:gsLst>
            <a:lin scaled="0" ang="183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6FB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869680" y="-2011680"/>
            <a:ext cx="5120640" cy="5120640"/>
          </a:xfrm>
          <a:prstGeom prst="ellipse">
            <a:avLst/>
          </a:prstGeom>
          <a:solidFill>
            <a:srgbClr val="1F9254">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3291840"/>
            <a:ext cx="3840480" cy="3840480"/>
          </a:xfrm>
          <a:prstGeom prst="ellipse">
            <a:avLst/>
          </a:prstGeom>
          <a:solidFill>
            <a:srgbClr val="6FBF44">
              <a:alpha val="1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79" y="4480560"/>
            <a:ext cx="2011680" cy="2011680"/>
          </a:xfrm>
          <a:prstGeom prst="ellipse">
            <a:avLst/>
          </a:prstGeom>
          <a:solidFill>
            <a:srgbClr val="F2A03D">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8" y="566928"/>
            <a:ext cx="475488" cy="475488"/>
          </a:xfrm>
          <a:prstGeom prst="roundRect">
            <a:avLst>
              <a:gd name="adj" fmla="val 28000"/>
            </a:avLst>
          </a:prstGeom>
          <a:solidFill>
            <a:srgbClr val="6FB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ardrop 7"/>
          <p:cNvSpPr/>
          <p:nvPr/>
        </p:nvSpPr>
        <p:spPr>
          <a:xfrm rot="8100000">
            <a:off x="955365" y="633496"/>
            <a:ext cx="247253" cy="294802"/>
          </a:xfrm>
          <a:prstGeom prst="teardrop">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530352"/>
            <a:ext cx="2743200" cy="548640"/>
          </a:xfrm>
          <a:prstGeom prst="rect">
            <a:avLst/>
          </a:prstGeom>
          <a:noFill/>
        </p:spPr>
        <p:txBody>
          <a:bodyPr wrap="square" anchor="ctr" lIns="0" rIns="0" tIns="0" bIns="0">
            <a:spAutoFit/>
          </a:bodyPr>
          <a:lstStyle/>
          <a:p>
            <a:pPr algn="l"/>
            <a:r>
              <a:rPr sz="1700" b="1">
                <a:solidFill>
                  <a:srgbClr val="FFFFFF"/>
                </a:solidFill>
                <a:latin typeface="Segoe UI Semibold"/>
              </a:rPr>
              <a:t>Agri</a:t>
            </a:r>
            <a:r>
              <a:rPr sz="1700" b="1">
                <a:solidFill>
                  <a:srgbClr val="6FBF44"/>
                </a:solidFill>
                <a:latin typeface="Segoe UI Semibold"/>
              </a:rPr>
              <a:t>Rover</a:t>
            </a:r>
          </a:p>
        </p:txBody>
      </p:sp>
      <p:sp>
        <p:nvSpPr>
          <p:cNvPr id="10" name="TextBox 9"/>
          <p:cNvSpPr txBox="1"/>
          <p:nvPr/>
        </p:nvSpPr>
        <p:spPr>
          <a:xfrm>
            <a:off x="841248" y="1828800"/>
            <a:ext cx="9601200" cy="365760"/>
          </a:xfrm>
          <a:prstGeom prst="rect">
            <a:avLst/>
          </a:prstGeom>
          <a:noFill/>
        </p:spPr>
        <p:txBody>
          <a:bodyPr wrap="square" anchor="t" lIns="0" rIns="0" tIns="0" bIns="0">
            <a:spAutoFit/>
          </a:bodyPr>
          <a:lstStyle/>
          <a:p>
            <a:pPr algn="l">
              <a:lnSpc>
                <a:spcPct val="108000"/>
              </a:lnSpc>
              <a:spcBef>
                <a:spcPts val="0"/>
              </a:spcBef>
              <a:spcAft>
                <a:spcPts val="0"/>
              </a:spcAft>
            </a:pPr>
            <a:r>
              <a:rPr sz="1500" b="1" i="0">
                <a:solidFill>
                  <a:srgbClr val="F2A03D"/>
                </a:solidFill>
                <a:latin typeface="Segoe UI Semibold"/>
              </a:rPr>
              <a:t>PRECISION FARMING FOR EVERY SMALL FARM</a:t>
            </a:r>
          </a:p>
        </p:txBody>
      </p:sp>
      <p:sp>
        <p:nvSpPr>
          <p:cNvPr id="11" name="TextBox 10"/>
          <p:cNvSpPr txBox="1"/>
          <p:nvPr/>
        </p:nvSpPr>
        <p:spPr>
          <a:xfrm>
            <a:off x="813816" y="2176272"/>
            <a:ext cx="9875520" cy="1371600"/>
          </a:xfrm>
          <a:prstGeom prst="rect">
            <a:avLst/>
          </a:prstGeom>
          <a:noFill/>
        </p:spPr>
        <p:txBody>
          <a:bodyPr wrap="square" anchor="t" lIns="0" rIns="0" tIns="0" bIns="0">
            <a:spAutoFit/>
          </a:bodyPr>
          <a:lstStyle/>
          <a:p>
            <a:r>
              <a:rPr sz="6600" b="1">
                <a:solidFill>
                  <a:srgbClr val="FFFFFF"/>
                </a:solidFill>
                <a:latin typeface="Segoe UI Semibold"/>
              </a:rPr>
              <a:t>Agri</a:t>
            </a:r>
            <a:r>
              <a:rPr sz="6600" b="1">
                <a:solidFill>
                  <a:srgbClr val="6FBF44"/>
                </a:solidFill>
                <a:latin typeface="Segoe UI Semibold"/>
              </a:rPr>
              <a:t>Rover</a:t>
            </a:r>
          </a:p>
        </p:txBody>
      </p:sp>
      <p:sp>
        <p:nvSpPr>
          <p:cNvPr id="12" name="TextBox 11"/>
          <p:cNvSpPr txBox="1"/>
          <p:nvPr/>
        </p:nvSpPr>
        <p:spPr>
          <a:xfrm>
            <a:off x="841248" y="3456432"/>
            <a:ext cx="10058400" cy="6400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D9EAD9"/>
                </a:solidFill>
                <a:latin typeface="Segoe UI"/>
              </a:rPr>
              <a:t>Affordable autonomous rover — soil-NPK sensing · AI weed &amp; disease detection · per-plant micro-dosing</a:t>
            </a:r>
          </a:p>
        </p:txBody>
      </p:sp>
      <p:sp>
        <p:nvSpPr>
          <p:cNvPr id="13" name="Rounded Rectangle 12"/>
          <p:cNvSpPr/>
          <p:nvPr/>
        </p:nvSpPr>
        <p:spPr>
          <a:xfrm>
            <a:off x="841248" y="4434840"/>
            <a:ext cx="4114800" cy="329184"/>
          </a:xfrm>
          <a:prstGeom prst="roundRect">
            <a:avLst>
              <a:gd name="adj" fmla="val 50000"/>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434840"/>
            <a:ext cx="4114800" cy="329184"/>
          </a:xfrm>
          <a:prstGeom prst="rect">
            <a:avLst/>
          </a:prstGeom>
          <a:noFill/>
        </p:spPr>
        <p:txBody>
          <a:bodyPr wrap="square" anchor="ctr" lIns="0" rIns="0" tIns="0" bIns="0">
            <a:spAutoFit/>
          </a:bodyPr>
          <a:lstStyle/>
          <a:p>
            <a:pPr algn="ctr">
              <a:lnSpc>
                <a:spcPct val="108000"/>
              </a:lnSpc>
              <a:spcBef>
                <a:spcPts val="0"/>
              </a:spcBef>
              <a:spcAft>
                <a:spcPts val="0"/>
              </a:spcAft>
            </a:pPr>
            <a:r>
              <a:rPr sz="1250" b="1" i="0">
                <a:solidFill>
                  <a:srgbClr val="12281C"/>
                </a:solidFill>
                <a:latin typeface="Segoe UI"/>
              </a:rPr>
              <a:t>IITB–Groww INV.ENT  ·  Track A</a:t>
            </a:r>
          </a:p>
        </p:txBody>
      </p:sp>
      <p:sp>
        <p:nvSpPr>
          <p:cNvPr id="15" name="Rectangle 14"/>
          <p:cNvSpPr/>
          <p:nvPr/>
        </p:nvSpPr>
        <p:spPr>
          <a:xfrm>
            <a:off x="841248" y="5138928"/>
            <a:ext cx="10515600" cy="18288"/>
          </a:xfrm>
          <a:prstGeom prst="rect">
            <a:avLst/>
          </a:prstGeom>
          <a:solidFill>
            <a:srgbClr val="275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5285232"/>
            <a:ext cx="10607040" cy="457200"/>
          </a:xfrm>
          <a:prstGeom prst="rect">
            <a:avLst/>
          </a:prstGeom>
          <a:noFill/>
        </p:spPr>
        <p:txBody>
          <a:bodyPr wrap="square" anchor="t" lIns="0" rIns="0" tIns="0" bIns="0">
            <a:spAutoFit/>
          </a:bodyPr>
          <a:lstStyle/>
          <a:p>
            <a:r>
              <a:rPr sz="1250" b="1">
                <a:solidFill>
                  <a:srgbClr val="6FBF44"/>
                </a:solidFill>
                <a:latin typeface="Calibri"/>
              </a:rPr>
              <a:t>Team of 4 · IIT Bombay:  </a:t>
            </a:r>
            <a:r>
              <a:rPr sz="1250" b="1">
                <a:solidFill>
                  <a:srgbClr val="FFFFFF"/>
                </a:solidFill>
                <a:latin typeface="Calibri"/>
              </a:rPr>
              <a:t>Hitanshu Kapadiya · Vivek Gupta · Shreyash Wagh · Pritish Nandy</a:t>
            </a:r>
          </a:p>
        </p:txBody>
      </p:sp>
      <p:sp>
        <p:nvSpPr>
          <p:cNvPr id="17" name="TextBox 16"/>
          <p:cNvSpPr txBox="1"/>
          <p:nvPr/>
        </p:nvSpPr>
        <p:spPr>
          <a:xfrm>
            <a:off x="841248" y="5632704"/>
            <a:ext cx="10607040" cy="365760"/>
          </a:xfrm>
          <a:prstGeom prst="rect">
            <a:avLst/>
          </a:prstGeom>
          <a:noFill/>
        </p:spPr>
        <p:txBody>
          <a:bodyPr wrap="square" anchor="t" lIns="0" rIns="0" tIns="0" bIns="0">
            <a:spAutoFit/>
          </a:bodyPr>
          <a:lstStyle/>
          <a:p>
            <a:pPr algn="l">
              <a:lnSpc>
                <a:spcPct val="108000"/>
              </a:lnSpc>
              <a:spcBef>
                <a:spcPts val="0"/>
              </a:spcBef>
              <a:spcAft>
                <a:spcPts val="0"/>
              </a:spcAft>
            </a:pPr>
            <a:r>
              <a:rPr sz="1150" b="0" i="0">
                <a:solidFill>
                  <a:srgbClr val="9FC2AC"/>
                </a:solidFill>
                <a:latin typeface="Calibri"/>
              </a:rPr>
              <a:t>Mechanical Engineering ×3  ·  Aerospace Engineering ×1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E4572E"/>
                </a:solidFill>
                <a:latin typeface="Segoe UI Semibold"/>
              </a:rPr>
              <a:t>PROBLEM &amp; VALIDATION</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Farming runs on guesswork</a:t>
            </a:r>
          </a:p>
        </p:txBody>
      </p:sp>
      <p:sp>
        <p:nvSpPr>
          <p:cNvPr id="6" name="Rectangle 5"/>
          <p:cNvSpPr/>
          <p:nvPr/>
        </p:nvSpPr>
        <p:spPr>
          <a:xfrm>
            <a:off x="841248" y="1371600"/>
            <a:ext cx="1371600" cy="50292"/>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2</a:t>
            </a:r>
          </a:p>
        </p:txBody>
      </p:sp>
      <p:sp>
        <p:nvSpPr>
          <p:cNvPr id="12" name="TextBox 11"/>
          <p:cNvSpPr txBox="1"/>
          <p:nvPr/>
        </p:nvSpPr>
        <p:spPr>
          <a:xfrm>
            <a:off x="841248" y="1664208"/>
            <a:ext cx="10509199" cy="502920"/>
          </a:xfrm>
          <a:prstGeom prst="rect">
            <a:avLst/>
          </a:prstGeom>
          <a:noFill/>
        </p:spPr>
        <p:txBody>
          <a:bodyPr wrap="square" anchor="t" lIns="0" rIns="0" tIns="0" bIns="0">
            <a:spAutoFit/>
          </a:bodyPr>
          <a:lstStyle/>
          <a:p>
            <a:pPr algn="l">
              <a:lnSpc>
                <a:spcPct val="112000"/>
              </a:lnSpc>
              <a:spcBef>
                <a:spcPts val="0"/>
              </a:spcBef>
              <a:spcAft>
                <a:spcPts val="600"/>
              </a:spcAft>
            </a:pPr>
            <a:r>
              <a:rPr sz="1500" b="0" i="0">
                <a:solidFill>
                  <a:srgbClr val="5B6B62"/>
                </a:solidFill>
                <a:latin typeface="Calibri"/>
              </a:rPr>
              <a:t>India's small farms can't use big machinery — and fertilise blind. That wastes money and degrades soil.</a:t>
            </a:r>
          </a:p>
        </p:txBody>
      </p:sp>
      <p:sp>
        <p:nvSpPr>
          <p:cNvPr id="13" name="Rounded Rectangle 12"/>
          <p:cNvSpPr/>
          <p:nvPr/>
        </p:nvSpPr>
        <p:spPr>
          <a:xfrm>
            <a:off x="841248" y="2395728"/>
            <a:ext cx="5071719" cy="137160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1248" y="2395728"/>
            <a:ext cx="109728" cy="13716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97280" y="2633472"/>
            <a:ext cx="566928" cy="566928"/>
          </a:xfrm>
          <a:prstGeom prst="roundRect">
            <a:avLst>
              <a:gd name="adj" fmla="val 30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633472"/>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17" name="TextBox 16"/>
          <p:cNvSpPr txBox="1"/>
          <p:nvPr/>
        </p:nvSpPr>
        <p:spPr>
          <a:xfrm>
            <a:off x="1810512" y="2596896"/>
            <a:ext cx="3882999" cy="640080"/>
          </a:xfrm>
          <a:prstGeom prst="rect">
            <a:avLst/>
          </a:prstGeom>
          <a:noFill/>
        </p:spPr>
        <p:txBody>
          <a:bodyPr wrap="square" anchor="ctr" lIns="0" rIns="0" tIns="0" bIns="0">
            <a:spAutoFit/>
          </a:bodyPr>
          <a:lstStyle/>
          <a:p>
            <a:pPr algn="l">
              <a:lnSpc>
                <a:spcPct val="100000"/>
              </a:lnSpc>
              <a:spcBef>
                <a:spcPts val="0"/>
              </a:spcBef>
              <a:spcAft>
                <a:spcPts val="0"/>
              </a:spcAft>
            </a:pPr>
            <a:r>
              <a:rPr sz="1400" b="1" i="0">
                <a:solidFill>
                  <a:srgbClr val="12281C"/>
                </a:solidFill>
                <a:latin typeface="Segoe UI Semibold"/>
              </a:rPr>
              <a:t>Farms too small for machinery</a:t>
            </a:r>
          </a:p>
        </p:txBody>
      </p:sp>
      <p:sp>
        <p:nvSpPr>
          <p:cNvPr id="18" name="TextBox 17"/>
          <p:cNvSpPr txBox="1"/>
          <p:nvPr/>
        </p:nvSpPr>
        <p:spPr>
          <a:xfrm>
            <a:off x="1115568" y="3328416"/>
            <a:ext cx="4568799" cy="320040"/>
          </a:xfrm>
          <a:prstGeom prst="rect">
            <a:avLst/>
          </a:prstGeom>
          <a:noFill/>
        </p:spPr>
        <p:txBody>
          <a:bodyPr wrap="square" anchor="t" lIns="0" rIns="0" tIns="0" bIns="0">
            <a:spAutoFit/>
          </a:bodyPr>
          <a:lstStyle/>
          <a:p>
            <a:pPr algn="l">
              <a:lnSpc>
                <a:spcPct val="106000"/>
              </a:lnSpc>
              <a:spcBef>
                <a:spcPts val="0"/>
              </a:spcBef>
              <a:spcAft>
                <a:spcPts val="400"/>
              </a:spcAft>
            </a:pPr>
            <a:r>
              <a:rPr sz="1200" b="0" i="0">
                <a:solidFill>
                  <a:srgbClr val="5B6B62"/>
                </a:solidFill>
                <a:latin typeface="Calibri"/>
              </a:rPr>
              <a:t>≈86% of India's holdings are under 2 ha</a:t>
            </a:r>
          </a:p>
          <a:p>
            <a:pPr algn="l">
              <a:lnSpc>
                <a:spcPct val="106000"/>
              </a:lnSpc>
              <a:spcBef>
                <a:spcPts val="0"/>
              </a:spcBef>
              <a:spcAft>
                <a:spcPts val="400"/>
              </a:spcAft>
            </a:pPr>
            <a:r>
              <a:rPr sz="1200" b="0" i="0">
                <a:solidFill>
                  <a:srgbClr val="5B6B62"/>
                </a:solidFill>
                <a:latin typeface="Calibri"/>
              </a:rPr>
              <a:t>(Agriculture Census 2015–16).</a:t>
            </a:r>
          </a:p>
        </p:txBody>
      </p:sp>
      <p:sp>
        <p:nvSpPr>
          <p:cNvPr id="19" name="Rounded Rectangle 18"/>
          <p:cNvSpPr/>
          <p:nvPr/>
        </p:nvSpPr>
        <p:spPr>
          <a:xfrm>
            <a:off x="6278727" y="2395728"/>
            <a:ext cx="5071719" cy="137160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8727" y="2395728"/>
            <a:ext cx="109728" cy="137160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34759" y="2633472"/>
            <a:ext cx="566928" cy="566928"/>
          </a:xfrm>
          <a:prstGeom prst="roundRect">
            <a:avLst>
              <a:gd name="adj" fmla="val 30000"/>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4759" y="2633472"/>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23" name="TextBox 22"/>
          <p:cNvSpPr txBox="1"/>
          <p:nvPr/>
        </p:nvSpPr>
        <p:spPr>
          <a:xfrm>
            <a:off x="7247991" y="2596896"/>
            <a:ext cx="3882999" cy="640080"/>
          </a:xfrm>
          <a:prstGeom prst="rect">
            <a:avLst/>
          </a:prstGeom>
          <a:noFill/>
        </p:spPr>
        <p:txBody>
          <a:bodyPr wrap="square" anchor="ctr" lIns="0" rIns="0" tIns="0" bIns="0">
            <a:spAutoFit/>
          </a:bodyPr>
          <a:lstStyle/>
          <a:p>
            <a:pPr algn="l">
              <a:lnSpc>
                <a:spcPct val="100000"/>
              </a:lnSpc>
              <a:spcBef>
                <a:spcPts val="0"/>
              </a:spcBef>
              <a:spcAft>
                <a:spcPts val="0"/>
              </a:spcAft>
            </a:pPr>
            <a:r>
              <a:rPr sz="1400" b="1" i="0">
                <a:solidFill>
                  <a:srgbClr val="12281C"/>
                </a:solidFill>
                <a:latin typeface="Segoe UI Semibold"/>
              </a:rPr>
              <a:t>Fertilise by guesswork</a:t>
            </a:r>
          </a:p>
        </p:txBody>
      </p:sp>
      <p:sp>
        <p:nvSpPr>
          <p:cNvPr id="24" name="TextBox 23"/>
          <p:cNvSpPr txBox="1"/>
          <p:nvPr/>
        </p:nvSpPr>
        <p:spPr>
          <a:xfrm>
            <a:off x="6553047" y="3328416"/>
            <a:ext cx="4568799" cy="320040"/>
          </a:xfrm>
          <a:prstGeom prst="rect">
            <a:avLst/>
          </a:prstGeom>
          <a:noFill/>
        </p:spPr>
        <p:txBody>
          <a:bodyPr wrap="square" anchor="t" lIns="0" rIns="0" tIns="0" bIns="0">
            <a:spAutoFit/>
          </a:bodyPr>
          <a:lstStyle/>
          <a:p>
            <a:pPr algn="l">
              <a:lnSpc>
                <a:spcPct val="106000"/>
              </a:lnSpc>
              <a:spcBef>
                <a:spcPts val="0"/>
              </a:spcBef>
              <a:spcAft>
                <a:spcPts val="400"/>
              </a:spcAft>
            </a:pPr>
            <a:r>
              <a:rPr sz="1200" b="0" i="0">
                <a:solidFill>
                  <a:srgbClr val="5B6B62"/>
                </a:solidFill>
                <a:latin typeface="Calibri"/>
              </a:rPr>
              <a:t>No affordable way to sense soil NPK or</a:t>
            </a:r>
          </a:p>
          <a:p>
            <a:pPr algn="l">
              <a:lnSpc>
                <a:spcPct val="106000"/>
              </a:lnSpc>
              <a:spcBef>
                <a:spcPts val="0"/>
              </a:spcBef>
              <a:spcAft>
                <a:spcPts val="400"/>
              </a:spcAft>
            </a:pPr>
            <a:r>
              <a:rPr sz="1200" b="0" i="0">
                <a:solidFill>
                  <a:srgbClr val="5B6B62"/>
                </a:solidFill>
                <a:latin typeface="Calibri"/>
              </a:rPr>
              <a:t>dose per plant.</a:t>
            </a:r>
          </a:p>
        </p:txBody>
      </p:sp>
      <p:sp>
        <p:nvSpPr>
          <p:cNvPr id="25" name="Rounded Rectangle 24"/>
          <p:cNvSpPr/>
          <p:nvPr/>
        </p:nvSpPr>
        <p:spPr>
          <a:xfrm>
            <a:off x="841248" y="4023360"/>
            <a:ext cx="5071719" cy="137160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4023360"/>
            <a:ext cx="109728" cy="1371600"/>
          </a:xfrm>
          <a:prstGeom prst="rect">
            <a:avLst/>
          </a:prstGeom>
          <a:solidFill>
            <a:srgbClr val="B46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97280" y="4261104"/>
            <a:ext cx="566928" cy="566928"/>
          </a:xfrm>
          <a:prstGeom prst="roundRect">
            <a:avLst>
              <a:gd name="adj" fmla="val 30000"/>
            </a:avLst>
          </a:prstGeom>
          <a:solidFill>
            <a:srgbClr val="B46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26110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29" name="TextBox 28"/>
          <p:cNvSpPr txBox="1"/>
          <p:nvPr/>
        </p:nvSpPr>
        <p:spPr>
          <a:xfrm>
            <a:off x="1810512" y="4224528"/>
            <a:ext cx="3882999" cy="640080"/>
          </a:xfrm>
          <a:prstGeom prst="rect">
            <a:avLst/>
          </a:prstGeom>
          <a:noFill/>
        </p:spPr>
        <p:txBody>
          <a:bodyPr wrap="square" anchor="ctr" lIns="0" rIns="0" tIns="0" bIns="0">
            <a:spAutoFit/>
          </a:bodyPr>
          <a:lstStyle/>
          <a:p>
            <a:pPr algn="l">
              <a:lnSpc>
                <a:spcPct val="100000"/>
              </a:lnSpc>
              <a:spcBef>
                <a:spcPts val="0"/>
              </a:spcBef>
              <a:spcAft>
                <a:spcPts val="0"/>
              </a:spcAft>
            </a:pPr>
            <a:r>
              <a:rPr sz="1400" b="1" i="0">
                <a:solidFill>
                  <a:srgbClr val="12281C"/>
                </a:solidFill>
                <a:latin typeface="Segoe UI Semibold"/>
              </a:rPr>
              <a:t>NPK imbalance vs 4:2:1 (FAI)</a:t>
            </a:r>
          </a:p>
        </p:txBody>
      </p:sp>
      <p:sp>
        <p:nvSpPr>
          <p:cNvPr id="30" name="TextBox 29"/>
          <p:cNvSpPr txBox="1"/>
          <p:nvPr/>
        </p:nvSpPr>
        <p:spPr>
          <a:xfrm>
            <a:off x="1115568" y="4956048"/>
            <a:ext cx="4568799" cy="320040"/>
          </a:xfrm>
          <a:prstGeom prst="rect">
            <a:avLst/>
          </a:prstGeom>
          <a:noFill/>
        </p:spPr>
        <p:txBody>
          <a:bodyPr wrap="square" anchor="t" lIns="0" rIns="0" tIns="0" bIns="0">
            <a:spAutoFit/>
          </a:bodyPr>
          <a:lstStyle/>
          <a:p>
            <a:pPr algn="l">
              <a:lnSpc>
                <a:spcPct val="106000"/>
              </a:lnSpc>
              <a:spcBef>
                <a:spcPts val="0"/>
              </a:spcBef>
              <a:spcAft>
                <a:spcPts val="400"/>
              </a:spcAft>
            </a:pPr>
            <a:r>
              <a:rPr sz="1200" b="0" i="0">
                <a:solidFill>
                  <a:srgbClr val="5B6B62"/>
                </a:solidFill>
                <a:latin typeface="Calibri"/>
              </a:rPr>
              <a:t>Excess urea wastes money and</a:t>
            </a:r>
          </a:p>
          <a:p>
            <a:pPr algn="l">
              <a:lnSpc>
                <a:spcPct val="106000"/>
              </a:lnSpc>
              <a:spcBef>
                <a:spcPts val="0"/>
              </a:spcBef>
              <a:spcAft>
                <a:spcPts val="400"/>
              </a:spcAft>
            </a:pPr>
            <a:r>
              <a:rPr sz="1200" b="0" i="0">
                <a:solidFill>
                  <a:srgbClr val="5B6B62"/>
                </a:solidFill>
                <a:latin typeface="Calibri"/>
              </a:rPr>
              <a:t>degrades the soil.</a:t>
            </a:r>
          </a:p>
        </p:txBody>
      </p:sp>
      <p:sp>
        <p:nvSpPr>
          <p:cNvPr id="31" name="Rounded Rectangle 30"/>
          <p:cNvSpPr/>
          <p:nvPr/>
        </p:nvSpPr>
        <p:spPr>
          <a:xfrm>
            <a:off x="6278727" y="4023360"/>
            <a:ext cx="5071719" cy="137160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78727" y="4023360"/>
            <a:ext cx="109728" cy="13716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34759" y="4261104"/>
            <a:ext cx="566928" cy="566928"/>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4759" y="426110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35" name="TextBox 34"/>
          <p:cNvSpPr txBox="1"/>
          <p:nvPr/>
        </p:nvSpPr>
        <p:spPr>
          <a:xfrm>
            <a:off x="7247991" y="4224528"/>
            <a:ext cx="3882999" cy="640080"/>
          </a:xfrm>
          <a:prstGeom prst="rect">
            <a:avLst/>
          </a:prstGeom>
          <a:noFill/>
        </p:spPr>
        <p:txBody>
          <a:bodyPr wrap="square" anchor="ctr" lIns="0" rIns="0" tIns="0" bIns="0">
            <a:spAutoFit/>
          </a:bodyPr>
          <a:lstStyle/>
          <a:p>
            <a:pPr algn="l">
              <a:lnSpc>
                <a:spcPct val="100000"/>
              </a:lnSpc>
              <a:spcBef>
                <a:spcPts val="0"/>
              </a:spcBef>
              <a:spcAft>
                <a:spcPts val="0"/>
              </a:spcAft>
            </a:pPr>
            <a:r>
              <a:rPr sz="1400" b="1" i="0">
                <a:solidFill>
                  <a:srgbClr val="12281C"/>
                </a:solidFill>
                <a:latin typeface="Segoe UI Semibold"/>
              </a:rPr>
              <a:t>Soil Health Cards underused</a:t>
            </a:r>
          </a:p>
        </p:txBody>
      </p:sp>
      <p:sp>
        <p:nvSpPr>
          <p:cNvPr id="36" name="TextBox 35"/>
          <p:cNvSpPr txBox="1"/>
          <p:nvPr/>
        </p:nvSpPr>
        <p:spPr>
          <a:xfrm>
            <a:off x="6553047" y="4956048"/>
            <a:ext cx="4568799" cy="320040"/>
          </a:xfrm>
          <a:prstGeom prst="rect">
            <a:avLst/>
          </a:prstGeom>
          <a:noFill/>
        </p:spPr>
        <p:txBody>
          <a:bodyPr wrap="square" anchor="t" lIns="0" rIns="0" tIns="0" bIns="0">
            <a:spAutoFit/>
          </a:bodyPr>
          <a:lstStyle/>
          <a:p>
            <a:pPr algn="l">
              <a:lnSpc>
                <a:spcPct val="106000"/>
              </a:lnSpc>
              <a:spcBef>
                <a:spcPts val="0"/>
              </a:spcBef>
              <a:spcAft>
                <a:spcPts val="400"/>
              </a:spcAft>
            </a:pPr>
            <a:r>
              <a:rPr sz="1200" b="0" i="0">
                <a:solidFill>
                  <a:srgbClr val="5B6B62"/>
                </a:solidFill>
                <a:latin typeface="Calibri"/>
              </a:rPr>
              <a:t>Lab tests take 2–3 weeks — so old</a:t>
            </a:r>
          </a:p>
          <a:p>
            <a:pPr algn="l">
              <a:lnSpc>
                <a:spcPct val="106000"/>
              </a:lnSpc>
              <a:spcBef>
                <a:spcPts val="0"/>
              </a:spcBef>
              <a:spcAft>
                <a:spcPts val="400"/>
              </a:spcAft>
            </a:pPr>
            <a:r>
              <a:rPr sz="1200" b="0" i="0">
                <a:solidFill>
                  <a:srgbClr val="5B6B62"/>
                </a:solidFill>
                <a:latin typeface="Calibri"/>
              </a:rPr>
              <a:t>habits win.</a:t>
            </a:r>
          </a:p>
        </p:txBody>
      </p:sp>
      <p:sp>
        <p:nvSpPr>
          <p:cNvPr id="37" name="Rounded Rectangle 36"/>
          <p:cNvSpPr/>
          <p:nvPr/>
        </p:nvSpPr>
        <p:spPr>
          <a:xfrm>
            <a:off x="841248" y="5596128"/>
            <a:ext cx="10509199" cy="603504"/>
          </a:xfrm>
          <a:prstGeom prst="roundRect">
            <a:avLst>
              <a:gd name="adj" fmla="val 40000"/>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5568" y="5596128"/>
            <a:ext cx="9960559" cy="603504"/>
          </a:xfrm>
          <a:prstGeom prst="rect">
            <a:avLst/>
          </a:prstGeom>
          <a:noFill/>
        </p:spPr>
        <p:txBody>
          <a:bodyPr wrap="square" anchor="ctr" lIns="0" rIns="0" tIns="0" bIns="0">
            <a:spAutoFit/>
          </a:bodyPr>
          <a:lstStyle/>
          <a:p>
            <a:pPr algn="ctr"/>
            <a:r>
              <a:rPr sz="1350" b="1">
                <a:solidFill>
                  <a:srgbClr val="1F9254"/>
                </a:solidFill>
                <a:latin typeface="Segoe UI Semibold"/>
              </a:rPr>
              <a:t>Validated in the field:  </a:t>
            </a:r>
            <a:r>
              <a:rPr sz="1250" b="0">
                <a:solidFill>
                  <a:srgbClr val="12281C"/>
                </a:solidFill>
                <a:latin typeface="Calibri"/>
              </a:rPr>
              <a:t>talks with local farmers &amp; input dealers confirm uniform hand-broadcasting and guesswork dosing is the norm.</a:t>
            </a:r>
          </a:p>
        </p:txBody>
      </p:sp>
      <p:sp>
        <p:nvSpPr>
          <p:cNvPr id="39" name="TextBox 38"/>
          <p:cNvSpPr txBox="1"/>
          <p:nvPr/>
        </p:nvSpPr>
        <p:spPr>
          <a:xfrm>
            <a:off x="841248" y="6126480"/>
            <a:ext cx="10509199"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1">
                <a:solidFill>
                  <a:srgbClr val="9AA8A0"/>
                </a:solidFill>
                <a:latin typeface="Calibri"/>
              </a:rPr>
              <a:t>Sources: Agriculture Census 2015–16; FAI. Indicative.</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SOLUTION &amp; INNOVATION</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One low-cost autonomous rover</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3</a:t>
            </a:r>
          </a:p>
        </p:txBody>
      </p:sp>
      <p:sp>
        <p:nvSpPr>
          <p:cNvPr id="12" name="TextBox 11"/>
          <p:cNvSpPr txBox="1"/>
          <p:nvPr/>
        </p:nvSpPr>
        <p:spPr>
          <a:xfrm>
            <a:off x="841248" y="1664208"/>
            <a:ext cx="10509199" cy="502920"/>
          </a:xfrm>
          <a:prstGeom prst="rect">
            <a:avLst/>
          </a:prstGeom>
          <a:noFill/>
        </p:spPr>
        <p:txBody>
          <a:bodyPr wrap="square" anchor="t" lIns="0" rIns="0" tIns="0" bIns="0">
            <a:spAutoFit/>
          </a:bodyPr>
          <a:lstStyle/>
          <a:p>
            <a:pPr algn="l">
              <a:lnSpc>
                <a:spcPct val="112000"/>
              </a:lnSpc>
              <a:spcBef>
                <a:spcPts val="0"/>
              </a:spcBef>
              <a:spcAft>
                <a:spcPts val="600"/>
              </a:spcAft>
            </a:pPr>
            <a:r>
              <a:rPr sz="1500" b="0" i="0">
                <a:solidFill>
                  <a:srgbClr val="5B6B62"/>
                </a:solidFill>
                <a:latin typeface="Calibri"/>
              </a:rPr>
              <a:t>AgriRover senses, decides and acts per plant — precision farming at a fraction of big-ag machinery cost.</a:t>
            </a:r>
          </a:p>
        </p:txBody>
      </p:sp>
      <p:sp>
        <p:nvSpPr>
          <p:cNvPr id="13" name="Rounded Rectangle 12"/>
          <p:cNvSpPr/>
          <p:nvPr/>
        </p:nvSpPr>
        <p:spPr>
          <a:xfrm>
            <a:off x="841248" y="2377440"/>
            <a:ext cx="2421559" cy="265176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1248" y="2377440"/>
            <a:ext cx="109728" cy="265176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97280" y="2615184"/>
            <a:ext cx="566928" cy="566928"/>
          </a:xfrm>
          <a:prstGeom prst="roundRect">
            <a:avLst>
              <a:gd name="adj" fmla="val 30000"/>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61518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900" b="1" i="0">
                <a:solidFill>
                  <a:srgbClr val="FFFFFF"/>
                </a:solidFill>
                <a:latin typeface="Segoe UI Semibold"/>
              </a:rPr>
              <a:t>1</a:t>
            </a:r>
          </a:p>
        </p:txBody>
      </p:sp>
      <p:sp>
        <p:nvSpPr>
          <p:cNvPr id="17" name="TextBox 16"/>
          <p:cNvSpPr txBox="1"/>
          <p:nvPr/>
        </p:nvSpPr>
        <p:spPr>
          <a:xfrm>
            <a:off x="1810512" y="2578608"/>
            <a:ext cx="1232839" cy="640080"/>
          </a:xfrm>
          <a:prstGeom prst="rect">
            <a:avLst/>
          </a:prstGeom>
          <a:noFill/>
        </p:spPr>
        <p:txBody>
          <a:bodyPr wrap="square" anchor="ctr" lIns="0" rIns="0" tIns="0" bIns="0">
            <a:spAutoFit/>
          </a:bodyPr>
          <a:lstStyle/>
          <a:p>
            <a:pPr algn="l">
              <a:lnSpc>
                <a:spcPct val="100000"/>
              </a:lnSpc>
              <a:spcBef>
                <a:spcPts val="0"/>
              </a:spcBef>
              <a:spcAft>
                <a:spcPts val="0"/>
              </a:spcAft>
            </a:pPr>
            <a:r>
              <a:rPr sz="1600" b="1" i="0">
                <a:solidFill>
                  <a:srgbClr val="12281C"/>
                </a:solidFill>
                <a:latin typeface="Segoe UI Semibold"/>
              </a:rPr>
              <a:t>SENSE</a:t>
            </a:r>
          </a:p>
        </p:txBody>
      </p:sp>
      <p:sp>
        <p:nvSpPr>
          <p:cNvPr id="18" name="TextBox 17"/>
          <p:cNvSpPr txBox="1"/>
          <p:nvPr/>
        </p:nvSpPr>
        <p:spPr>
          <a:xfrm>
            <a:off x="1115568" y="3310128"/>
            <a:ext cx="1918639" cy="1600200"/>
          </a:xfrm>
          <a:prstGeom prst="rect">
            <a:avLst/>
          </a:prstGeom>
          <a:noFill/>
        </p:spPr>
        <p:txBody>
          <a:bodyPr wrap="square" anchor="t" lIns="0" rIns="0" tIns="0" bIns="0">
            <a:spAutoFit/>
          </a:bodyPr>
          <a:lstStyle/>
          <a:p>
            <a:pPr algn="l">
              <a:lnSpc>
                <a:spcPct val="106000"/>
              </a:lnSpc>
              <a:spcBef>
                <a:spcPts val="0"/>
              </a:spcBef>
              <a:spcAft>
                <a:spcPts val="400"/>
              </a:spcAft>
            </a:pPr>
            <a:r>
              <a:rPr sz="1250" b="0" i="0">
                <a:solidFill>
                  <a:srgbClr val="5B6B62"/>
                </a:solidFill>
                <a:latin typeface="Calibri"/>
              </a:rPr>
              <a:t>7-in-1 NPK probe</a:t>
            </a:r>
          </a:p>
          <a:p>
            <a:pPr algn="l">
              <a:lnSpc>
                <a:spcPct val="106000"/>
              </a:lnSpc>
              <a:spcBef>
                <a:spcPts val="0"/>
              </a:spcBef>
              <a:spcAft>
                <a:spcPts val="400"/>
              </a:spcAft>
            </a:pPr>
            <a:r>
              <a:rPr sz="1250" b="0" i="0">
                <a:solidFill>
                  <a:srgbClr val="5B6B62"/>
                </a:solidFill>
                <a:latin typeface="Calibri"/>
              </a:rPr>
              <a:t>moisture · TDS · pH</a:t>
            </a:r>
          </a:p>
          <a:p>
            <a:pPr algn="l">
              <a:lnSpc>
                <a:spcPct val="106000"/>
              </a:lnSpc>
              <a:spcBef>
                <a:spcPts val="0"/>
              </a:spcBef>
              <a:spcAft>
                <a:spcPts val="400"/>
              </a:spcAft>
            </a:pPr>
            <a:r>
              <a:rPr sz="1250" b="0" i="0">
                <a:solidFill>
                  <a:srgbClr val="5B6B62"/>
                </a:solidFill>
                <a:latin typeface="Calibri"/>
              </a:rPr>
              <a:t>GPS + IMU + encoders</a:t>
            </a:r>
          </a:p>
        </p:txBody>
      </p:sp>
      <p:sp>
        <p:nvSpPr>
          <p:cNvPr id="19" name="Rounded Rectangle 18"/>
          <p:cNvSpPr/>
          <p:nvPr/>
        </p:nvSpPr>
        <p:spPr>
          <a:xfrm>
            <a:off x="3537127" y="2377440"/>
            <a:ext cx="2421559" cy="265176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537127" y="2377440"/>
            <a:ext cx="109728" cy="265176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793159" y="2615184"/>
            <a:ext cx="566928" cy="566928"/>
          </a:xfrm>
          <a:prstGeom prst="roundRect">
            <a:avLst>
              <a:gd name="adj" fmla="val 30000"/>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159" y="261518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900" b="1" i="0">
                <a:solidFill>
                  <a:srgbClr val="FFFFFF"/>
                </a:solidFill>
                <a:latin typeface="Segoe UI Semibold"/>
              </a:rPr>
              <a:t>2</a:t>
            </a:r>
          </a:p>
        </p:txBody>
      </p:sp>
      <p:sp>
        <p:nvSpPr>
          <p:cNvPr id="23" name="TextBox 22"/>
          <p:cNvSpPr txBox="1"/>
          <p:nvPr/>
        </p:nvSpPr>
        <p:spPr>
          <a:xfrm>
            <a:off x="4506391" y="2578608"/>
            <a:ext cx="1232839" cy="640080"/>
          </a:xfrm>
          <a:prstGeom prst="rect">
            <a:avLst/>
          </a:prstGeom>
          <a:noFill/>
        </p:spPr>
        <p:txBody>
          <a:bodyPr wrap="square" anchor="ctr" lIns="0" rIns="0" tIns="0" bIns="0">
            <a:spAutoFit/>
          </a:bodyPr>
          <a:lstStyle/>
          <a:p>
            <a:pPr algn="l">
              <a:lnSpc>
                <a:spcPct val="100000"/>
              </a:lnSpc>
              <a:spcBef>
                <a:spcPts val="0"/>
              </a:spcBef>
              <a:spcAft>
                <a:spcPts val="0"/>
              </a:spcAft>
            </a:pPr>
            <a:r>
              <a:rPr sz="1600" b="1" i="0">
                <a:solidFill>
                  <a:srgbClr val="12281C"/>
                </a:solidFill>
                <a:latin typeface="Segoe UI Semibold"/>
              </a:rPr>
              <a:t>DECIDE</a:t>
            </a:r>
          </a:p>
        </p:txBody>
      </p:sp>
      <p:sp>
        <p:nvSpPr>
          <p:cNvPr id="24" name="TextBox 23"/>
          <p:cNvSpPr txBox="1"/>
          <p:nvPr/>
        </p:nvSpPr>
        <p:spPr>
          <a:xfrm>
            <a:off x="3811447" y="3310128"/>
            <a:ext cx="1918639" cy="1600200"/>
          </a:xfrm>
          <a:prstGeom prst="rect">
            <a:avLst/>
          </a:prstGeom>
          <a:noFill/>
        </p:spPr>
        <p:txBody>
          <a:bodyPr wrap="square" anchor="t" lIns="0" rIns="0" tIns="0" bIns="0">
            <a:spAutoFit/>
          </a:bodyPr>
          <a:lstStyle/>
          <a:p>
            <a:pPr algn="l">
              <a:lnSpc>
                <a:spcPct val="106000"/>
              </a:lnSpc>
              <a:spcBef>
                <a:spcPts val="0"/>
              </a:spcBef>
              <a:spcAft>
                <a:spcPts val="400"/>
              </a:spcAft>
            </a:pPr>
            <a:r>
              <a:rPr sz="1250" b="0" i="0">
                <a:solidFill>
                  <a:srgbClr val="5B6B62"/>
                </a:solidFill>
                <a:latin typeface="Calibri"/>
              </a:rPr>
              <a:t>YOLOv8n vision</a:t>
            </a:r>
          </a:p>
          <a:p>
            <a:pPr algn="l">
              <a:lnSpc>
                <a:spcPct val="106000"/>
              </a:lnSpc>
              <a:spcBef>
                <a:spcPts val="0"/>
              </a:spcBef>
              <a:spcAft>
                <a:spcPts val="400"/>
              </a:spcAft>
            </a:pPr>
            <a:r>
              <a:rPr sz="1250" b="0" i="0">
                <a:solidFill>
                  <a:srgbClr val="5B6B62"/>
                </a:solidFill>
                <a:latin typeface="Calibri"/>
              </a:rPr>
              <a:t>weed · disease</a:t>
            </a:r>
          </a:p>
          <a:p>
            <a:pPr algn="l">
              <a:lnSpc>
                <a:spcPct val="106000"/>
              </a:lnSpc>
              <a:spcBef>
                <a:spcPts val="0"/>
              </a:spcBef>
              <a:spcAft>
                <a:spcPts val="400"/>
              </a:spcAft>
            </a:pPr>
            <a:r>
              <a:rPr sz="1250" b="0" i="0">
                <a:solidFill>
                  <a:srgbClr val="5B6B62"/>
                </a:solidFill>
                <a:latin typeface="Calibri"/>
              </a:rPr>
              <a:t>obstacle detection</a:t>
            </a:r>
          </a:p>
        </p:txBody>
      </p:sp>
      <p:sp>
        <p:nvSpPr>
          <p:cNvPr id="25" name="Rounded Rectangle 24"/>
          <p:cNvSpPr/>
          <p:nvPr/>
        </p:nvSpPr>
        <p:spPr>
          <a:xfrm>
            <a:off x="6233007" y="2377440"/>
            <a:ext cx="2421559" cy="265176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007" y="2377440"/>
            <a:ext cx="109728" cy="265176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89039" y="2615184"/>
            <a:ext cx="566928" cy="566928"/>
          </a:xfrm>
          <a:prstGeom prst="roundRect">
            <a:avLst>
              <a:gd name="adj" fmla="val 30000"/>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9039" y="261518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900" b="1" i="0">
                <a:solidFill>
                  <a:srgbClr val="FFFFFF"/>
                </a:solidFill>
                <a:latin typeface="Segoe UI Semibold"/>
              </a:rPr>
              <a:t>3</a:t>
            </a:r>
          </a:p>
        </p:txBody>
      </p:sp>
      <p:sp>
        <p:nvSpPr>
          <p:cNvPr id="29" name="TextBox 28"/>
          <p:cNvSpPr txBox="1"/>
          <p:nvPr/>
        </p:nvSpPr>
        <p:spPr>
          <a:xfrm>
            <a:off x="7202271" y="2578608"/>
            <a:ext cx="1232839" cy="640080"/>
          </a:xfrm>
          <a:prstGeom prst="rect">
            <a:avLst/>
          </a:prstGeom>
          <a:noFill/>
        </p:spPr>
        <p:txBody>
          <a:bodyPr wrap="square" anchor="ctr" lIns="0" rIns="0" tIns="0" bIns="0">
            <a:spAutoFit/>
          </a:bodyPr>
          <a:lstStyle/>
          <a:p>
            <a:pPr algn="l">
              <a:lnSpc>
                <a:spcPct val="100000"/>
              </a:lnSpc>
              <a:spcBef>
                <a:spcPts val="0"/>
              </a:spcBef>
              <a:spcAft>
                <a:spcPts val="0"/>
              </a:spcAft>
            </a:pPr>
            <a:r>
              <a:rPr sz="1600" b="1" i="0">
                <a:solidFill>
                  <a:srgbClr val="12281C"/>
                </a:solidFill>
                <a:latin typeface="Segoe UI Semibold"/>
              </a:rPr>
              <a:t>ACT</a:t>
            </a:r>
          </a:p>
        </p:txBody>
      </p:sp>
      <p:sp>
        <p:nvSpPr>
          <p:cNvPr id="30" name="TextBox 29"/>
          <p:cNvSpPr txBox="1"/>
          <p:nvPr/>
        </p:nvSpPr>
        <p:spPr>
          <a:xfrm>
            <a:off x="6507327" y="3310128"/>
            <a:ext cx="1918639" cy="1600200"/>
          </a:xfrm>
          <a:prstGeom prst="rect">
            <a:avLst/>
          </a:prstGeom>
          <a:noFill/>
        </p:spPr>
        <p:txBody>
          <a:bodyPr wrap="square" anchor="t" lIns="0" rIns="0" tIns="0" bIns="0">
            <a:spAutoFit/>
          </a:bodyPr>
          <a:lstStyle/>
          <a:p>
            <a:pPr algn="l">
              <a:lnSpc>
                <a:spcPct val="106000"/>
              </a:lnSpc>
              <a:spcBef>
                <a:spcPts val="0"/>
              </a:spcBef>
              <a:spcAft>
                <a:spcPts val="400"/>
              </a:spcAft>
            </a:pPr>
            <a:r>
              <a:rPr sz="1250" b="0" i="0">
                <a:solidFill>
                  <a:srgbClr val="5B6B62"/>
                </a:solidFill>
                <a:latin typeface="Calibri"/>
              </a:rPr>
              <a:t>micro-dosing</a:t>
            </a:r>
          </a:p>
          <a:p>
            <a:pPr algn="l">
              <a:lnSpc>
                <a:spcPct val="106000"/>
              </a:lnSpc>
              <a:spcBef>
                <a:spcPts val="0"/>
              </a:spcBef>
              <a:spcAft>
                <a:spcPts val="400"/>
              </a:spcAft>
            </a:pPr>
            <a:r>
              <a:rPr sz="1250" b="0" i="0">
                <a:solidFill>
                  <a:srgbClr val="5B6B62"/>
                </a:solidFill>
                <a:latin typeface="Calibri"/>
              </a:rPr>
              <a:t>aimed spot-spray</a:t>
            </a:r>
          </a:p>
          <a:p>
            <a:pPr algn="l">
              <a:lnSpc>
                <a:spcPct val="106000"/>
              </a:lnSpc>
              <a:spcBef>
                <a:spcPts val="0"/>
              </a:spcBef>
              <a:spcAft>
                <a:spcPts val="400"/>
              </a:spcAft>
            </a:pPr>
            <a:r>
              <a:rPr sz="1250" b="0" i="0">
                <a:solidFill>
                  <a:srgbClr val="5B6B62"/>
                </a:solidFill>
                <a:latin typeface="Calibri"/>
              </a:rPr>
              <a:t>cutter · seeder · weeder</a:t>
            </a:r>
          </a:p>
        </p:txBody>
      </p:sp>
      <p:sp>
        <p:nvSpPr>
          <p:cNvPr id="31" name="Rounded Rectangle 30"/>
          <p:cNvSpPr/>
          <p:nvPr/>
        </p:nvSpPr>
        <p:spPr>
          <a:xfrm>
            <a:off x="8928887" y="2377440"/>
            <a:ext cx="2421559" cy="265176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28887" y="2377440"/>
            <a:ext cx="109728" cy="26517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84919" y="2615184"/>
            <a:ext cx="566928" cy="566928"/>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4919" y="2615184"/>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900" b="1" i="0">
                <a:solidFill>
                  <a:srgbClr val="FFFFFF"/>
                </a:solidFill>
                <a:latin typeface="Segoe UI Semibold"/>
              </a:rPr>
              <a:t>4</a:t>
            </a:r>
          </a:p>
        </p:txBody>
      </p:sp>
      <p:sp>
        <p:nvSpPr>
          <p:cNvPr id="35" name="TextBox 34"/>
          <p:cNvSpPr txBox="1"/>
          <p:nvPr/>
        </p:nvSpPr>
        <p:spPr>
          <a:xfrm>
            <a:off x="9898151" y="2578608"/>
            <a:ext cx="1232839" cy="640080"/>
          </a:xfrm>
          <a:prstGeom prst="rect">
            <a:avLst/>
          </a:prstGeom>
          <a:noFill/>
        </p:spPr>
        <p:txBody>
          <a:bodyPr wrap="square" anchor="ctr" lIns="0" rIns="0" tIns="0" bIns="0">
            <a:spAutoFit/>
          </a:bodyPr>
          <a:lstStyle/>
          <a:p>
            <a:pPr algn="l">
              <a:lnSpc>
                <a:spcPct val="100000"/>
              </a:lnSpc>
              <a:spcBef>
                <a:spcPts val="0"/>
              </a:spcBef>
              <a:spcAft>
                <a:spcPts val="0"/>
              </a:spcAft>
            </a:pPr>
            <a:r>
              <a:rPr sz="1600" b="1" i="0">
                <a:solidFill>
                  <a:srgbClr val="12281C"/>
                </a:solidFill>
                <a:latin typeface="Segoe UI Semibold"/>
              </a:rPr>
              <a:t>LEARN</a:t>
            </a:r>
          </a:p>
        </p:txBody>
      </p:sp>
      <p:sp>
        <p:nvSpPr>
          <p:cNvPr id="36" name="TextBox 35"/>
          <p:cNvSpPr txBox="1"/>
          <p:nvPr/>
        </p:nvSpPr>
        <p:spPr>
          <a:xfrm>
            <a:off x="9203207" y="3310128"/>
            <a:ext cx="1918639" cy="1600200"/>
          </a:xfrm>
          <a:prstGeom prst="rect">
            <a:avLst/>
          </a:prstGeom>
          <a:noFill/>
        </p:spPr>
        <p:txBody>
          <a:bodyPr wrap="square" anchor="t" lIns="0" rIns="0" tIns="0" bIns="0">
            <a:spAutoFit/>
          </a:bodyPr>
          <a:lstStyle/>
          <a:p>
            <a:pPr algn="l">
              <a:lnSpc>
                <a:spcPct val="106000"/>
              </a:lnSpc>
              <a:spcBef>
                <a:spcPts val="0"/>
              </a:spcBef>
              <a:spcAft>
                <a:spcPts val="400"/>
              </a:spcAft>
            </a:pPr>
            <a:r>
              <a:rPr sz="1250" b="0" i="0">
                <a:solidFill>
                  <a:srgbClr val="5B6B62"/>
                </a:solidFill>
                <a:latin typeface="Calibri"/>
              </a:rPr>
              <a:t>geo-tagged logs</a:t>
            </a:r>
          </a:p>
          <a:p>
            <a:pPr algn="l">
              <a:lnSpc>
                <a:spcPct val="106000"/>
              </a:lnSpc>
              <a:spcBef>
                <a:spcPts val="0"/>
              </a:spcBef>
              <a:spcAft>
                <a:spcPts val="400"/>
              </a:spcAft>
            </a:pPr>
            <a:r>
              <a:rPr sz="1250" b="0" i="0">
                <a:solidFill>
                  <a:srgbClr val="5B6B62"/>
                </a:solidFill>
                <a:latin typeface="Calibri"/>
              </a:rPr>
              <a:t>prescription maps</a:t>
            </a:r>
          </a:p>
          <a:p>
            <a:pPr algn="l">
              <a:lnSpc>
                <a:spcPct val="106000"/>
              </a:lnSpc>
              <a:spcBef>
                <a:spcPts val="0"/>
              </a:spcBef>
              <a:spcAft>
                <a:spcPts val="400"/>
              </a:spcAft>
            </a:pPr>
            <a:r>
              <a:rPr sz="1250" b="0" i="0">
                <a:solidFill>
                  <a:srgbClr val="5B6B62"/>
                </a:solidFill>
                <a:latin typeface="Calibri"/>
              </a:rPr>
              <a:t>dashboard + alerts</a:t>
            </a:r>
          </a:p>
        </p:txBody>
      </p:sp>
      <p:sp>
        <p:nvSpPr>
          <p:cNvPr id="37" name="Rounded Rectangle 36"/>
          <p:cNvSpPr/>
          <p:nvPr/>
        </p:nvSpPr>
        <p:spPr>
          <a:xfrm>
            <a:off x="841248" y="5321808"/>
            <a:ext cx="10509199" cy="603504"/>
          </a:xfrm>
          <a:prstGeom prst="roundRect">
            <a:avLst>
              <a:gd name="adj" fmla="val 40000"/>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5568" y="5321808"/>
            <a:ext cx="9960559" cy="603504"/>
          </a:xfrm>
          <a:prstGeom prst="rect">
            <a:avLst/>
          </a:prstGeom>
          <a:noFill/>
        </p:spPr>
        <p:txBody>
          <a:bodyPr wrap="square" anchor="ctr" lIns="0" rIns="0" tIns="0" bIns="0">
            <a:spAutoFit/>
          </a:bodyPr>
          <a:lstStyle/>
          <a:p>
            <a:pPr algn="ctr"/>
            <a:r>
              <a:rPr sz="1350" b="1">
                <a:solidFill>
                  <a:srgbClr val="1F9254"/>
                </a:solidFill>
                <a:latin typeface="Segoe UI Semibold"/>
              </a:rPr>
              <a:t>Why it's different:  </a:t>
            </a:r>
            <a:r>
              <a:rPr sz="1250" b="0">
                <a:solidFill>
                  <a:srgbClr val="12281C"/>
                </a:solidFill>
                <a:latin typeface="Calibri"/>
              </a:rPr>
              <a:t>the only affordable, autonomous, per-plant solution purpose-built for India's small farms.</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2B9BD6"/>
                </a:solidFill>
                <a:latin typeface="Segoe UI Semibold"/>
              </a:rPr>
              <a:t>WHY AGRIROVER?</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Vs the alternatives</a:t>
            </a:r>
          </a:p>
        </p:txBody>
      </p:sp>
      <p:sp>
        <p:nvSpPr>
          <p:cNvPr id="6" name="Rectangle 5"/>
          <p:cNvSpPr/>
          <p:nvPr/>
        </p:nvSpPr>
        <p:spPr>
          <a:xfrm>
            <a:off x="841248" y="1371600"/>
            <a:ext cx="1371600" cy="5029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4</a:t>
            </a:r>
          </a:p>
        </p:txBody>
      </p:sp>
      <p:graphicFrame>
        <p:nvGraphicFramePr>
          <p:cNvPr id="12" name="Table 11"/>
          <p:cNvGraphicFramePr>
            <a:graphicFrameLocks noGrp="1"/>
          </p:cNvGraphicFramePr>
          <p:nvPr/>
        </p:nvGraphicFramePr>
        <p:xfrm>
          <a:off x="841248" y="1709928"/>
          <a:ext cx="10515600" cy="3428999"/>
        </p:xfrm>
        <a:graphic>
          <a:graphicData uri="http://schemas.openxmlformats.org/drawingml/2006/table">
            <a:tbl>
              <a:tblPr>
                <a:tableStyleId>{5C22544A-7EE6-4342-B048-85BDC9FD1C3A}</a:tableStyleId>
              </a:tblPr>
              <a:tblGrid>
                <a:gridCol w="3840480"/>
                <a:gridCol w="1737360"/>
                <a:gridCol w="1645920"/>
                <a:gridCol w="1600200"/>
                <a:gridCol w="1691640"/>
              </a:tblGrid>
              <a:tr h="489857">
                <a:tc>
                  <a:txBody>
                    <a:bodyPr wrap="square"/>
                    <a:lstStyle/>
                    <a:p>
                      <a:pPr algn="l"/>
                      <a:r>
                        <a:rPr sz="1200" b="1">
                          <a:solidFill>
                            <a:srgbClr val="FFFFFF"/>
                          </a:solidFill>
                          <a:latin typeface="Segoe UI Semibold"/>
                        </a:rPr>
                        <a:t>Capability</a:t>
                      </a:r>
                    </a:p>
                  </a:txBody>
                  <a:tcPr marL="109728" marR="54864" marT="18288" marB="18288" anchor="ctr">
                    <a:solidFill>
                      <a:srgbClr val="0E3B2A"/>
                    </a:solidFill>
                  </a:tcPr>
                </a:tc>
                <a:tc>
                  <a:txBody>
                    <a:bodyPr wrap="square"/>
                    <a:lstStyle/>
                    <a:p>
                      <a:pPr algn="ctr"/>
                      <a:r>
                        <a:rPr sz="1200" b="1">
                          <a:solidFill>
                            <a:srgbClr val="FFFFFF"/>
                          </a:solidFill>
                          <a:latin typeface="Segoe UI Semibold"/>
                        </a:rPr>
                        <a:t>AgriRover</a:t>
                      </a:r>
                    </a:p>
                  </a:txBody>
                  <a:tcPr marL="109728" marR="54864" marT="18288" marB="18288" anchor="ctr">
                    <a:solidFill>
                      <a:srgbClr val="0E3B2A"/>
                    </a:solidFill>
                  </a:tcPr>
                </a:tc>
                <a:tc>
                  <a:txBody>
                    <a:bodyPr wrap="square"/>
                    <a:lstStyle/>
                    <a:p>
                      <a:pPr algn="ctr"/>
                      <a:r>
                        <a:rPr sz="1200" b="1">
                          <a:solidFill>
                            <a:srgbClr val="FFFFFF"/>
                          </a:solidFill>
                          <a:latin typeface="Segoe UI Semibold"/>
                        </a:rPr>
                        <a:t>Big-ag
machinery</a:t>
                      </a:r>
                    </a:p>
                  </a:txBody>
                  <a:tcPr marL="109728" marR="54864" marT="18288" marB="18288" anchor="ctr">
                    <a:solidFill>
                      <a:srgbClr val="0E3B2A"/>
                    </a:solidFill>
                  </a:tcPr>
                </a:tc>
                <a:tc>
                  <a:txBody>
                    <a:bodyPr wrap="square"/>
                    <a:lstStyle/>
                    <a:p>
                      <a:pPr algn="ctr"/>
                      <a:r>
                        <a:rPr sz="1200" b="1">
                          <a:solidFill>
                            <a:srgbClr val="FFFFFF"/>
                          </a:solidFill>
                          <a:latin typeface="Segoe UI Semibold"/>
                        </a:rPr>
                        <a:t>Manual
labour</a:t>
                      </a:r>
                    </a:p>
                  </a:txBody>
                  <a:tcPr marL="109728" marR="54864" marT="18288" marB="18288" anchor="ctr">
                    <a:solidFill>
                      <a:srgbClr val="0E3B2A"/>
                    </a:solidFill>
                  </a:tcPr>
                </a:tc>
                <a:tc>
                  <a:txBody>
                    <a:bodyPr wrap="square"/>
                    <a:lstStyle/>
                    <a:p>
                      <a:pPr algn="ctr"/>
                      <a:r>
                        <a:rPr sz="1200" b="1">
                          <a:solidFill>
                            <a:srgbClr val="FFFFFF"/>
                          </a:solidFill>
                          <a:latin typeface="Segoe UI Semibold"/>
                        </a:rPr>
                        <a:t>Ag-drones</a:t>
                      </a:r>
                    </a:p>
                  </a:txBody>
                  <a:tcPr marL="109728" marR="54864" marT="18288" marB="18288" anchor="ctr">
                    <a:solidFill>
                      <a:srgbClr val="0E3B2A"/>
                    </a:solidFill>
                  </a:tcPr>
                </a:tc>
              </a:tr>
              <a:tr h="489857">
                <a:tc>
                  <a:txBody>
                    <a:bodyPr wrap="square"/>
                    <a:lstStyle/>
                    <a:p>
                      <a:pPr algn="l"/>
                      <a:r>
                        <a:rPr sz="1250" b="1">
                          <a:solidFill>
                            <a:srgbClr val="12281C"/>
                          </a:solidFill>
                          <a:latin typeface="Calibri"/>
                        </a:rPr>
                        <a:t>Affordable for &lt;2 ha farms</a:t>
                      </a:r>
                    </a:p>
                  </a:txBody>
                  <a:tcPr marL="109728" marR="54864" marT="18288" marB="18288" anchor="ctr">
                    <a:solidFill>
                      <a:srgbClr val="FFFFFF"/>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C0473B"/>
                          </a:solidFill>
                          <a:latin typeface="Segoe UI Semibold"/>
                        </a:rPr>
                        <a:t>✗</a:t>
                      </a:r>
                    </a:p>
                  </a:txBody>
                  <a:tcPr marL="109728" marR="54864" marT="18288" marB="18288" anchor="ctr">
                    <a:solidFill>
                      <a:srgbClr val="FFFFFF"/>
                    </a:solidFill>
                  </a:tcPr>
                </a:tc>
                <a:tc>
                  <a:txBody>
                    <a:bodyPr wrap="square"/>
                    <a:lstStyle/>
                    <a:p>
                      <a:pPr algn="ctr"/>
                      <a:r>
                        <a:rPr sz="1500" b="1">
                          <a:solidFill>
                            <a:srgbClr val="1F9254"/>
                          </a:solidFill>
                          <a:latin typeface="Segoe UI Semibold"/>
                        </a:rPr>
                        <a:t>✓*</a:t>
                      </a:r>
                    </a:p>
                  </a:txBody>
                  <a:tcPr marL="109728" marR="54864" marT="18288" marB="18288" anchor="ctr">
                    <a:solidFill>
                      <a:srgbClr val="FFFFFF"/>
                    </a:solidFill>
                  </a:tcPr>
                </a:tc>
                <a:tc>
                  <a:txBody>
                    <a:bodyPr wrap="square"/>
                    <a:lstStyle/>
                    <a:p>
                      <a:pPr algn="ctr"/>
                      <a:r>
                        <a:rPr sz="1500" b="1">
                          <a:solidFill>
                            <a:srgbClr val="F2A03D"/>
                          </a:solidFill>
                          <a:latin typeface="Segoe UI Semibold"/>
                        </a:rPr>
                        <a:t>~</a:t>
                      </a:r>
                    </a:p>
                  </a:txBody>
                  <a:tcPr marL="109728" marR="54864" marT="18288" marB="18288" anchor="ctr">
                    <a:solidFill>
                      <a:srgbClr val="FFFFFF"/>
                    </a:solidFill>
                  </a:tcPr>
                </a:tc>
              </a:tr>
              <a:tr h="489857">
                <a:tc>
                  <a:txBody>
                    <a:bodyPr wrap="square"/>
                    <a:lstStyle/>
                    <a:p>
                      <a:pPr algn="l"/>
                      <a:r>
                        <a:rPr sz="1250" b="1">
                          <a:solidFill>
                            <a:srgbClr val="12281C"/>
                          </a:solidFill>
                          <a:latin typeface="Calibri"/>
                        </a:rPr>
                        <a:t>Senses soil NPK per spot</a:t>
                      </a:r>
                    </a:p>
                  </a:txBody>
                  <a:tcPr marL="109728" marR="54864" marT="18288" marB="18288" anchor="ctr">
                    <a:solidFill>
                      <a:srgbClr val="EEF4EC"/>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r>
              <a:tr h="489857">
                <a:tc>
                  <a:txBody>
                    <a:bodyPr wrap="square"/>
                    <a:lstStyle/>
                    <a:p>
                      <a:pPr algn="l"/>
                      <a:r>
                        <a:rPr sz="1250" b="1">
                          <a:solidFill>
                            <a:srgbClr val="12281C"/>
                          </a:solidFill>
                          <a:latin typeface="Calibri"/>
                        </a:rPr>
                        <a:t>Per-plant micro-dosing</a:t>
                      </a:r>
                    </a:p>
                  </a:txBody>
                  <a:tcPr marL="109728" marR="54864" marT="18288" marB="18288" anchor="ctr">
                    <a:solidFill>
                      <a:srgbClr val="FFFFFF"/>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C0473B"/>
                          </a:solidFill>
                          <a:latin typeface="Segoe UI Semibold"/>
                        </a:rPr>
                        <a:t>✗</a:t>
                      </a:r>
                    </a:p>
                  </a:txBody>
                  <a:tcPr marL="109728" marR="54864" marT="18288" marB="18288" anchor="ctr">
                    <a:solidFill>
                      <a:srgbClr val="FFFFFF"/>
                    </a:solidFill>
                  </a:tcPr>
                </a:tc>
                <a:tc>
                  <a:txBody>
                    <a:bodyPr wrap="square"/>
                    <a:lstStyle/>
                    <a:p>
                      <a:pPr algn="ctr"/>
                      <a:r>
                        <a:rPr sz="1500" b="1">
                          <a:solidFill>
                            <a:srgbClr val="F2A03D"/>
                          </a:solidFill>
                          <a:latin typeface="Segoe UI Semibold"/>
                        </a:rPr>
                        <a:t>~</a:t>
                      </a:r>
                    </a:p>
                  </a:txBody>
                  <a:tcPr marL="109728" marR="54864" marT="18288" marB="18288" anchor="ctr">
                    <a:solidFill>
                      <a:srgbClr val="FFFFFF"/>
                    </a:solidFill>
                  </a:tcPr>
                </a:tc>
                <a:tc>
                  <a:txBody>
                    <a:bodyPr wrap="square"/>
                    <a:lstStyle/>
                    <a:p>
                      <a:pPr algn="ctr"/>
                      <a:r>
                        <a:rPr sz="1500" b="1">
                          <a:solidFill>
                            <a:srgbClr val="C0473B"/>
                          </a:solidFill>
                          <a:latin typeface="Segoe UI Semibold"/>
                        </a:rPr>
                        <a:t>✗</a:t>
                      </a:r>
                    </a:p>
                  </a:txBody>
                  <a:tcPr marL="109728" marR="54864" marT="18288" marB="18288" anchor="ctr">
                    <a:solidFill>
                      <a:srgbClr val="FFFFFF"/>
                    </a:solidFill>
                  </a:tcPr>
                </a:tc>
              </a:tr>
              <a:tr h="489857">
                <a:tc>
                  <a:txBody>
                    <a:bodyPr wrap="square"/>
                    <a:lstStyle/>
                    <a:p>
                      <a:pPr algn="l"/>
                      <a:r>
                        <a:rPr sz="1250" b="1">
                          <a:solidFill>
                            <a:srgbClr val="12281C"/>
                          </a:solidFill>
                          <a:latin typeface="Calibri"/>
                        </a:rPr>
                        <a:t>AI weed &amp; disease ID</a:t>
                      </a:r>
                    </a:p>
                  </a:txBody>
                  <a:tcPr marL="109728" marR="54864" marT="18288" marB="18288" anchor="ctr">
                    <a:solidFill>
                      <a:srgbClr val="EEF4EC"/>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F2A03D"/>
                          </a:solidFill>
                          <a:latin typeface="Segoe UI Semibold"/>
                        </a:rPr>
                        <a:t>~</a:t>
                      </a:r>
                    </a:p>
                  </a:txBody>
                  <a:tcPr marL="109728" marR="54864" marT="18288" marB="18288" anchor="ctr">
                    <a:solidFill>
                      <a:srgbClr val="EEF4EC"/>
                    </a:solidFill>
                  </a:tcPr>
                </a:tc>
              </a:tr>
              <a:tr h="489857">
                <a:tc>
                  <a:txBody>
                    <a:bodyPr wrap="square"/>
                    <a:lstStyle/>
                    <a:p>
                      <a:pPr algn="l"/>
                      <a:r>
                        <a:rPr sz="1250" b="1">
                          <a:solidFill>
                            <a:srgbClr val="12281C"/>
                          </a:solidFill>
                          <a:latin typeface="Calibri"/>
                        </a:rPr>
                        <a:t>Autonomous operation</a:t>
                      </a:r>
                    </a:p>
                  </a:txBody>
                  <a:tcPr marL="109728" marR="54864" marT="18288" marB="18288" anchor="ctr">
                    <a:solidFill>
                      <a:srgbClr val="FFFFFF"/>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1F9254"/>
                          </a:solidFill>
                          <a:latin typeface="Segoe UI Semibold"/>
                        </a:rPr>
                        <a:t>✓</a:t>
                      </a:r>
                    </a:p>
                  </a:txBody>
                  <a:tcPr marL="109728" marR="54864" marT="18288" marB="18288" anchor="ctr">
                    <a:solidFill>
                      <a:srgbClr val="FFFFFF"/>
                    </a:solidFill>
                  </a:tcPr>
                </a:tc>
                <a:tc>
                  <a:txBody>
                    <a:bodyPr wrap="square"/>
                    <a:lstStyle/>
                    <a:p>
                      <a:pPr algn="ctr"/>
                      <a:r>
                        <a:rPr sz="1500" b="1">
                          <a:solidFill>
                            <a:srgbClr val="C0473B"/>
                          </a:solidFill>
                          <a:latin typeface="Segoe UI Semibold"/>
                        </a:rPr>
                        <a:t>✗</a:t>
                      </a:r>
                    </a:p>
                  </a:txBody>
                  <a:tcPr marL="109728" marR="54864" marT="18288" marB="18288" anchor="ctr">
                    <a:solidFill>
                      <a:srgbClr val="FFFFFF"/>
                    </a:solidFill>
                  </a:tcPr>
                </a:tc>
                <a:tc>
                  <a:txBody>
                    <a:bodyPr wrap="square"/>
                    <a:lstStyle/>
                    <a:p>
                      <a:pPr algn="ctr"/>
                      <a:r>
                        <a:rPr sz="1500" b="1">
                          <a:solidFill>
                            <a:srgbClr val="F2A03D"/>
                          </a:solidFill>
                          <a:latin typeface="Segoe UI Semibold"/>
                        </a:rPr>
                        <a:t>~</a:t>
                      </a:r>
                    </a:p>
                  </a:txBody>
                  <a:tcPr marL="109728" marR="54864" marT="18288" marB="18288" anchor="ctr">
                    <a:solidFill>
                      <a:srgbClr val="FFFFFF"/>
                    </a:solidFill>
                  </a:tcPr>
                </a:tc>
              </a:tr>
              <a:tr h="489857">
                <a:tc>
                  <a:txBody>
                    <a:bodyPr wrap="square"/>
                    <a:lstStyle/>
                    <a:p>
                      <a:pPr algn="l"/>
                      <a:r>
                        <a:rPr sz="1250" b="1">
                          <a:solidFill>
                            <a:srgbClr val="12281C"/>
                          </a:solidFill>
                          <a:latin typeface="Calibri"/>
                        </a:rPr>
                        <a:t>One-time low-cost asset</a:t>
                      </a:r>
                    </a:p>
                  </a:txBody>
                  <a:tcPr marL="109728" marR="54864" marT="18288" marB="18288" anchor="ctr">
                    <a:solidFill>
                      <a:srgbClr val="EEF4EC"/>
                    </a:solidFill>
                  </a:tcPr>
                </a:tc>
                <a:tc>
                  <a:txBody>
                    <a:bodyPr wrap="square"/>
                    <a:lstStyle/>
                    <a:p>
                      <a:pPr algn="ctr"/>
                      <a:r>
                        <a:rPr sz="1500" b="1">
                          <a:solidFill>
                            <a:srgbClr val="1F9254"/>
                          </a:solidFill>
                          <a:latin typeface="Segoe UI Semibold"/>
                        </a:rPr>
                        <a:t>✓</a:t>
                      </a:r>
                    </a:p>
                  </a:txBody>
                  <a:tcPr marL="109728" marR="54864" marT="18288" marB="18288" anchor="ctr">
                    <a:solidFill>
                      <a:srgbClr val="E7F3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C0473B"/>
                          </a:solidFill>
                          <a:latin typeface="Segoe UI Semibold"/>
                        </a:rPr>
                        <a:t>✗</a:t>
                      </a:r>
                    </a:p>
                  </a:txBody>
                  <a:tcPr marL="109728" marR="54864" marT="18288" marB="18288" anchor="ctr">
                    <a:solidFill>
                      <a:srgbClr val="EEF4EC"/>
                    </a:solidFill>
                  </a:tcPr>
                </a:tc>
                <a:tc>
                  <a:txBody>
                    <a:bodyPr wrap="square"/>
                    <a:lstStyle/>
                    <a:p>
                      <a:pPr algn="ctr"/>
                      <a:r>
                        <a:rPr sz="1500" b="1">
                          <a:solidFill>
                            <a:srgbClr val="F2A03D"/>
                          </a:solidFill>
                          <a:latin typeface="Segoe UI Semibold"/>
                        </a:rPr>
                        <a:t>~</a:t>
                      </a:r>
                    </a:p>
                  </a:txBody>
                  <a:tcPr marL="109728" marR="54864" marT="18288" marB="18288" anchor="ctr">
                    <a:solidFill>
                      <a:srgbClr val="EEF4EC"/>
                    </a:solidFill>
                  </a:tcPr>
                </a:tc>
              </a:tr>
            </a:tbl>
          </a:graphicData>
        </a:graphic>
      </p:graphicFrame>
      <p:sp>
        <p:nvSpPr>
          <p:cNvPr id="13" name="Rounded Rectangle 12"/>
          <p:cNvSpPr/>
          <p:nvPr/>
        </p:nvSpPr>
        <p:spPr>
          <a:xfrm>
            <a:off x="841248" y="5303520"/>
            <a:ext cx="10509199" cy="548640"/>
          </a:xfrm>
          <a:prstGeom prst="roundRect">
            <a:avLst>
              <a:gd name="adj" fmla="val 40000"/>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5303520"/>
            <a:ext cx="9960559" cy="548640"/>
          </a:xfrm>
          <a:prstGeom prst="rect">
            <a:avLst/>
          </a:prstGeom>
          <a:noFill/>
        </p:spPr>
        <p:txBody>
          <a:bodyPr wrap="square" anchor="ctr" lIns="0" rIns="0" tIns="0" bIns="0">
            <a:spAutoFit/>
          </a:bodyPr>
          <a:lstStyle/>
          <a:p>
            <a:pPr algn="ctr"/>
            <a:r>
              <a:rPr sz="1300" b="1">
                <a:solidFill>
                  <a:srgbClr val="1F9254"/>
                </a:solidFill>
                <a:latin typeface="Segoe UI Semibold"/>
              </a:rPr>
              <a:t>Our edge:  </a:t>
            </a:r>
            <a:r>
              <a:rPr sz="1200" b="0">
                <a:solidFill>
                  <a:srgbClr val="12281C"/>
                </a:solidFill>
                <a:latin typeface="Calibri"/>
              </a:rPr>
              <a:t>affordable + autonomous + per-plant, in one asset that also senses soil.   </a:t>
            </a:r>
            <a:r>
              <a:rPr sz="1050" b="0">
                <a:solidFill>
                  <a:srgbClr val="5B6B62"/>
                </a:solidFill>
                <a:latin typeface="Calibri"/>
              </a:rPr>
              <a:t>*manual labour is cheap per use but recurring.</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HOW IT WORKS</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Two brains, one mission</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5</a:t>
            </a:r>
          </a:p>
        </p:txBody>
      </p:sp>
      <p:sp>
        <p:nvSpPr>
          <p:cNvPr id="12" name="TextBox 11"/>
          <p:cNvSpPr txBox="1"/>
          <p:nvPr/>
        </p:nvSpPr>
        <p:spPr>
          <a:xfrm>
            <a:off x="841248" y="1645920"/>
            <a:ext cx="10509199" cy="502920"/>
          </a:xfrm>
          <a:prstGeom prst="rect">
            <a:avLst/>
          </a:prstGeom>
          <a:noFill/>
        </p:spPr>
        <p:txBody>
          <a:bodyPr wrap="square" anchor="t" lIns="0" rIns="0" tIns="0" bIns="0">
            <a:spAutoFit/>
          </a:bodyPr>
          <a:lstStyle/>
          <a:p>
            <a:pPr algn="l">
              <a:lnSpc>
                <a:spcPct val="110000"/>
              </a:lnSpc>
              <a:spcBef>
                <a:spcPts val="0"/>
              </a:spcBef>
              <a:spcAft>
                <a:spcPts val="600"/>
              </a:spcAft>
            </a:pPr>
            <a:r>
              <a:rPr sz="1350" b="0" i="0">
                <a:solidFill>
                  <a:srgbClr val="5B6B62"/>
                </a:solidFill>
                <a:latin typeface="Calibri"/>
              </a:rPr>
              <a:t>A real-time ESP32 (FreeRTOS) runs drive, sensing &amp; dosing; a Raspberry Pi 4 runs AI vision &amp; analytics — over an HMAC-signed link.</a:t>
            </a:r>
          </a:p>
        </p:txBody>
      </p:sp>
      <p:sp>
        <p:nvSpPr>
          <p:cNvPr id="13" name="Rectangle 12"/>
          <p:cNvSpPr/>
          <p:nvPr/>
        </p:nvSpPr>
        <p:spPr>
          <a:xfrm>
            <a:off x="2767613" y="2185416"/>
            <a:ext cx="6656468" cy="3776472"/>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chitecture.png"/>
          <p:cNvPicPr>
            <a:picLocks noChangeAspect="1"/>
          </p:cNvPicPr>
          <p:nvPr/>
        </p:nvPicPr>
        <p:blipFill>
          <a:blip r:embed="rId2"/>
          <a:stretch>
            <a:fillRect/>
          </a:stretch>
        </p:blipFill>
        <p:spPr>
          <a:xfrm>
            <a:off x="2822477" y="2240280"/>
            <a:ext cx="6546740" cy="3666744"/>
          </a:xfrm>
          <a:prstGeom prst="rect">
            <a:avLst/>
          </a:prstGeom>
        </p:spPr>
      </p:pic>
      <p:sp>
        <p:nvSpPr>
          <p:cNvPr id="15" name="TextBox 14"/>
          <p:cNvSpPr txBox="1"/>
          <p:nvPr/>
        </p:nvSpPr>
        <p:spPr>
          <a:xfrm>
            <a:off x="841248" y="5925312"/>
            <a:ext cx="10509199" cy="310896"/>
          </a:xfrm>
          <a:prstGeom prst="rect">
            <a:avLst/>
          </a:prstGeom>
          <a:noFill/>
        </p:spPr>
        <p:txBody>
          <a:bodyPr wrap="square" anchor="t" lIns="0" rIns="0" tIns="0" bIns="0">
            <a:spAutoFit/>
          </a:bodyPr>
          <a:lstStyle/>
          <a:p>
            <a:pPr algn="ctr">
              <a:lnSpc>
                <a:spcPct val="108000"/>
              </a:lnSpc>
              <a:spcBef>
                <a:spcPts val="0"/>
              </a:spcBef>
              <a:spcAft>
                <a:spcPts val="0"/>
              </a:spcAft>
            </a:pPr>
            <a:r>
              <a:rPr sz="1050" b="0" i="1">
                <a:solidFill>
                  <a:srgbClr val="5B6B62"/>
                </a:solidFill>
                <a:latin typeface="Calibri"/>
              </a:rPr>
              <a:t>Dual-controller architecture — real-time control + on-board AI.</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SENSE &amp; SEE</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Know the soil, see the crop</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6</a:t>
            </a:r>
          </a:p>
        </p:txBody>
      </p:sp>
      <p:sp>
        <p:nvSpPr>
          <p:cNvPr id="12" name="TextBox 11"/>
          <p:cNvSpPr txBox="1"/>
          <p:nvPr/>
        </p:nvSpPr>
        <p:spPr>
          <a:xfrm>
            <a:off x="841248" y="1709928"/>
            <a:ext cx="5852160" cy="3108960"/>
          </a:xfrm>
          <a:prstGeom prst="rect">
            <a:avLst/>
          </a:prstGeom>
          <a:noFill/>
        </p:spPr>
        <p:txBody>
          <a:bodyPr wrap="square" anchor="t" lIns="0" rIns="0" tIns="0" bIns="0">
            <a:spAutoFit/>
          </a:bodyPr>
          <a:lstStyle/>
          <a:p>
            <a:pPr>
              <a:lnSpc>
                <a:spcPct val="106000"/>
              </a:lnSpc>
              <a:spcAft>
                <a:spcPts val="900"/>
              </a:spcAft>
            </a:pPr>
            <a:r>
              <a:rPr sz="1400" b="1">
                <a:solidFill>
                  <a:srgbClr val="1F9254"/>
                </a:solidFill>
                <a:latin typeface="Segoe UI Semibold"/>
              </a:rPr>
              <a:t>▸  </a:t>
            </a:r>
            <a:r>
              <a:rPr sz="1400" b="1">
                <a:solidFill>
                  <a:srgbClr val="12281C"/>
                </a:solidFill>
                <a:latin typeface="Calibri"/>
              </a:rPr>
              <a:t>7-in-1 soil probe</a:t>
            </a:r>
            <a:r>
              <a:rPr sz="1250" b="0">
                <a:solidFill>
                  <a:srgbClr val="5B6B62"/>
                </a:solidFill>
                <a:latin typeface="Calibri"/>
              </a:rPr>
              <a:t>  —  N·P·K·pH·EC·moisture·temp over RS485 Modbus</a:t>
            </a:r>
          </a:p>
          <a:p>
            <a:pPr>
              <a:lnSpc>
                <a:spcPct val="106000"/>
              </a:lnSpc>
              <a:spcAft>
                <a:spcPts val="900"/>
              </a:spcAft>
            </a:pPr>
            <a:r>
              <a:rPr sz="1400" b="1">
                <a:solidFill>
                  <a:srgbClr val="1F9254"/>
                </a:solidFill>
                <a:latin typeface="Segoe UI Semibold"/>
              </a:rPr>
              <a:t>▸  </a:t>
            </a:r>
            <a:r>
              <a:rPr sz="1400" b="1">
                <a:solidFill>
                  <a:srgbClr val="12281C"/>
                </a:solidFill>
                <a:latin typeface="Calibri"/>
              </a:rPr>
              <a:t>Calibrated &amp; robust</a:t>
            </a:r>
            <a:r>
              <a:rPr sz="1250" b="0">
                <a:solidFill>
                  <a:srgbClr val="5B6B62"/>
                </a:solidFill>
                <a:latin typeface="Calibri"/>
              </a:rPr>
              <a:t>  —  oversampled ADC, multi-point moisture, temp-comp TDS</a:t>
            </a:r>
          </a:p>
          <a:p>
            <a:pPr>
              <a:lnSpc>
                <a:spcPct val="106000"/>
              </a:lnSpc>
              <a:spcAft>
                <a:spcPts val="900"/>
              </a:spcAft>
            </a:pPr>
            <a:r>
              <a:rPr sz="1400" b="1">
                <a:solidFill>
                  <a:srgbClr val="1F9254"/>
                </a:solidFill>
                <a:latin typeface="Segoe UI Semibold"/>
              </a:rPr>
              <a:t>▸  </a:t>
            </a:r>
            <a:r>
              <a:rPr sz="1400" b="1">
                <a:solidFill>
                  <a:srgbClr val="12281C"/>
                </a:solidFill>
                <a:latin typeface="Calibri"/>
              </a:rPr>
              <a:t>Three AI models</a:t>
            </a:r>
            <a:r>
              <a:rPr sz="1250" b="0">
                <a:solidFill>
                  <a:srgbClr val="5B6B62"/>
                </a:solidFill>
                <a:latin typeface="Calibri"/>
              </a:rPr>
              <a:t>  —  obstacle · weed (DeepWeeds) · disease (PlantVillage)</a:t>
            </a:r>
          </a:p>
          <a:p>
            <a:pPr>
              <a:lnSpc>
                <a:spcPct val="106000"/>
              </a:lnSpc>
              <a:spcAft>
                <a:spcPts val="900"/>
              </a:spcAft>
            </a:pPr>
            <a:r>
              <a:rPr sz="1400" b="1">
                <a:solidFill>
                  <a:srgbClr val="1F9254"/>
                </a:solidFill>
                <a:latin typeface="Segoe UI Semibold"/>
              </a:rPr>
              <a:t>▸  </a:t>
            </a:r>
            <a:r>
              <a:rPr sz="1400" b="1">
                <a:solidFill>
                  <a:srgbClr val="12281C"/>
                </a:solidFill>
                <a:latin typeface="Calibri"/>
              </a:rPr>
              <a:t>Runs on Coral Edge TPU</a:t>
            </a:r>
            <a:r>
              <a:rPr sz="1250" b="0">
                <a:solidFill>
                  <a:srgbClr val="5B6B62"/>
                </a:solidFill>
                <a:latin typeface="Calibri"/>
              </a:rPr>
              <a:t>  —  ~10× faster than CPU; fails safe if a model is absent</a:t>
            </a:r>
          </a:p>
        </p:txBody>
      </p:sp>
      <p:sp>
        <p:nvSpPr>
          <p:cNvPr id="13" name="Rectangle 12"/>
          <p:cNvSpPr/>
          <p:nvPr/>
        </p:nvSpPr>
        <p:spPr>
          <a:xfrm>
            <a:off x="6912864" y="2239409"/>
            <a:ext cx="4492447" cy="2141436"/>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i_performance.png"/>
          <p:cNvPicPr>
            <a:picLocks noChangeAspect="1"/>
          </p:cNvPicPr>
          <p:nvPr/>
        </p:nvPicPr>
        <p:blipFill>
          <a:blip r:embed="rId2"/>
          <a:stretch>
            <a:fillRect/>
          </a:stretch>
        </p:blipFill>
        <p:spPr>
          <a:xfrm>
            <a:off x="6967728" y="2294273"/>
            <a:ext cx="4382719" cy="2031708"/>
          </a:xfrm>
          <a:prstGeom prst="rect">
            <a:avLst/>
          </a:prstGeom>
        </p:spPr>
      </p:pic>
      <p:sp>
        <p:nvSpPr>
          <p:cNvPr id="15" name="Rounded Rectangle 14"/>
          <p:cNvSpPr/>
          <p:nvPr/>
        </p:nvSpPr>
        <p:spPr>
          <a:xfrm>
            <a:off x="841248" y="5029200"/>
            <a:ext cx="2421559" cy="1097280"/>
          </a:xfrm>
          <a:prstGeom prst="roundRect">
            <a:avLst>
              <a:gd name="adj" fmla="val 8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5029200"/>
            <a:ext cx="2421559" cy="109728"/>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5285232"/>
            <a:ext cx="2147239" cy="548640"/>
          </a:xfrm>
          <a:prstGeom prst="rect">
            <a:avLst/>
          </a:prstGeom>
          <a:noFill/>
        </p:spPr>
        <p:txBody>
          <a:bodyPr wrap="square" anchor="ctr" lIns="0" rIns="0" tIns="0" bIns="0">
            <a:spAutoFit/>
          </a:bodyPr>
          <a:lstStyle/>
          <a:p>
            <a:pPr algn="ctr">
              <a:lnSpc>
                <a:spcPct val="108000"/>
              </a:lnSpc>
              <a:spcBef>
                <a:spcPts val="0"/>
              </a:spcBef>
              <a:spcAft>
                <a:spcPts val="0"/>
              </a:spcAft>
            </a:pPr>
            <a:r>
              <a:rPr sz="3000" b="1" i="0">
                <a:solidFill>
                  <a:srgbClr val="1F9254"/>
                </a:solidFill>
                <a:latin typeface="Segoe UI Semibold"/>
              </a:rPr>
              <a:t>7-in-1</a:t>
            </a:r>
          </a:p>
        </p:txBody>
      </p:sp>
      <p:sp>
        <p:nvSpPr>
          <p:cNvPr id="18" name="TextBox 17"/>
          <p:cNvSpPr txBox="1"/>
          <p:nvPr/>
        </p:nvSpPr>
        <p:spPr>
          <a:xfrm>
            <a:off x="978408" y="5665622"/>
            <a:ext cx="2147239" cy="438912"/>
          </a:xfrm>
          <a:prstGeom prst="rect">
            <a:avLst/>
          </a:prstGeom>
          <a:noFill/>
        </p:spPr>
        <p:txBody>
          <a:bodyPr wrap="square" anchor="t" lIns="0" rIns="0" tIns="0" bIns="0">
            <a:spAutoFit/>
          </a:bodyPr>
          <a:lstStyle/>
          <a:p>
            <a:pPr algn="ctr">
              <a:lnSpc>
                <a:spcPct val="102000"/>
              </a:lnSpc>
              <a:spcBef>
                <a:spcPts val="0"/>
              </a:spcBef>
              <a:spcAft>
                <a:spcPts val="0"/>
              </a:spcAft>
            </a:pPr>
            <a:r>
              <a:rPr sz="1150" b="0" i="0">
                <a:solidFill>
                  <a:srgbClr val="5B6B62"/>
                </a:solidFill>
                <a:latin typeface="Calibri"/>
              </a:rPr>
              <a:t>soil probe</a:t>
            </a:r>
          </a:p>
        </p:txBody>
      </p:sp>
      <p:sp>
        <p:nvSpPr>
          <p:cNvPr id="19" name="Rounded Rectangle 18"/>
          <p:cNvSpPr/>
          <p:nvPr/>
        </p:nvSpPr>
        <p:spPr>
          <a:xfrm>
            <a:off x="3537127" y="5029200"/>
            <a:ext cx="2421559" cy="1097280"/>
          </a:xfrm>
          <a:prstGeom prst="roundRect">
            <a:avLst>
              <a:gd name="adj" fmla="val 8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537127" y="5029200"/>
            <a:ext cx="2421559" cy="109728"/>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4287" y="5285232"/>
            <a:ext cx="2147239" cy="548640"/>
          </a:xfrm>
          <a:prstGeom prst="rect">
            <a:avLst/>
          </a:prstGeom>
          <a:noFill/>
        </p:spPr>
        <p:txBody>
          <a:bodyPr wrap="square" anchor="ctr" lIns="0" rIns="0" tIns="0" bIns="0">
            <a:spAutoFit/>
          </a:bodyPr>
          <a:lstStyle/>
          <a:p>
            <a:pPr algn="ctr">
              <a:lnSpc>
                <a:spcPct val="108000"/>
              </a:lnSpc>
              <a:spcBef>
                <a:spcPts val="0"/>
              </a:spcBef>
              <a:spcAft>
                <a:spcPts val="0"/>
              </a:spcAft>
            </a:pPr>
            <a:r>
              <a:rPr sz="3000" b="1" i="0">
                <a:solidFill>
                  <a:srgbClr val="2B9BD6"/>
                </a:solidFill>
                <a:latin typeface="Segoe UI Semibold"/>
              </a:rPr>
              <a:t>38</a:t>
            </a:r>
          </a:p>
        </p:txBody>
      </p:sp>
      <p:sp>
        <p:nvSpPr>
          <p:cNvPr id="22" name="TextBox 21"/>
          <p:cNvSpPr txBox="1"/>
          <p:nvPr/>
        </p:nvSpPr>
        <p:spPr>
          <a:xfrm>
            <a:off x="3674287" y="5665622"/>
            <a:ext cx="2147239" cy="438912"/>
          </a:xfrm>
          <a:prstGeom prst="rect">
            <a:avLst/>
          </a:prstGeom>
          <a:noFill/>
        </p:spPr>
        <p:txBody>
          <a:bodyPr wrap="square" anchor="t" lIns="0" rIns="0" tIns="0" bIns="0">
            <a:spAutoFit/>
          </a:bodyPr>
          <a:lstStyle/>
          <a:p>
            <a:pPr algn="ctr">
              <a:lnSpc>
                <a:spcPct val="102000"/>
              </a:lnSpc>
              <a:spcBef>
                <a:spcPts val="0"/>
              </a:spcBef>
              <a:spcAft>
                <a:spcPts val="0"/>
              </a:spcAft>
            </a:pPr>
            <a:r>
              <a:rPr sz="1150" b="0" i="0">
                <a:solidFill>
                  <a:srgbClr val="5B6B62"/>
                </a:solidFill>
                <a:latin typeface="Calibri"/>
              </a:rPr>
              <a:t>disease classes</a:t>
            </a:r>
          </a:p>
        </p:txBody>
      </p:sp>
      <p:sp>
        <p:nvSpPr>
          <p:cNvPr id="23" name="Rounded Rectangle 22"/>
          <p:cNvSpPr/>
          <p:nvPr/>
        </p:nvSpPr>
        <p:spPr>
          <a:xfrm>
            <a:off x="6233007" y="5029200"/>
            <a:ext cx="2421559" cy="1097280"/>
          </a:xfrm>
          <a:prstGeom prst="roundRect">
            <a:avLst>
              <a:gd name="adj" fmla="val 8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3007" y="5029200"/>
            <a:ext cx="2421559" cy="109728"/>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0167" y="5285232"/>
            <a:ext cx="2147239" cy="548640"/>
          </a:xfrm>
          <a:prstGeom prst="rect">
            <a:avLst/>
          </a:prstGeom>
          <a:noFill/>
        </p:spPr>
        <p:txBody>
          <a:bodyPr wrap="square" anchor="ctr" lIns="0" rIns="0" tIns="0" bIns="0">
            <a:spAutoFit/>
          </a:bodyPr>
          <a:lstStyle/>
          <a:p>
            <a:pPr algn="ctr">
              <a:lnSpc>
                <a:spcPct val="108000"/>
              </a:lnSpc>
              <a:spcBef>
                <a:spcPts val="0"/>
              </a:spcBef>
              <a:spcAft>
                <a:spcPts val="0"/>
              </a:spcAft>
            </a:pPr>
            <a:r>
              <a:rPr sz="3000" b="1" i="0">
                <a:solidFill>
                  <a:srgbClr val="F2A03D"/>
                </a:solidFill>
                <a:latin typeface="Segoe UI Semibold"/>
              </a:rPr>
              <a:t>~30</a:t>
            </a:r>
          </a:p>
        </p:txBody>
      </p:sp>
      <p:sp>
        <p:nvSpPr>
          <p:cNvPr id="26" name="TextBox 25"/>
          <p:cNvSpPr txBox="1"/>
          <p:nvPr/>
        </p:nvSpPr>
        <p:spPr>
          <a:xfrm>
            <a:off x="6370167" y="5665622"/>
            <a:ext cx="2147239" cy="438912"/>
          </a:xfrm>
          <a:prstGeom prst="rect">
            <a:avLst/>
          </a:prstGeom>
          <a:noFill/>
        </p:spPr>
        <p:txBody>
          <a:bodyPr wrap="square" anchor="t" lIns="0" rIns="0" tIns="0" bIns="0">
            <a:spAutoFit/>
          </a:bodyPr>
          <a:lstStyle/>
          <a:p>
            <a:pPr algn="ctr">
              <a:lnSpc>
                <a:spcPct val="102000"/>
              </a:lnSpc>
              <a:spcBef>
                <a:spcPts val="0"/>
              </a:spcBef>
              <a:spcAft>
                <a:spcPts val="0"/>
              </a:spcAft>
            </a:pPr>
            <a:r>
              <a:rPr sz="1150" b="0" i="0">
                <a:solidFill>
                  <a:srgbClr val="5B6B62"/>
                </a:solidFill>
                <a:latin typeface="Calibri"/>
              </a:rPr>
              <a:t>FPS on Coral</a:t>
            </a:r>
          </a:p>
        </p:txBody>
      </p:sp>
      <p:sp>
        <p:nvSpPr>
          <p:cNvPr id="27" name="Rounded Rectangle 26"/>
          <p:cNvSpPr/>
          <p:nvPr/>
        </p:nvSpPr>
        <p:spPr>
          <a:xfrm>
            <a:off x="8928887" y="5029200"/>
            <a:ext cx="2421559" cy="1097280"/>
          </a:xfrm>
          <a:prstGeom prst="roundRect">
            <a:avLst>
              <a:gd name="adj" fmla="val 8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28887" y="5029200"/>
            <a:ext cx="2421559" cy="109728"/>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66047" y="5285232"/>
            <a:ext cx="2147239" cy="548640"/>
          </a:xfrm>
          <a:prstGeom prst="rect">
            <a:avLst/>
          </a:prstGeom>
          <a:noFill/>
        </p:spPr>
        <p:txBody>
          <a:bodyPr wrap="square" anchor="ctr" lIns="0" rIns="0" tIns="0" bIns="0">
            <a:spAutoFit/>
          </a:bodyPr>
          <a:lstStyle/>
          <a:p>
            <a:pPr algn="ctr">
              <a:lnSpc>
                <a:spcPct val="108000"/>
              </a:lnSpc>
              <a:spcBef>
                <a:spcPts val="0"/>
              </a:spcBef>
              <a:spcAft>
                <a:spcPts val="0"/>
              </a:spcAft>
            </a:pPr>
            <a:r>
              <a:rPr sz="3000" b="1" i="0">
                <a:solidFill>
                  <a:srgbClr val="6A4C93"/>
                </a:solidFill>
                <a:latin typeface="Segoe UI Semibold"/>
              </a:rPr>
              <a:t>~10–20cm</a:t>
            </a:r>
          </a:p>
        </p:txBody>
      </p:sp>
      <p:sp>
        <p:nvSpPr>
          <p:cNvPr id="30" name="TextBox 29"/>
          <p:cNvSpPr txBox="1"/>
          <p:nvPr/>
        </p:nvSpPr>
        <p:spPr>
          <a:xfrm>
            <a:off x="9066047" y="5665622"/>
            <a:ext cx="2147239" cy="438912"/>
          </a:xfrm>
          <a:prstGeom prst="rect">
            <a:avLst/>
          </a:prstGeom>
          <a:noFill/>
        </p:spPr>
        <p:txBody>
          <a:bodyPr wrap="square" anchor="t" lIns="0" rIns="0" tIns="0" bIns="0">
            <a:spAutoFit/>
          </a:bodyPr>
          <a:lstStyle/>
          <a:p>
            <a:pPr algn="ctr">
              <a:lnSpc>
                <a:spcPct val="102000"/>
              </a:lnSpc>
              <a:spcBef>
                <a:spcPts val="0"/>
              </a:spcBef>
              <a:spcAft>
                <a:spcPts val="0"/>
              </a:spcAft>
            </a:pPr>
            <a:r>
              <a:rPr sz="1150" b="0" i="0">
                <a:solidFill>
                  <a:srgbClr val="5B6B62"/>
                </a:solidFill>
                <a:latin typeface="Calibri"/>
              </a:rPr>
              <a:t>plant geo-tag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F2A03D"/>
                </a:solidFill>
                <a:latin typeface="Segoe UI Semibold"/>
              </a:rPr>
              <a:t>ACT &amp; AUTONOMY</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Treat the plant, drive the field</a:t>
            </a:r>
          </a:p>
        </p:txBody>
      </p:sp>
      <p:sp>
        <p:nvSpPr>
          <p:cNvPr id="6" name="Rectangle 5"/>
          <p:cNvSpPr/>
          <p:nvPr/>
        </p:nvSpPr>
        <p:spPr>
          <a:xfrm>
            <a:off x="841248" y="1371600"/>
            <a:ext cx="1371600" cy="50292"/>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7</a:t>
            </a:r>
          </a:p>
        </p:txBody>
      </p:sp>
      <p:sp>
        <p:nvSpPr>
          <p:cNvPr id="12" name="TextBox 11"/>
          <p:cNvSpPr txBox="1"/>
          <p:nvPr/>
        </p:nvSpPr>
        <p:spPr>
          <a:xfrm>
            <a:off x="841248" y="1709928"/>
            <a:ext cx="6126480" cy="3931920"/>
          </a:xfrm>
          <a:prstGeom prst="rect">
            <a:avLst/>
          </a:prstGeom>
          <a:noFill/>
        </p:spPr>
        <p:txBody>
          <a:bodyPr wrap="square" anchor="t" lIns="0" rIns="0" tIns="0" bIns="0">
            <a:spAutoFit/>
          </a:bodyPr>
          <a:lstStyle/>
          <a:p>
            <a:pPr>
              <a:lnSpc>
                <a:spcPct val="106000"/>
              </a:lnSpc>
              <a:spcAft>
                <a:spcPts val="900"/>
              </a:spcAft>
            </a:pPr>
            <a:r>
              <a:rPr sz="1400" b="1">
                <a:solidFill>
                  <a:srgbClr val="F2A03D"/>
                </a:solidFill>
                <a:latin typeface="Segoe UI Semibold"/>
              </a:rPr>
              <a:t>▸  </a:t>
            </a:r>
            <a:r>
              <a:rPr sz="1400" b="1">
                <a:solidFill>
                  <a:srgbClr val="12281C"/>
                </a:solidFill>
                <a:latin typeface="Calibri"/>
              </a:rPr>
              <a:t>Sequential micro-dosing</a:t>
            </a:r>
            <a:r>
              <a:rPr sz="1250" b="0">
                <a:solidFill>
                  <a:srgbClr val="5B6B62"/>
                </a:solidFill>
                <a:latin typeface="Calibri"/>
              </a:rPr>
              <a:t>  —  pre-soak → probe → dose → retract; drive frozen while dosing</a:t>
            </a:r>
          </a:p>
          <a:p>
            <a:pPr>
              <a:lnSpc>
                <a:spcPct val="106000"/>
              </a:lnSpc>
              <a:spcAft>
                <a:spcPts val="900"/>
              </a:spcAft>
            </a:pPr>
            <a:r>
              <a:rPr sz="1400" b="1">
                <a:solidFill>
                  <a:srgbClr val="F2A03D"/>
                </a:solidFill>
                <a:latin typeface="Segoe UI Semibold"/>
              </a:rPr>
              <a:t>▸  </a:t>
            </a:r>
            <a:r>
              <a:rPr sz="1400" b="1">
                <a:solidFill>
                  <a:srgbClr val="12281C"/>
                </a:solidFill>
                <a:latin typeface="Calibri"/>
              </a:rPr>
              <a:t>Vision-aimed spot-spray</a:t>
            </a:r>
            <a:r>
              <a:rPr sz="1250" b="0">
                <a:solidFill>
                  <a:srgbClr val="5B6B62"/>
                </a:solidFill>
                <a:latin typeface="Calibri"/>
              </a:rPr>
              <a:t>  —  pan/tilt nozzle targets each detected weed (FC-01)</a:t>
            </a:r>
          </a:p>
          <a:p>
            <a:pPr>
              <a:lnSpc>
                <a:spcPct val="106000"/>
              </a:lnSpc>
              <a:spcAft>
                <a:spcPts val="900"/>
              </a:spcAft>
            </a:pPr>
            <a:r>
              <a:rPr sz="1400" b="1">
                <a:solidFill>
                  <a:srgbClr val="F2A03D"/>
                </a:solidFill>
                <a:latin typeface="Segoe UI Semibold"/>
              </a:rPr>
              <a:t>▸  </a:t>
            </a:r>
            <a:r>
              <a:rPr sz="1400" b="1">
                <a:solidFill>
                  <a:srgbClr val="12281C"/>
                </a:solidFill>
                <a:latin typeface="Calibri"/>
              </a:rPr>
              <a:t>Autonomous snake-route</a:t>
            </a:r>
            <a:r>
              <a:rPr sz="1250" b="0">
                <a:solidFill>
                  <a:srgbClr val="5B6B62"/>
                </a:solidFill>
                <a:latin typeface="Calibri"/>
              </a:rPr>
              <a:t>  —  GPS + SBAS + EKF fusion → sub-meter coverage</a:t>
            </a:r>
          </a:p>
          <a:p>
            <a:pPr>
              <a:lnSpc>
                <a:spcPct val="106000"/>
              </a:lnSpc>
              <a:spcAft>
                <a:spcPts val="900"/>
              </a:spcAft>
            </a:pPr>
            <a:r>
              <a:rPr sz="1400" b="1">
                <a:solidFill>
                  <a:srgbClr val="F2A03D"/>
                </a:solidFill>
                <a:latin typeface="Segoe UI Semibold"/>
              </a:rPr>
              <a:t>▸  </a:t>
            </a:r>
            <a:r>
              <a:rPr sz="1400" b="1">
                <a:solidFill>
                  <a:srgbClr val="12281C"/>
                </a:solidFill>
                <a:latin typeface="Calibri"/>
              </a:rPr>
              <a:t>Closed-loop velocity PID</a:t>
            </a:r>
            <a:r>
              <a:rPr sz="1250" b="0">
                <a:solidFill>
                  <a:srgbClr val="5B6B62"/>
                </a:solidFill>
                <a:latin typeface="Calibri"/>
              </a:rPr>
              <a:t>  —  encoder feedback → straight rows, repeatable spacing</a:t>
            </a:r>
          </a:p>
          <a:p>
            <a:pPr>
              <a:lnSpc>
                <a:spcPct val="106000"/>
              </a:lnSpc>
              <a:spcAft>
                <a:spcPts val="900"/>
              </a:spcAft>
            </a:pPr>
            <a:r>
              <a:rPr sz="1400" b="1">
                <a:solidFill>
                  <a:srgbClr val="F2A03D"/>
                </a:solidFill>
                <a:latin typeface="Segoe UI Semibold"/>
              </a:rPr>
              <a:t>▸  </a:t>
            </a:r>
            <a:r>
              <a:rPr sz="1400" b="1">
                <a:solidFill>
                  <a:srgbClr val="12281C"/>
                </a:solidFill>
                <a:latin typeface="Calibri"/>
              </a:rPr>
              <a:t>Fail-safe by design</a:t>
            </a:r>
            <a:r>
              <a:rPr sz="1250" b="0">
                <a:solidFill>
                  <a:srgbClr val="5B6B62"/>
                </a:solidFill>
                <a:latin typeface="Calibri"/>
              </a:rPr>
              <a:t>  —  E-stop, dead-man heartbeat, thermal guardian, stall stop</a:t>
            </a:r>
          </a:p>
        </p:txBody>
      </p:sp>
      <p:sp>
        <p:nvSpPr>
          <p:cNvPr id="13" name="Rectangle 12"/>
          <p:cNvSpPr/>
          <p:nvPr/>
        </p:nvSpPr>
        <p:spPr>
          <a:xfrm>
            <a:off x="7095744" y="2425681"/>
            <a:ext cx="4309567" cy="2683293"/>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avings.png"/>
          <p:cNvPicPr>
            <a:picLocks noChangeAspect="1"/>
          </p:cNvPicPr>
          <p:nvPr/>
        </p:nvPicPr>
        <p:blipFill>
          <a:blip r:embed="rId2"/>
          <a:stretch>
            <a:fillRect/>
          </a:stretch>
        </p:blipFill>
        <p:spPr>
          <a:xfrm>
            <a:off x="7150608" y="2480545"/>
            <a:ext cx="4199839" cy="2573565"/>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2B9BD6"/>
                </a:solidFill>
                <a:latin typeface="Segoe UI Semibold"/>
              </a:rPr>
              <a:t>MARKET OPPORTUNITY &amp; SCOPE</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A large, growing market</a:t>
            </a:r>
          </a:p>
        </p:txBody>
      </p:sp>
      <p:sp>
        <p:nvSpPr>
          <p:cNvPr id="6" name="Rectangle 5"/>
          <p:cNvSpPr/>
          <p:nvPr/>
        </p:nvSpPr>
        <p:spPr>
          <a:xfrm>
            <a:off x="841248" y="1371600"/>
            <a:ext cx="1371600" cy="5029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8</a:t>
            </a:r>
          </a:p>
        </p:txBody>
      </p:sp>
      <p:sp>
        <p:nvSpPr>
          <p:cNvPr id="12" name="Rounded Rectangle 11"/>
          <p:cNvSpPr/>
          <p:nvPr/>
        </p:nvSpPr>
        <p:spPr>
          <a:xfrm>
            <a:off x="841248" y="1709928"/>
            <a:ext cx="4846320" cy="1280160"/>
          </a:xfrm>
          <a:prstGeom prst="roundRect">
            <a:avLst>
              <a:gd name="adj" fmla="val 6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8" y="1709928"/>
            <a:ext cx="118872" cy="128016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2144" y="1837944"/>
            <a:ext cx="4389120" cy="502920"/>
          </a:xfrm>
          <a:prstGeom prst="rect">
            <a:avLst/>
          </a:prstGeom>
          <a:noFill/>
        </p:spPr>
        <p:txBody>
          <a:bodyPr wrap="square" anchor="t" lIns="0" rIns="0" tIns="0" bIns="0">
            <a:spAutoFit/>
          </a:bodyPr>
          <a:lstStyle/>
          <a:p>
            <a:pPr algn="l">
              <a:lnSpc>
                <a:spcPct val="108000"/>
              </a:lnSpc>
              <a:spcBef>
                <a:spcPts val="0"/>
              </a:spcBef>
              <a:spcAft>
                <a:spcPts val="0"/>
              </a:spcAft>
            </a:pPr>
            <a:r>
              <a:rPr sz="2500" b="1" i="0">
                <a:solidFill>
                  <a:srgbClr val="1F9254"/>
                </a:solidFill>
                <a:latin typeface="Segoe UI Semibold"/>
              </a:rPr>
              <a:t>$2.5 Bn</a:t>
            </a:r>
          </a:p>
        </p:txBody>
      </p:sp>
      <p:sp>
        <p:nvSpPr>
          <p:cNvPr id="15" name="TextBox 14"/>
          <p:cNvSpPr txBox="1"/>
          <p:nvPr/>
        </p:nvSpPr>
        <p:spPr>
          <a:xfrm>
            <a:off x="1152144" y="2368296"/>
            <a:ext cx="4343400" cy="530352"/>
          </a:xfrm>
          <a:prstGeom prst="rect">
            <a:avLst/>
          </a:prstGeom>
          <a:noFill/>
        </p:spPr>
        <p:txBody>
          <a:bodyPr wrap="square" anchor="t" lIns="0" rIns="0" tIns="0" bIns="0">
            <a:spAutoFit/>
          </a:bodyPr>
          <a:lstStyle/>
          <a:p>
            <a:pPr algn="l">
              <a:lnSpc>
                <a:spcPct val="112000"/>
              </a:lnSpc>
              <a:spcBef>
                <a:spcPts val="0"/>
              </a:spcBef>
              <a:spcAft>
                <a:spcPts val="0"/>
              </a:spcAft>
            </a:pPr>
            <a:r>
              <a:rPr sz="1150" b="0" i="0">
                <a:solidFill>
                  <a:srgbClr val="5B6B62"/>
                </a:solidFill>
                <a:latin typeface="Calibri"/>
              </a:rPr>
              <a:t>India agritech market by 2034 (from ~$0.97 Bn in 2025, ~10.6% CAGR).</a:t>
            </a:r>
          </a:p>
        </p:txBody>
      </p:sp>
      <p:sp>
        <p:nvSpPr>
          <p:cNvPr id="16" name="Rounded Rectangle 15"/>
          <p:cNvSpPr/>
          <p:nvPr/>
        </p:nvSpPr>
        <p:spPr>
          <a:xfrm>
            <a:off x="841248" y="3191256"/>
            <a:ext cx="4846320" cy="1280160"/>
          </a:xfrm>
          <a:prstGeom prst="roundRect">
            <a:avLst>
              <a:gd name="adj" fmla="val 6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3191256"/>
            <a:ext cx="118872" cy="128016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2144" y="3319272"/>
            <a:ext cx="4389120" cy="502920"/>
          </a:xfrm>
          <a:prstGeom prst="rect">
            <a:avLst/>
          </a:prstGeom>
          <a:noFill/>
        </p:spPr>
        <p:txBody>
          <a:bodyPr wrap="square" anchor="t" lIns="0" rIns="0" tIns="0" bIns="0">
            <a:spAutoFit/>
          </a:bodyPr>
          <a:lstStyle/>
          <a:p>
            <a:pPr algn="l">
              <a:lnSpc>
                <a:spcPct val="108000"/>
              </a:lnSpc>
              <a:spcBef>
                <a:spcPts val="0"/>
              </a:spcBef>
              <a:spcAft>
                <a:spcPts val="0"/>
              </a:spcAft>
            </a:pPr>
            <a:r>
              <a:rPr sz="2500" b="1" i="0">
                <a:solidFill>
                  <a:srgbClr val="2B9BD6"/>
                </a:solidFill>
                <a:latin typeface="Segoe UI Semibold"/>
              </a:rPr>
              <a:t>$739 Mn</a:t>
            </a:r>
          </a:p>
        </p:txBody>
      </p:sp>
      <p:sp>
        <p:nvSpPr>
          <p:cNvPr id="19" name="TextBox 18"/>
          <p:cNvSpPr txBox="1"/>
          <p:nvPr/>
        </p:nvSpPr>
        <p:spPr>
          <a:xfrm>
            <a:off x="1152144" y="3849624"/>
            <a:ext cx="4343400" cy="530352"/>
          </a:xfrm>
          <a:prstGeom prst="rect">
            <a:avLst/>
          </a:prstGeom>
          <a:noFill/>
        </p:spPr>
        <p:txBody>
          <a:bodyPr wrap="square" anchor="t" lIns="0" rIns="0" tIns="0" bIns="0">
            <a:spAutoFit/>
          </a:bodyPr>
          <a:lstStyle/>
          <a:p>
            <a:pPr algn="l">
              <a:lnSpc>
                <a:spcPct val="112000"/>
              </a:lnSpc>
              <a:spcBef>
                <a:spcPts val="0"/>
              </a:spcBef>
              <a:spcAft>
                <a:spcPts val="0"/>
              </a:spcAft>
            </a:pPr>
            <a:r>
              <a:rPr sz="1150" b="0" i="0">
                <a:solidFill>
                  <a:srgbClr val="5B6B62"/>
                </a:solidFill>
                <a:latin typeface="Calibri"/>
              </a:rPr>
              <a:t>India precision-agriculture market by 2034 (~9.2% CAGR).</a:t>
            </a:r>
          </a:p>
        </p:txBody>
      </p:sp>
      <p:sp>
        <p:nvSpPr>
          <p:cNvPr id="20" name="Rounded Rectangle 19"/>
          <p:cNvSpPr/>
          <p:nvPr/>
        </p:nvSpPr>
        <p:spPr>
          <a:xfrm>
            <a:off x="841248" y="4672583"/>
            <a:ext cx="4846320" cy="1280160"/>
          </a:xfrm>
          <a:prstGeom prst="roundRect">
            <a:avLst>
              <a:gd name="adj" fmla="val 6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1248" y="4672583"/>
            <a:ext cx="118872" cy="128016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2144" y="4800599"/>
            <a:ext cx="4389120" cy="502920"/>
          </a:xfrm>
          <a:prstGeom prst="rect">
            <a:avLst/>
          </a:prstGeom>
          <a:noFill/>
        </p:spPr>
        <p:txBody>
          <a:bodyPr wrap="square" anchor="t" lIns="0" rIns="0" tIns="0" bIns="0">
            <a:spAutoFit/>
          </a:bodyPr>
          <a:lstStyle/>
          <a:p>
            <a:pPr algn="l">
              <a:lnSpc>
                <a:spcPct val="108000"/>
              </a:lnSpc>
              <a:spcBef>
                <a:spcPts val="0"/>
              </a:spcBef>
              <a:spcAft>
                <a:spcPts val="0"/>
              </a:spcAft>
            </a:pPr>
            <a:r>
              <a:rPr sz="2500" b="1" i="0">
                <a:solidFill>
                  <a:srgbClr val="F2A03D"/>
                </a:solidFill>
                <a:latin typeface="Segoe UI Semibold"/>
              </a:rPr>
              <a:t>~146 M</a:t>
            </a:r>
          </a:p>
        </p:txBody>
      </p:sp>
      <p:sp>
        <p:nvSpPr>
          <p:cNvPr id="23" name="TextBox 22"/>
          <p:cNvSpPr txBox="1"/>
          <p:nvPr/>
        </p:nvSpPr>
        <p:spPr>
          <a:xfrm>
            <a:off x="1152144" y="5330951"/>
            <a:ext cx="4343400" cy="530352"/>
          </a:xfrm>
          <a:prstGeom prst="rect">
            <a:avLst/>
          </a:prstGeom>
          <a:noFill/>
        </p:spPr>
        <p:txBody>
          <a:bodyPr wrap="square" anchor="t" lIns="0" rIns="0" tIns="0" bIns="0">
            <a:spAutoFit/>
          </a:bodyPr>
          <a:lstStyle/>
          <a:p>
            <a:pPr algn="l">
              <a:lnSpc>
                <a:spcPct val="112000"/>
              </a:lnSpc>
              <a:spcBef>
                <a:spcPts val="0"/>
              </a:spcBef>
              <a:spcAft>
                <a:spcPts val="0"/>
              </a:spcAft>
            </a:pPr>
            <a:r>
              <a:rPr sz="1150" b="0" i="0">
                <a:solidFill>
                  <a:srgbClr val="5B6B62"/>
                </a:solidFill>
                <a:latin typeface="Calibri"/>
              </a:rPr>
              <a:t>farm holdings in India — 86% small/marginal (&lt;2 ha): our core market.</a:t>
            </a:r>
          </a:p>
        </p:txBody>
      </p:sp>
      <p:sp>
        <p:nvSpPr>
          <p:cNvPr id="24" name="Rounded Rectangle 23"/>
          <p:cNvSpPr/>
          <p:nvPr/>
        </p:nvSpPr>
        <p:spPr>
          <a:xfrm>
            <a:off x="6053328" y="1709928"/>
            <a:ext cx="5297119" cy="4160520"/>
          </a:xfrm>
          <a:prstGeom prst="roundRect">
            <a:avLst>
              <a:gd name="adj" fmla="val 4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7648" y="1929384"/>
            <a:ext cx="4794199" cy="3794759"/>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1F9254"/>
                </a:solidFill>
                <a:latin typeface="Segoe UI Semibold"/>
              </a:rPr>
              <a:t>Scope — what it does today</a:t>
            </a:r>
          </a:p>
          <a:p>
            <a:pPr>
              <a:lnSpc>
                <a:spcPct val="106000"/>
              </a:lnSpc>
              <a:spcAft>
                <a:spcPts val="300"/>
              </a:spcAft>
            </a:pPr>
            <a:r>
              <a:rPr sz="1150" b="1">
                <a:solidFill>
                  <a:srgbClr val="1F9254"/>
                </a:solidFill>
              </a:rPr>
              <a:t>▪  </a:t>
            </a:r>
            <a:r>
              <a:rPr sz="1150">
                <a:solidFill>
                  <a:srgbClr val="12281C"/>
                </a:solidFill>
                <a:latin typeface="Calibri"/>
              </a:rPr>
              <a:t>Soil NPK sensing, AI weed/disease ID, targeted micro-dosing, autonomous nav.</a:t>
            </a:r>
          </a:p>
          <a:p>
            <a:pPr algn="l">
              <a:lnSpc>
                <a:spcPct val="108000"/>
              </a:lnSpc>
              <a:spcBef>
                <a:spcPts val="800"/>
              </a:spcBef>
              <a:spcAft>
                <a:spcPts val="300"/>
              </a:spcAft>
            </a:pPr>
            <a:r>
              <a:rPr sz="1350" b="1" i="0">
                <a:solidFill>
                  <a:srgbClr val="1F9254"/>
                </a:solidFill>
                <a:latin typeface="Segoe UI Semibold"/>
              </a:rPr>
              <a:t>Scope — where it grows</a:t>
            </a:r>
          </a:p>
          <a:p>
            <a:pPr>
              <a:lnSpc>
                <a:spcPct val="106000"/>
              </a:lnSpc>
              <a:spcAft>
                <a:spcPts val="300"/>
              </a:spcAft>
            </a:pPr>
            <a:r>
              <a:rPr sz="1150" b="1">
                <a:solidFill>
                  <a:srgbClr val="1F9254"/>
                </a:solidFill>
              </a:rPr>
              <a:t>▪  </a:t>
            </a:r>
            <a:r>
              <a:rPr sz="1150">
                <a:solidFill>
                  <a:srgbClr val="12281C"/>
                </a:solidFill>
                <a:latin typeface="Calibri"/>
              </a:rPr>
              <a:t>Crops: vegetables, cotton, cereals, orchards, polyhouses.</a:t>
            </a:r>
          </a:p>
          <a:p>
            <a:pPr>
              <a:lnSpc>
                <a:spcPct val="106000"/>
              </a:lnSpc>
              <a:spcAft>
                <a:spcPts val="300"/>
              </a:spcAft>
            </a:pPr>
            <a:r>
              <a:rPr sz="1150" b="1">
                <a:solidFill>
                  <a:srgbClr val="1F9254"/>
                </a:solidFill>
              </a:rPr>
              <a:t>▪  </a:t>
            </a:r>
            <a:r>
              <a:rPr sz="1150">
                <a:solidFill>
                  <a:srgbClr val="12281C"/>
                </a:solidFill>
                <a:latin typeface="Calibri"/>
              </a:rPr>
              <a:t>Geography: India's small-farm belts via FPOs / co-ops.</a:t>
            </a:r>
          </a:p>
          <a:p>
            <a:pPr>
              <a:lnSpc>
                <a:spcPct val="106000"/>
              </a:lnSpc>
              <a:spcAft>
                <a:spcPts val="300"/>
              </a:spcAft>
            </a:pPr>
            <a:r>
              <a:rPr sz="1150" b="1">
                <a:solidFill>
                  <a:srgbClr val="1F9254"/>
                </a:solidFill>
              </a:rPr>
              <a:t>▪  </a:t>
            </a:r>
            <a:r>
              <a:rPr sz="1150">
                <a:solidFill>
                  <a:srgbClr val="12281C"/>
                </a:solidFill>
                <a:latin typeface="Calibri"/>
              </a:rPr>
              <a:t>Add-ons: seeding, spraying, weeding, scouting, yield mapping.</a:t>
            </a:r>
          </a:p>
          <a:p>
            <a:pPr>
              <a:lnSpc>
                <a:spcPct val="106000"/>
              </a:lnSpc>
              <a:spcAft>
                <a:spcPts val="300"/>
              </a:spcAft>
            </a:pPr>
            <a:r>
              <a:rPr sz="1150" b="1">
                <a:solidFill>
                  <a:srgbClr val="1F9254"/>
                </a:solidFill>
              </a:rPr>
              <a:t>▪  </a:t>
            </a:r>
            <a:r>
              <a:rPr sz="1150">
                <a:solidFill>
                  <a:srgbClr val="12281C"/>
                </a:solidFill>
                <a:latin typeface="Calibri"/>
              </a:rPr>
              <a:t>Data services: soil &amp; crop analytics + prescription maps (recurring).</a:t>
            </a:r>
          </a:p>
        </p:txBody>
      </p:sp>
      <p:sp>
        <p:nvSpPr>
          <p:cNvPr id="26" name="TextBox 25"/>
          <p:cNvSpPr txBox="1"/>
          <p:nvPr/>
        </p:nvSpPr>
        <p:spPr>
          <a:xfrm>
            <a:off x="841248" y="6126480"/>
            <a:ext cx="10509199"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1">
                <a:solidFill>
                  <a:srgbClr val="9AA8A0"/>
                </a:solidFill>
                <a:latin typeface="Calibri"/>
              </a:rPr>
              <a:t>Sources: IMARC (agritech &amp; precision-ag), Agriculture Census 2015–16. Indicative.</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TAILWINDS &amp; BUSINESS MODEL</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Policy is on our side</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9</a:t>
            </a:r>
          </a:p>
        </p:txBody>
      </p:sp>
      <p:sp>
        <p:nvSpPr>
          <p:cNvPr id="12" name="TextBox 11"/>
          <p:cNvSpPr txBox="1"/>
          <p:nvPr/>
        </p:nvSpPr>
        <p:spPr>
          <a:xfrm>
            <a:off x="841248" y="1737360"/>
            <a:ext cx="5806440" cy="4023360"/>
          </a:xfrm>
          <a:prstGeom prst="rect">
            <a:avLst/>
          </a:prstGeom>
          <a:noFill/>
        </p:spPr>
        <p:txBody>
          <a:bodyPr wrap="square" anchor="t" lIns="0" rIns="0" tIns="0" bIns="0">
            <a:spAutoFit/>
          </a:bodyPr>
          <a:lstStyle/>
          <a:p>
            <a:pPr>
              <a:lnSpc>
                <a:spcPct val="106000"/>
              </a:lnSpc>
              <a:spcAft>
                <a:spcPts val="900"/>
              </a:spcAft>
            </a:pPr>
            <a:r>
              <a:rPr sz="1300" b="1">
                <a:solidFill>
                  <a:srgbClr val="1F9254"/>
                </a:solidFill>
                <a:latin typeface="Segoe UI Semibold"/>
              </a:rPr>
              <a:t>▸  </a:t>
            </a:r>
            <a:r>
              <a:rPr sz="1300" b="1">
                <a:solidFill>
                  <a:srgbClr val="12281C"/>
                </a:solidFill>
                <a:latin typeface="Calibri"/>
              </a:rPr>
              <a:t>SMAM</a:t>
            </a:r>
            <a:r>
              <a:rPr sz="1150" b="0">
                <a:solidFill>
                  <a:srgbClr val="5B6B62"/>
                </a:solidFill>
                <a:latin typeface="Calibri"/>
              </a:rPr>
              <a:t>  —  50–80% subsidy on farm machinery; funds Custom Hiring Centres</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Agri Infrastructure Fund</a:t>
            </a:r>
            <a:r>
              <a:rPr sz="1150" b="0">
                <a:solidFill>
                  <a:srgbClr val="5B6B62"/>
                </a:solidFill>
                <a:latin typeface="Calibri"/>
              </a:rPr>
              <a:t>  —  interest-subvented loans for FPOs/SHGs to set up CHCs</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Namo Drone Didi</a:t>
            </a:r>
            <a:r>
              <a:rPr sz="1150" b="0">
                <a:solidFill>
                  <a:srgbClr val="5B6B62"/>
                </a:solidFill>
                <a:latin typeface="Calibri"/>
              </a:rPr>
              <a:t>  —  15,000 drones to women SHGs — momentum for ag-robotics</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Soil Health Card scheme</a:t>
            </a:r>
            <a:r>
              <a:rPr sz="1150" b="0">
                <a:solidFill>
                  <a:srgbClr val="5B6B62"/>
                </a:solidFill>
                <a:latin typeface="Calibri"/>
              </a:rPr>
              <a:t>  —  national soil-testing push — aligns with our NPK sensing</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10,000 FPOs + Digital Agri</a:t>
            </a:r>
            <a:r>
              <a:rPr sz="1150" b="0">
                <a:solidFill>
                  <a:srgbClr val="5B6B62"/>
                </a:solidFill>
                <a:latin typeface="Calibri"/>
              </a:rPr>
              <a:t>  —  aggregation &amp; farm-data tailwinds</a:t>
            </a:r>
          </a:p>
        </p:txBody>
      </p:sp>
      <p:sp>
        <p:nvSpPr>
          <p:cNvPr id="13" name="Rounded Rectangle 12"/>
          <p:cNvSpPr/>
          <p:nvPr/>
        </p:nvSpPr>
        <p:spPr>
          <a:xfrm>
            <a:off x="6922008" y="1709928"/>
            <a:ext cx="4428439" cy="4114800"/>
          </a:xfrm>
          <a:prstGeom prst="roundRect">
            <a:avLst>
              <a:gd name="adj" fmla="val 4000"/>
            </a:avLst>
          </a:prstGeom>
          <a:solidFill>
            <a:srgbClr val="E7F3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96328" y="1929384"/>
            <a:ext cx="3925519" cy="3749039"/>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1F9254"/>
                </a:solidFill>
                <a:latin typeface="Segoe UI Semibold"/>
              </a:rPr>
              <a:t>How we leverage it</a:t>
            </a:r>
          </a:p>
          <a:p>
            <a:pPr>
              <a:lnSpc>
                <a:spcPct val="106000"/>
              </a:lnSpc>
              <a:spcAft>
                <a:spcPts val="300"/>
              </a:spcAft>
            </a:pPr>
            <a:r>
              <a:rPr sz="1150" b="1">
                <a:solidFill>
                  <a:srgbClr val="1F9254"/>
                </a:solidFill>
              </a:rPr>
              <a:t>▪  </a:t>
            </a:r>
            <a:r>
              <a:rPr sz="1150">
                <a:solidFill>
                  <a:srgbClr val="12281C"/>
                </a:solidFill>
                <a:latin typeface="Calibri"/>
              </a:rPr>
              <a:t>Rover qualifies as agri-machinery → SMAM subsidy cuts farmer cost.</a:t>
            </a:r>
          </a:p>
          <a:p>
            <a:pPr>
              <a:lnSpc>
                <a:spcPct val="106000"/>
              </a:lnSpc>
              <a:spcAft>
                <a:spcPts val="300"/>
              </a:spcAft>
            </a:pPr>
            <a:r>
              <a:rPr sz="1150" b="1">
                <a:solidFill>
                  <a:srgbClr val="1F9254"/>
                </a:solidFill>
              </a:rPr>
              <a:t>▪  </a:t>
            </a:r>
            <a:r>
              <a:rPr sz="1150">
                <a:solidFill>
                  <a:srgbClr val="12281C"/>
                </a:solidFill>
                <a:latin typeface="Calibri"/>
              </a:rPr>
              <a:t>Deploy via FPOs / CHCs financed by AIF → shared-asset model.</a:t>
            </a:r>
          </a:p>
          <a:p>
            <a:pPr algn="l">
              <a:lnSpc>
                <a:spcPct val="108000"/>
              </a:lnSpc>
              <a:spcBef>
                <a:spcPts val="800"/>
              </a:spcBef>
              <a:spcAft>
                <a:spcPts val="300"/>
              </a:spcAft>
            </a:pPr>
            <a:r>
              <a:rPr sz="1350" b="1" i="0">
                <a:solidFill>
                  <a:srgbClr val="1F9254"/>
                </a:solidFill>
                <a:latin typeface="Segoe UI Semibold"/>
              </a:rPr>
              <a:t>Revenue streams</a:t>
            </a:r>
          </a:p>
          <a:p>
            <a:pPr>
              <a:lnSpc>
                <a:spcPct val="106000"/>
              </a:lnSpc>
              <a:spcAft>
                <a:spcPts val="300"/>
              </a:spcAft>
            </a:pPr>
            <a:r>
              <a:rPr sz="1150" b="1">
                <a:solidFill>
                  <a:srgbClr val="1F9254"/>
                </a:solidFill>
              </a:rPr>
              <a:t>▪  </a:t>
            </a:r>
            <a:r>
              <a:rPr sz="1150">
                <a:solidFill>
                  <a:srgbClr val="12281C"/>
                </a:solidFill>
                <a:latin typeface="Calibri"/>
              </a:rPr>
              <a:t>Rover sale + annual service contract.</a:t>
            </a:r>
          </a:p>
          <a:p>
            <a:pPr>
              <a:lnSpc>
                <a:spcPct val="106000"/>
              </a:lnSpc>
              <a:spcAft>
                <a:spcPts val="300"/>
              </a:spcAft>
            </a:pPr>
            <a:r>
              <a:rPr sz="1150" b="1">
                <a:solidFill>
                  <a:srgbClr val="1F9254"/>
                </a:solidFill>
              </a:rPr>
              <a:t>▪  </a:t>
            </a:r>
            <a:r>
              <a:rPr sz="1150">
                <a:solidFill>
                  <a:srgbClr val="12281C"/>
                </a:solidFill>
                <a:latin typeface="Calibri"/>
              </a:rPr>
              <a:t>Rover-as-a-Service: per-acre fee via FPO/CHC.</a:t>
            </a:r>
          </a:p>
          <a:p>
            <a:pPr>
              <a:lnSpc>
                <a:spcPct val="106000"/>
              </a:lnSpc>
              <a:spcAft>
                <a:spcPts val="300"/>
              </a:spcAft>
            </a:pPr>
            <a:r>
              <a:rPr sz="1150" b="1">
                <a:solidFill>
                  <a:srgbClr val="1F9254"/>
                </a:solidFill>
              </a:rPr>
              <a:t>▪  </a:t>
            </a:r>
            <a:r>
              <a:rPr sz="1150">
                <a:solidFill>
                  <a:srgbClr val="12281C"/>
                </a:solidFill>
                <a:latin typeface="Calibri"/>
              </a:rPr>
              <a:t>Subscription: soil &amp; crop analytics + prescription maps.</a:t>
            </a:r>
          </a:p>
        </p:txBody>
      </p:sp>
      <p:sp>
        <p:nvSpPr>
          <p:cNvPr id="15" name="TextBox 14"/>
          <p:cNvSpPr txBox="1"/>
          <p:nvPr/>
        </p:nvSpPr>
        <p:spPr>
          <a:xfrm>
            <a:off x="841248" y="6126480"/>
            <a:ext cx="10509199"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1">
                <a:solidFill>
                  <a:srgbClr val="9AA8A0"/>
                </a:solidFill>
                <a:latin typeface="Calibri"/>
              </a:rPr>
              <a:t>Scheme details per Govt of India / PIB — verify exact terms before claims.</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6A4C93"/>
                </a:solidFill>
                <a:latin typeface="Segoe UI Semibold"/>
              </a:rPr>
              <a:t>WHAT WE'VE BUILT</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A working POC / MVP</a:t>
            </a:r>
          </a:p>
        </p:txBody>
      </p:sp>
      <p:sp>
        <p:nvSpPr>
          <p:cNvPr id="6" name="Rectangle 5"/>
          <p:cNvSpPr/>
          <p:nvPr/>
        </p:nvSpPr>
        <p:spPr>
          <a:xfrm>
            <a:off x="841248" y="1371600"/>
            <a:ext cx="1371600" cy="502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10</a:t>
            </a:r>
          </a:p>
        </p:txBody>
      </p:sp>
      <p:sp>
        <p:nvSpPr>
          <p:cNvPr id="12" name="Rounded Rectangle 11"/>
          <p:cNvSpPr/>
          <p:nvPr/>
        </p:nvSpPr>
        <p:spPr>
          <a:xfrm>
            <a:off x="841248" y="18013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8" y="1801368"/>
            <a:ext cx="109728" cy="178308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2039112"/>
            <a:ext cx="566928" cy="566928"/>
          </a:xfrm>
          <a:prstGeom prst="roundRect">
            <a:avLst>
              <a:gd name="adj" fmla="val 30000"/>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039112"/>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16" name="TextBox 15"/>
          <p:cNvSpPr txBox="1"/>
          <p:nvPr/>
        </p:nvSpPr>
        <p:spPr>
          <a:xfrm>
            <a:off x="1810512" y="2002536"/>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Firmware · ESP32/FreeRTOS</a:t>
            </a:r>
          </a:p>
        </p:txBody>
      </p:sp>
      <p:sp>
        <p:nvSpPr>
          <p:cNvPr id="17" name="TextBox 16"/>
          <p:cNvSpPr txBox="1"/>
          <p:nvPr/>
        </p:nvSpPr>
        <p:spPr>
          <a:xfrm>
            <a:off x="1115568" y="27340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Dual-core drive + RS485 NPK</a:t>
            </a:r>
          </a:p>
          <a:p>
            <a:pPr algn="l">
              <a:lnSpc>
                <a:spcPct val="106000"/>
              </a:lnSpc>
              <a:spcBef>
                <a:spcPts val="0"/>
              </a:spcBef>
              <a:spcAft>
                <a:spcPts val="400"/>
              </a:spcAft>
            </a:pPr>
            <a:r>
              <a:rPr sz="1150" b="0" i="0">
                <a:solidFill>
                  <a:srgbClr val="5B6B62"/>
                </a:solidFill>
                <a:latin typeface="Calibri"/>
              </a:rPr>
              <a:t>Dosing state machine · secure link</a:t>
            </a:r>
          </a:p>
        </p:txBody>
      </p:sp>
      <p:sp>
        <p:nvSpPr>
          <p:cNvPr id="18" name="Rounded Rectangle 17"/>
          <p:cNvSpPr/>
          <p:nvPr/>
        </p:nvSpPr>
        <p:spPr>
          <a:xfrm>
            <a:off x="4435754" y="18013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5754" y="1801368"/>
            <a:ext cx="109728" cy="178308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91786" y="2039112"/>
            <a:ext cx="566928" cy="566928"/>
          </a:xfrm>
          <a:prstGeom prst="roundRect">
            <a:avLst>
              <a:gd name="adj" fmla="val 30000"/>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91786" y="2039112"/>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22" name="TextBox 21"/>
          <p:cNvSpPr txBox="1"/>
          <p:nvPr/>
        </p:nvSpPr>
        <p:spPr>
          <a:xfrm>
            <a:off x="5405018" y="2002536"/>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AI Vision · Raspberry Pi</a:t>
            </a:r>
          </a:p>
        </p:txBody>
      </p:sp>
      <p:sp>
        <p:nvSpPr>
          <p:cNvPr id="23" name="TextBox 22"/>
          <p:cNvSpPr txBox="1"/>
          <p:nvPr/>
        </p:nvSpPr>
        <p:spPr>
          <a:xfrm>
            <a:off x="4710074" y="27340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YOLOv8n weed/disease/obstacle</a:t>
            </a:r>
          </a:p>
          <a:p>
            <a:pPr algn="l">
              <a:lnSpc>
                <a:spcPct val="106000"/>
              </a:lnSpc>
              <a:spcBef>
                <a:spcPts val="0"/>
              </a:spcBef>
              <a:spcAft>
                <a:spcPts val="400"/>
              </a:spcAft>
            </a:pPr>
            <a:r>
              <a:rPr sz="1150" b="0" i="0">
                <a:solidFill>
                  <a:srgbClr val="5B6B62"/>
                </a:solidFill>
                <a:latin typeface="Calibri"/>
              </a:rPr>
              <a:t>Coral TPU · training notebooks</a:t>
            </a:r>
          </a:p>
        </p:txBody>
      </p:sp>
      <p:sp>
        <p:nvSpPr>
          <p:cNvPr id="24" name="Rounded Rectangle 23"/>
          <p:cNvSpPr/>
          <p:nvPr/>
        </p:nvSpPr>
        <p:spPr>
          <a:xfrm>
            <a:off x="8030260" y="18013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30260" y="1801368"/>
            <a:ext cx="109728" cy="178308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86292" y="2039112"/>
            <a:ext cx="566928" cy="566928"/>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86292" y="2039112"/>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28" name="TextBox 27"/>
          <p:cNvSpPr txBox="1"/>
          <p:nvPr/>
        </p:nvSpPr>
        <p:spPr>
          <a:xfrm>
            <a:off x="8999524" y="2002536"/>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Navigation &amp; Systems</a:t>
            </a:r>
          </a:p>
        </p:txBody>
      </p:sp>
      <p:sp>
        <p:nvSpPr>
          <p:cNvPr id="29" name="TextBox 28"/>
          <p:cNvSpPr txBox="1"/>
          <p:nvPr/>
        </p:nvSpPr>
        <p:spPr>
          <a:xfrm>
            <a:off x="8304580" y="27340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EKF + GPS + vision geo-tag</a:t>
            </a:r>
          </a:p>
          <a:p>
            <a:pPr algn="l">
              <a:lnSpc>
                <a:spcPct val="106000"/>
              </a:lnSpc>
              <a:spcBef>
                <a:spcPts val="0"/>
              </a:spcBef>
              <a:spcAft>
                <a:spcPts val="400"/>
              </a:spcAft>
            </a:pPr>
            <a:r>
              <a:rPr sz="1150" b="0" i="0">
                <a:solidFill>
                  <a:srgbClr val="5B6B62"/>
                </a:solidFill>
                <a:latin typeface="Calibri"/>
              </a:rPr>
              <a:t>Snake planner · ROS2 · simulator</a:t>
            </a:r>
          </a:p>
        </p:txBody>
      </p:sp>
      <p:sp>
        <p:nvSpPr>
          <p:cNvPr id="30" name="Rounded Rectangle 29"/>
          <p:cNvSpPr/>
          <p:nvPr/>
        </p:nvSpPr>
        <p:spPr>
          <a:xfrm>
            <a:off x="841248" y="38587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3858768"/>
            <a:ext cx="109728" cy="178308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97280" y="4096511"/>
            <a:ext cx="566928" cy="566928"/>
          </a:xfrm>
          <a:prstGeom prst="roundRect">
            <a:avLst>
              <a:gd name="adj" fmla="val 30000"/>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4096511"/>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34" name="TextBox 33"/>
          <p:cNvSpPr txBox="1"/>
          <p:nvPr/>
        </p:nvSpPr>
        <p:spPr>
          <a:xfrm>
            <a:off x="1810512" y="4059935"/>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Software Tooling</a:t>
            </a:r>
          </a:p>
        </p:txBody>
      </p:sp>
      <p:sp>
        <p:nvSpPr>
          <p:cNvPr id="35" name="TextBox 34"/>
          <p:cNvSpPr txBox="1"/>
          <p:nvPr/>
        </p:nvSpPr>
        <p:spPr>
          <a:xfrm>
            <a:off x="1115568" y="47914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Live dashboard + Telegram</a:t>
            </a:r>
          </a:p>
          <a:p>
            <a:pPr algn="l">
              <a:lnSpc>
                <a:spcPct val="106000"/>
              </a:lnSpc>
              <a:spcBef>
                <a:spcPts val="0"/>
              </a:spcBef>
              <a:spcAft>
                <a:spcPts val="400"/>
              </a:spcAft>
            </a:pPr>
            <a:r>
              <a:rPr sz="1150" b="0" i="0">
                <a:solidFill>
                  <a:srgbClr val="5B6B62"/>
                </a:solidFill>
                <a:latin typeface="Calibri"/>
              </a:rPr>
              <a:t>CI pipeline · black-box logging</a:t>
            </a:r>
          </a:p>
        </p:txBody>
      </p:sp>
      <p:sp>
        <p:nvSpPr>
          <p:cNvPr id="36" name="Rounded Rectangle 35"/>
          <p:cNvSpPr/>
          <p:nvPr/>
        </p:nvSpPr>
        <p:spPr>
          <a:xfrm>
            <a:off x="4435754" y="38587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435754" y="3858768"/>
            <a:ext cx="109728" cy="1783080"/>
          </a:xfrm>
          <a:prstGeom prst="rect">
            <a:avLst/>
          </a:prstGeom>
          <a:solidFill>
            <a:srgbClr val="EF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691786" y="4096511"/>
            <a:ext cx="566928" cy="566928"/>
          </a:xfrm>
          <a:prstGeom prst="roundRect">
            <a:avLst>
              <a:gd name="adj" fmla="val 30000"/>
            </a:avLst>
          </a:prstGeom>
          <a:solidFill>
            <a:srgbClr val="EF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91786" y="4096511"/>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40" name="TextBox 39"/>
          <p:cNvSpPr txBox="1"/>
          <p:nvPr/>
        </p:nvSpPr>
        <p:spPr>
          <a:xfrm>
            <a:off x="5405018" y="4059935"/>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Hardware Design</a:t>
            </a:r>
          </a:p>
        </p:txBody>
      </p:sp>
      <p:sp>
        <p:nvSpPr>
          <p:cNvPr id="41" name="TextBox 40"/>
          <p:cNvSpPr txBox="1"/>
          <p:nvPr/>
        </p:nvSpPr>
        <p:spPr>
          <a:xfrm>
            <a:off x="4710074" y="47914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Verified circuit + wiring v2</a:t>
            </a:r>
          </a:p>
          <a:p>
            <a:pPr algn="l">
              <a:lnSpc>
                <a:spcPct val="106000"/>
              </a:lnSpc>
              <a:spcBef>
                <a:spcPts val="0"/>
              </a:spcBef>
              <a:spcAft>
                <a:spcPts val="400"/>
              </a:spcAft>
            </a:pPr>
            <a:r>
              <a:rPr sz="1150" b="0" i="0">
                <a:solidFill>
                  <a:srgbClr val="5B6B62"/>
                </a:solidFill>
                <a:latin typeface="Calibri"/>
              </a:rPr>
              <a:t>110-part costed BOM (+15 audit)</a:t>
            </a:r>
          </a:p>
        </p:txBody>
      </p:sp>
      <p:sp>
        <p:nvSpPr>
          <p:cNvPr id="42" name="Rounded Rectangle 41"/>
          <p:cNvSpPr/>
          <p:nvPr/>
        </p:nvSpPr>
        <p:spPr>
          <a:xfrm>
            <a:off x="8030260" y="3858768"/>
            <a:ext cx="3320186" cy="178308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030260" y="3858768"/>
            <a:ext cx="109728" cy="17830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86292" y="4096511"/>
            <a:ext cx="566928" cy="566928"/>
          </a:xfrm>
          <a:prstGeom prst="roundRect">
            <a:avLst>
              <a:gd name="adj" fmla="val 30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86292" y="4096511"/>
            <a:ext cx="566928" cy="566928"/>
          </a:xfrm>
          <a:prstGeom prst="rect">
            <a:avLst/>
          </a:prstGeom>
          <a:noFill/>
        </p:spPr>
        <p:txBody>
          <a:bodyPr wrap="square" anchor="ctr" lIns="0" rIns="0" tIns="0" bIns="0">
            <a:spAutoFit/>
          </a:bodyPr>
          <a:lstStyle/>
          <a:p>
            <a:pPr algn="ctr">
              <a:lnSpc>
                <a:spcPct val="108000"/>
              </a:lnSpc>
              <a:spcBef>
                <a:spcPts val="0"/>
              </a:spcBef>
              <a:spcAft>
                <a:spcPts val="0"/>
              </a:spcAft>
            </a:pPr>
            <a:r>
              <a:rPr sz="1700" b="1" i="0">
                <a:solidFill>
                  <a:srgbClr val="FFFFFF"/>
                </a:solidFill>
                <a:latin typeface="Segoe UI Semibold"/>
              </a:rPr>
              <a:t>●</a:t>
            </a:r>
          </a:p>
        </p:txBody>
      </p:sp>
      <p:sp>
        <p:nvSpPr>
          <p:cNvPr id="46" name="TextBox 45"/>
          <p:cNvSpPr txBox="1"/>
          <p:nvPr/>
        </p:nvSpPr>
        <p:spPr>
          <a:xfrm>
            <a:off x="8999524" y="4059935"/>
            <a:ext cx="2131466" cy="640080"/>
          </a:xfrm>
          <a:prstGeom prst="rect">
            <a:avLst/>
          </a:prstGeom>
          <a:noFill/>
        </p:spPr>
        <p:txBody>
          <a:bodyPr wrap="square" anchor="ctr" lIns="0" rIns="0" tIns="0" bIns="0">
            <a:spAutoFit/>
          </a:bodyPr>
          <a:lstStyle/>
          <a:p>
            <a:pPr algn="l">
              <a:lnSpc>
                <a:spcPct val="100000"/>
              </a:lnSpc>
              <a:spcBef>
                <a:spcPts val="0"/>
              </a:spcBef>
              <a:spcAft>
                <a:spcPts val="0"/>
              </a:spcAft>
            </a:pPr>
            <a:r>
              <a:rPr sz="1300" b="1" i="0">
                <a:solidFill>
                  <a:srgbClr val="12281C"/>
                </a:solidFill>
                <a:latin typeface="Segoe UI Semibold"/>
              </a:rPr>
              <a:t>Field Reliability</a:t>
            </a:r>
          </a:p>
        </p:txBody>
      </p:sp>
      <p:sp>
        <p:nvSpPr>
          <p:cNvPr id="47" name="TextBox 46"/>
          <p:cNvSpPr txBox="1"/>
          <p:nvPr/>
        </p:nvSpPr>
        <p:spPr>
          <a:xfrm>
            <a:off x="8304580" y="4791456"/>
            <a:ext cx="2817266" cy="731520"/>
          </a:xfrm>
          <a:prstGeom prst="rect">
            <a:avLst/>
          </a:prstGeom>
          <a:noFill/>
        </p:spPr>
        <p:txBody>
          <a:bodyPr wrap="square" anchor="t" lIns="0" rIns="0" tIns="0" bIns="0">
            <a:spAutoFit/>
          </a:bodyPr>
          <a:lstStyle/>
          <a:p>
            <a:pPr algn="l">
              <a:lnSpc>
                <a:spcPct val="106000"/>
              </a:lnSpc>
              <a:spcBef>
                <a:spcPts val="0"/>
              </a:spcBef>
              <a:spcAft>
                <a:spcPts val="400"/>
              </a:spcAft>
            </a:pPr>
            <a:r>
              <a:rPr sz="1150" b="0" i="0">
                <a:solidFill>
                  <a:srgbClr val="5B6B62"/>
                </a:solidFill>
                <a:latin typeface="Calibri"/>
              </a:rPr>
              <a:t>10 real field risks engineered</a:t>
            </a:r>
          </a:p>
          <a:p>
            <a:pPr algn="l">
              <a:lnSpc>
                <a:spcPct val="106000"/>
              </a:lnSpc>
              <a:spcBef>
                <a:spcPts val="0"/>
              </a:spcBef>
              <a:spcAft>
                <a:spcPts val="400"/>
              </a:spcAft>
            </a:pPr>
            <a:r>
              <a:rPr sz="1150" b="0" i="0">
                <a:solidFill>
                  <a:srgbClr val="5B6B62"/>
                </a:solidFill>
                <a:latin typeface="Calibri"/>
              </a:rPr>
              <a:t>Heat, stall, comms-loss, sealing</a:t>
            </a:r>
          </a:p>
        </p:txBody>
      </p:sp>
      <p:sp>
        <p:nvSpPr>
          <p:cNvPr id="48" name="TextBox 47"/>
          <p:cNvSpPr txBox="1"/>
          <p:nvPr/>
        </p:nvSpPr>
        <p:spPr>
          <a:xfrm>
            <a:off x="841248" y="6089904"/>
            <a:ext cx="10509199" cy="274320"/>
          </a:xfrm>
          <a:prstGeom prst="rect">
            <a:avLst/>
          </a:prstGeom>
          <a:noFill/>
        </p:spPr>
        <p:txBody>
          <a:bodyPr wrap="square" anchor="t" lIns="0" rIns="0" tIns="0" bIns="0">
            <a:spAutoFit/>
          </a:bodyPr>
          <a:lstStyle/>
          <a:p>
            <a:pPr algn="l">
              <a:lnSpc>
                <a:spcPct val="108000"/>
              </a:lnSpc>
              <a:spcBef>
                <a:spcPts val="0"/>
              </a:spcBef>
              <a:spcAft>
                <a:spcPts val="0"/>
              </a:spcAft>
            </a:pPr>
            <a:r>
              <a:rPr sz="1100" b="0" i="1">
                <a:solidFill>
                  <a:srgbClr val="9AA8A0"/>
                </a:solidFill>
                <a:latin typeface="Calibri"/>
              </a:rPr>
              <a:t>Built end-to-end by our 4-member team — software validated in simulation; hardware integration is the next step.</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POC HYPOTHESIS &amp; METRICS</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What we will prove</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11</a:t>
            </a:r>
          </a:p>
        </p:txBody>
      </p:sp>
      <p:sp>
        <p:nvSpPr>
          <p:cNvPr id="12" name="Rounded Rectangle 11"/>
          <p:cNvSpPr/>
          <p:nvPr/>
        </p:nvSpPr>
        <p:spPr>
          <a:xfrm>
            <a:off x="841248" y="1755648"/>
            <a:ext cx="10509199" cy="731520"/>
          </a:xfrm>
          <a:prstGeom prst="roundRect">
            <a:avLst>
              <a:gd name="adj" fmla="val 40000"/>
            </a:avLst>
          </a:prstGeom>
          <a:solidFill>
            <a:srgbClr val="E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1755648"/>
            <a:ext cx="9960559" cy="731520"/>
          </a:xfrm>
          <a:prstGeom prst="rect">
            <a:avLst/>
          </a:prstGeom>
          <a:noFill/>
        </p:spPr>
        <p:txBody>
          <a:bodyPr wrap="square" anchor="ctr" lIns="0" rIns="0" tIns="0" bIns="0">
            <a:spAutoFit/>
          </a:bodyPr>
          <a:lstStyle/>
          <a:p>
            <a:pPr algn="ctr"/>
            <a:r>
              <a:rPr sz="1400" b="1">
                <a:solidFill>
                  <a:srgbClr val="1F9254"/>
                </a:solidFill>
                <a:latin typeface="Segoe UI Semibold"/>
              </a:rPr>
              <a:t>Hypothesis:  </a:t>
            </a:r>
            <a:r>
              <a:rPr sz="1350" b="0">
                <a:solidFill>
                  <a:srgbClr val="12281C"/>
                </a:solidFill>
                <a:latin typeface="Calibri"/>
              </a:rPr>
              <a:t>per-plant sensing + targeted dosing cuts fertiliser/chemical use sharply — with no yield loss.</a:t>
            </a:r>
          </a:p>
        </p:txBody>
      </p:sp>
      <p:sp>
        <p:nvSpPr>
          <p:cNvPr id="14" name="TextBox 13"/>
          <p:cNvSpPr txBox="1"/>
          <p:nvPr/>
        </p:nvSpPr>
        <p:spPr>
          <a:xfrm>
            <a:off x="841248" y="2807208"/>
            <a:ext cx="10509199" cy="2286000"/>
          </a:xfrm>
          <a:prstGeom prst="rect">
            <a:avLst/>
          </a:prstGeom>
          <a:noFill/>
        </p:spPr>
        <p:txBody>
          <a:bodyPr wrap="square" anchor="t" lIns="0" rIns="0" tIns="0" bIns="0">
            <a:spAutoFit/>
          </a:bodyPr>
          <a:lstStyle/>
          <a:p>
            <a:pPr>
              <a:lnSpc>
                <a:spcPct val="106000"/>
              </a:lnSpc>
              <a:spcAft>
                <a:spcPts val="900"/>
              </a:spcAft>
            </a:pPr>
            <a:r>
              <a:rPr sz="1500" b="1">
                <a:solidFill>
                  <a:srgbClr val="1F9254"/>
                </a:solidFill>
                <a:latin typeface="Segoe UI Semibold"/>
              </a:rPr>
              <a:t>▸  </a:t>
            </a:r>
            <a:r>
              <a:rPr sz="1500" b="1">
                <a:solidFill>
                  <a:srgbClr val="12281C"/>
                </a:solidFill>
                <a:latin typeface="Calibri"/>
              </a:rPr>
              <a:t>Input reduction</a:t>
            </a:r>
            <a:r>
              <a:rPr sz="1350" b="0">
                <a:solidFill>
                  <a:srgbClr val="5B6B62"/>
                </a:solidFill>
                <a:latin typeface="Calibri"/>
              </a:rPr>
              <a:t>  —  fertiliser &amp; pesticide saved vs hand-broadcasting</a:t>
            </a:r>
          </a:p>
          <a:p>
            <a:pPr>
              <a:lnSpc>
                <a:spcPct val="106000"/>
              </a:lnSpc>
              <a:spcAft>
                <a:spcPts val="900"/>
              </a:spcAft>
            </a:pPr>
            <a:r>
              <a:rPr sz="1500" b="1">
                <a:solidFill>
                  <a:srgbClr val="1F9254"/>
                </a:solidFill>
                <a:latin typeface="Segoe UI Semibold"/>
              </a:rPr>
              <a:t>▸  </a:t>
            </a:r>
            <a:r>
              <a:rPr sz="1500" b="1">
                <a:solidFill>
                  <a:srgbClr val="12281C"/>
                </a:solidFill>
                <a:latin typeface="Calibri"/>
              </a:rPr>
              <a:t>Detection accuracy</a:t>
            </a:r>
            <a:r>
              <a:rPr sz="1350" b="0">
                <a:solidFill>
                  <a:srgbClr val="5B6B62"/>
                </a:solidFill>
                <a:latin typeface="Calibri"/>
              </a:rPr>
              <a:t>  —  weed/disease precision &amp; recall; dosing placement (cm)</a:t>
            </a:r>
          </a:p>
          <a:p>
            <a:pPr>
              <a:lnSpc>
                <a:spcPct val="106000"/>
              </a:lnSpc>
              <a:spcAft>
                <a:spcPts val="900"/>
              </a:spcAft>
            </a:pPr>
            <a:r>
              <a:rPr sz="1500" b="1">
                <a:solidFill>
                  <a:srgbClr val="1F9254"/>
                </a:solidFill>
                <a:latin typeface="Segoe UI Semibold"/>
              </a:rPr>
              <a:t>▸  </a:t>
            </a:r>
            <a:r>
              <a:rPr sz="1500" b="1">
                <a:solidFill>
                  <a:srgbClr val="12281C"/>
                </a:solidFill>
                <a:latin typeface="Calibri"/>
              </a:rPr>
              <a:t>Coverage &amp; economics</a:t>
            </a:r>
            <a:r>
              <a:rPr sz="1350" b="0">
                <a:solidFill>
                  <a:srgbClr val="5B6B62"/>
                </a:solidFill>
                <a:latin typeface="Calibri"/>
              </a:rPr>
              <a:t>  —  area per charge; cost saving per acre per season</a:t>
            </a:r>
          </a:p>
        </p:txBody>
      </p:sp>
      <p:sp>
        <p:nvSpPr>
          <p:cNvPr id="15" name="Rounded Rectangle 14"/>
          <p:cNvSpPr/>
          <p:nvPr/>
        </p:nvSpPr>
        <p:spPr>
          <a:xfrm>
            <a:off x="841248" y="4910328"/>
            <a:ext cx="10509199" cy="685800"/>
          </a:xfrm>
          <a:prstGeom prst="roundRect">
            <a:avLst>
              <a:gd name="adj" fmla="val 40000"/>
            </a:avLst>
          </a:prstGeom>
          <a:solidFill>
            <a:srgbClr val="EE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910328"/>
            <a:ext cx="9960559" cy="685800"/>
          </a:xfrm>
          <a:prstGeom prst="rect">
            <a:avLst/>
          </a:prstGeom>
          <a:noFill/>
        </p:spPr>
        <p:txBody>
          <a:bodyPr wrap="square" anchor="ctr" lIns="0" rIns="0" tIns="0" bIns="0">
            <a:spAutoFit/>
          </a:bodyPr>
          <a:lstStyle/>
          <a:p>
            <a:pPr algn="ctr"/>
            <a:r>
              <a:rPr sz="1400" b="1">
                <a:solidFill>
                  <a:srgbClr val="F2A03D"/>
                </a:solidFill>
                <a:latin typeface="Segoe UI Semibold"/>
              </a:rPr>
              <a:t>Targets to prove in pilot:  </a:t>
            </a:r>
            <a:r>
              <a:rPr sz="1400" b="1">
                <a:solidFill>
                  <a:srgbClr val="12281C"/>
                </a:solidFill>
                <a:latin typeface="Calibri"/>
              </a:rPr>
              <a:t>30–50% input reduction  ·  &gt;85% detection accuracy.</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PROJECTED IMPACT &amp; SCALE</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The numbers we're chasing</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12</a:t>
            </a:r>
          </a:p>
        </p:txBody>
      </p:sp>
      <p:pic>
        <p:nvPicPr>
          <p:cNvPr id="12" name="Picture 11" descr="impact_charts.png"/>
          <p:cNvPicPr>
            <a:picLocks noChangeAspect="1"/>
          </p:cNvPicPr>
          <p:nvPr/>
        </p:nvPicPr>
        <p:blipFill>
          <a:blip r:embed="rId2"/>
          <a:stretch>
            <a:fillRect/>
          </a:stretch>
        </p:blipFill>
        <p:spPr>
          <a:xfrm>
            <a:off x="1645145" y="1709928"/>
            <a:ext cx="8901404" cy="2743200"/>
          </a:xfrm>
          <a:prstGeom prst="rect">
            <a:avLst/>
          </a:prstGeom>
        </p:spPr>
      </p:pic>
      <p:sp>
        <p:nvSpPr>
          <p:cNvPr id="13" name="Rounded Rectangle 12"/>
          <p:cNvSpPr/>
          <p:nvPr/>
        </p:nvSpPr>
        <p:spPr>
          <a:xfrm>
            <a:off x="841248" y="4590288"/>
            <a:ext cx="3320186" cy="1371600"/>
          </a:xfrm>
          <a:prstGeom prst="roundRect">
            <a:avLst>
              <a:gd name="adj" fmla="val 7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1248" y="4590288"/>
            <a:ext cx="100584" cy="13716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727448"/>
            <a:ext cx="2908706" cy="320040"/>
          </a:xfrm>
          <a:prstGeom prst="rect">
            <a:avLst/>
          </a:prstGeom>
          <a:noFill/>
        </p:spPr>
        <p:txBody>
          <a:bodyPr wrap="square" anchor="t" lIns="0" rIns="0" tIns="0" bIns="0">
            <a:spAutoFit/>
          </a:bodyPr>
          <a:lstStyle/>
          <a:p>
            <a:pPr algn="l">
              <a:lnSpc>
                <a:spcPct val="108000"/>
              </a:lnSpc>
              <a:spcBef>
                <a:spcPts val="0"/>
              </a:spcBef>
              <a:spcAft>
                <a:spcPts val="0"/>
              </a:spcAft>
            </a:pPr>
            <a:r>
              <a:rPr sz="1250" b="1" i="0">
                <a:solidFill>
                  <a:srgbClr val="12281C"/>
                </a:solidFill>
                <a:latin typeface="Segoe UI Semibold"/>
              </a:rPr>
              <a:t>AI detection accuracy</a:t>
            </a:r>
          </a:p>
        </p:txBody>
      </p:sp>
      <p:sp>
        <p:nvSpPr>
          <p:cNvPr id="16" name="TextBox 15"/>
          <p:cNvSpPr txBox="1"/>
          <p:nvPr/>
        </p:nvSpPr>
        <p:spPr>
          <a:xfrm>
            <a:off x="1078992" y="5010912"/>
            <a:ext cx="2908706" cy="502920"/>
          </a:xfrm>
          <a:prstGeom prst="rect">
            <a:avLst/>
          </a:prstGeom>
          <a:noFill/>
        </p:spPr>
        <p:txBody>
          <a:bodyPr wrap="square" anchor="t" lIns="0" rIns="0" tIns="0" bIns="0">
            <a:spAutoFit/>
          </a:bodyPr>
          <a:lstStyle/>
          <a:p>
            <a:pPr algn="l">
              <a:lnSpc>
                <a:spcPct val="108000"/>
              </a:lnSpc>
              <a:spcBef>
                <a:spcPts val="0"/>
              </a:spcBef>
              <a:spcAft>
                <a:spcPts val="0"/>
              </a:spcAft>
            </a:pPr>
            <a:r>
              <a:rPr sz="2700" b="1" i="0">
                <a:solidFill>
                  <a:srgbClr val="2B9BD6"/>
                </a:solidFill>
                <a:latin typeface="Segoe UI Semibold"/>
              </a:rPr>
              <a:t>88%</a:t>
            </a:r>
          </a:p>
        </p:txBody>
      </p:sp>
      <p:sp>
        <p:nvSpPr>
          <p:cNvPr id="17" name="Rounded Rectangle 16"/>
          <p:cNvSpPr/>
          <p:nvPr/>
        </p:nvSpPr>
        <p:spPr>
          <a:xfrm>
            <a:off x="1097280" y="5614416"/>
            <a:ext cx="2817266" cy="146304"/>
          </a:xfrm>
          <a:prstGeom prst="round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5614416"/>
            <a:ext cx="2479194" cy="146304"/>
          </a:xfrm>
          <a:prstGeom prst="round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35754" y="4590288"/>
            <a:ext cx="3320186" cy="1371600"/>
          </a:xfrm>
          <a:prstGeom prst="roundRect">
            <a:avLst>
              <a:gd name="adj" fmla="val 7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35754" y="4590288"/>
            <a:ext cx="100584" cy="13716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73498" y="4727448"/>
            <a:ext cx="2908706" cy="320040"/>
          </a:xfrm>
          <a:prstGeom prst="rect">
            <a:avLst/>
          </a:prstGeom>
          <a:noFill/>
        </p:spPr>
        <p:txBody>
          <a:bodyPr wrap="square" anchor="t" lIns="0" rIns="0" tIns="0" bIns="0">
            <a:spAutoFit/>
          </a:bodyPr>
          <a:lstStyle/>
          <a:p>
            <a:pPr algn="l">
              <a:lnSpc>
                <a:spcPct val="108000"/>
              </a:lnSpc>
              <a:spcBef>
                <a:spcPts val="0"/>
              </a:spcBef>
              <a:spcAft>
                <a:spcPts val="0"/>
              </a:spcAft>
            </a:pPr>
            <a:r>
              <a:rPr sz="1250" b="1" i="0">
                <a:solidFill>
                  <a:srgbClr val="12281C"/>
                </a:solidFill>
                <a:latin typeface="Segoe UI Semibold"/>
              </a:rPr>
              <a:t>Fertiliser reduction</a:t>
            </a:r>
          </a:p>
        </p:txBody>
      </p:sp>
      <p:sp>
        <p:nvSpPr>
          <p:cNvPr id="22" name="TextBox 21"/>
          <p:cNvSpPr txBox="1"/>
          <p:nvPr/>
        </p:nvSpPr>
        <p:spPr>
          <a:xfrm>
            <a:off x="4673498" y="5010912"/>
            <a:ext cx="2908706" cy="502920"/>
          </a:xfrm>
          <a:prstGeom prst="rect">
            <a:avLst/>
          </a:prstGeom>
          <a:noFill/>
        </p:spPr>
        <p:txBody>
          <a:bodyPr wrap="square" anchor="t" lIns="0" rIns="0" tIns="0" bIns="0">
            <a:spAutoFit/>
          </a:bodyPr>
          <a:lstStyle/>
          <a:p>
            <a:pPr algn="l">
              <a:lnSpc>
                <a:spcPct val="108000"/>
              </a:lnSpc>
              <a:spcBef>
                <a:spcPts val="0"/>
              </a:spcBef>
              <a:spcAft>
                <a:spcPts val="0"/>
              </a:spcAft>
            </a:pPr>
            <a:r>
              <a:rPr sz="2700" b="1" i="0">
                <a:solidFill>
                  <a:srgbClr val="1F9254"/>
                </a:solidFill>
                <a:latin typeface="Segoe UI Semibold"/>
              </a:rPr>
              <a:t>45%</a:t>
            </a:r>
          </a:p>
        </p:txBody>
      </p:sp>
      <p:sp>
        <p:nvSpPr>
          <p:cNvPr id="23" name="Rounded Rectangle 22"/>
          <p:cNvSpPr/>
          <p:nvPr/>
        </p:nvSpPr>
        <p:spPr>
          <a:xfrm>
            <a:off x="4691786" y="5614416"/>
            <a:ext cx="2817266" cy="146304"/>
          </a:xfrm>
          <a:prstGeom prst="round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91786" y="5614416"/>
            <a:ext cx="1267769" cy="146304"/>
          </a:xfrm>
          <a:prstGeom prst="round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30260" y="4590288"/>
            <a:ext cx="3320186" cy="1371600"/>
          </a:xfrm>
          <a:prstGeom prst="roundRect">
            <a:avLst>
              <a:gd name="adj" fmla="val 7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0260" y="4590288"/>
            <a:ext cx="100584" cy="137160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8004" y="4727448"/>
            <a:ext cx="2908706" cy="320040"/>
          </a:xfrm>
          <a:prstGeom prst="rect">
            <a:avLst/>
          </a:prstGeom>
          <a:noFill/>
        </p:spPr>
        <p:txBody>
          <a:bodyPr wrap="square" anchor="t" lIns="0" rIns="0" tIns="0" bIns="0">
            <a:spAutoFit/>
          </a:bodyPr>
          <a:lstStyle/>
          <a:p>
            <a:pPr algn="l">
              <a:lnSpc>
                <a:spcPct val="108000"/>
              </a:lnSpc>
              <a:spcBef>
                <a:spcPts val="0"/>
              </a:spcBef>
              <a:spcAft>
                <a:spcPts val="0"/>
              </a:spcAft>
            </a:pPr>
            <a:r>
              <a:rPr sz="1250" b="1" i="0">
                <a:solidFill>
                  <a:srgbClr val="12281C"/>
                </a:solidFill>
                <a:latin typeface="Segoe UI Semibold"/>
              </a:rPr>
              <a:t>Cost saving / acre</a:t>
            </a:r>
          </a:p>
        </p:txBody>
      </p:sp>
      <p:sp>
        <p:nvSpPr>
          <p:cNvPr id="28" name="TextBox 27"/>
          <p:cNvSpPr txBox="1"/>
          <p:nvPr/>
        </p:nvSpPr>
        <p:spPr>
          <a:xfrm>
            <a:off x="8268004" y="5010912"/>
            <a:ext cx="2908706" cy="502920"/>
          </a:xfrm>
          <a:prstGeom prst="rect">
            <a:avLst/>
          </a:prstGeom>
          <a:noFill/>
        </p:spPr>
        <p:txBody>
          <a:bodyPr wrap="square" anchor="t" lIns="0" rIns="0" tIns="0" bIns="0">
            <a:spAutoFit/>
          </a:bodyPr>
          <a:lstStyle/>
          <a:p>
            <a:pPr algn="l">
              <a:lnSpc>
                <a:spcPct val="108000"/>
              </a:lnSpc>
              <a:spcBef>
                <a:spcPts val="0"/>
              </a:spcBef>
              <a:spcAft>
                <a:spcPts val="0"/>
              </a:spcAft>
            </a:pPr>
            <a:r>
              <a:rPr sz="2700" b="1" i="0">
                <a:solidFill>
                  <a:srgbClr val="F2A03D"/>
                </a:solidFill>
                <a:latin typeface="Segoe UI Semibold"/>
              </a:rPr>
              <a:t>40%</a:t>
            </a:r>
          </a:p>
        </p:txBody>
      </p:sp>
      <p:sp>
        <p:nvSpPr>
          <p:cNvPr id="29" name="Rounded Rectangle 28"/>
          <p:cNvSpPr/>
          <p:nvPr/>
        </p:nvSpPr>
        <p:spPr>
          <a:xfrm>
            <a:off x="8286292" y="5614416"/>
            <a:ext cx="2817266" cy="146304"/>
          </a:xfrm>
          <a:prstGeom prst="round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286292" y="5614416"/>
            <a:ext cx="1126906" cy="146304"/>
          </a:xfrm>
          <a:prstGeom prst="round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6126480"/>
            <a:ext cx="10509199"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1">
                <a:solidFill>
                  <a:srgbClr val="9AA8A0"/>
                </a:solidFill>
                <a:latin typeface="Calibri"/>
              </a:rPr>
              <a:t>Projected from our simulation model &amp; targets — to be validated in field pilots.</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2B9BD6"/>
                </a:solidFill>
                <a:latin typeface="Segoe UI Semibold"/>
              </a:rPr>
              <a:t>EXECUTION &amp; GO-TO-MARKET</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From prototype to fleet</a:t>
            </a:r>
          </a:p>
        </p:txBody>
      </p:sp>
      <p:sp>
        <p:nvSpPr>
          <p:cNvPr id="6" name="Rectangle 5"/>
          <p:cNvSpPr/>
          <p:nvPr/>
        </p:nvSpPr>
        <p:spPr>
          <a:xfrm>
            <a:off x="841248" y="1371600"/>
            <a:ext cx="1371600" cy="5029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13</a:t>
            </a:r>
          </a:p>
        </p:txBody>
      </p:sp>
      <p:sp>
        <p:nvSpPr>
          <p:cNvPr id="12" name="Rectangle 11"/>
          <p:cNvSpPr/>
          <p:nvPr/>
        </p:nvSpPr>
        <p:spPr>
          <a:xfrm>
            <a:off x="1024128" y="3200400"/>
            <a:ext cx="10143439" cy="27432"/>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680" y="3044952"/>
            <a:ext cx="329184" cy="329184"/>
          </a:xfrm>
          <a:prstGeom prst="ellipse">
            <a:avLst/>
          </a:prstGeom>
          <a:solidFill>
            <a:srgbClr val="1F9254"/>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41248" y="1417320"/>
            <a:ext cx="1051560" cy="329184"/>
          </a:xfrm>
          <a:prstGeom prst="roundRect">
            <a:avLst>
              <a:gd name="adj" fmla="val 50000"/>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1417320"/>
            <a:ext cx="1051560" cy="329184"/>
          </a:xfrm>
          <a:prstGeom prst="rect">
            <a:avLst/>
          </a:prstGeom>
          <a:noFill/>
        </p:spPr>
        <p:txBody>
          <a:bodyPr wrap="square" anchor="ctr" lIns="0" rIns="0" tIns="0" bIns="0">
            <a:spAutoFit/>
          </a:bodyPr>
          <a:lstStyle/>
          <a:p>
            <a:pPr algn="ctr">
              <a:lnSpc>
                <a:spcPct val="108000"/>
              </a:lnSpc>
              <a:spcBef>
                <a:spcPts val="0"/>
              </a:spcBef>
              <a:spcAft>
                <a:spcPts val="0"/>
              </a:spcAft>
            </a:pPr>
            <a:r>
              <a:rPr sz="1200" b="1" i="0">
                <a:solidFill>
                  <a:srgbClr val="FFFFFF"/>
                </a:solidFill>
                <a:latin typeface="Segoe UI"/>
              </a:rPr>
              <a:t>BUILD</a:t>
            </a:r>
          </a:p>
        </p:txBody>
      </p:sp>
      <p:sp>
        <p:nvSpPr>
          <p:cNvPr id="16" name="TextBox 15"/>
          <p:cNvSpPr txBox="1"/>
          <p:nvPr/>
        </p:nvSpPr>
        <p:spPr>
          <a:xfrm>
            <a:off x="841248" y="1837944"/>
            <a:ext cx="2743200" cy="118872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12281C"/>
                </a:solidFill>
                <a:latin typeface="Segoe UI Semibold"/>
              </a:rPr>
              <a:t>Hardware prototype</a:t>
            </a:r>
          </a:p>
          <a:p>
            <a:pPr algn="l">
              <a:lnSpc>
                <a:spcPct val="105000"/>
              </a:lnSpc>
              <a:spcBef>
                <a:spcPts val="0"/>
              </a:spcBef>
              <a:spcAft>
                <a:spcPts val="0"/>
              </a:spcAft>
            </a:pPr>
            <a:r>
              <a:rPr sz="1100" b="0" i="0">
                <a:solidFill>
                  <a:srgbClr val="5B6B62"/>
                </a:solidFill>
                <a:latin typeface="Calibri"/>
              </a:rPr>
              <a:t>BTS7960 drive, NPK probe, pan/tilt sprayer, LiFePO4 — ~3 months</a:t>
            </a:r>
          </a:p>
        </p:txBody>
      </p:sp>
      <p:sp>
        <p:nvSpPr>
          <p:cNvPr id="17" name="Oval 16"/>
          <p:cNvSpPr/>
          <p:nvPr/>
        </p:nvSpPr>
        <p:spPr>
          <a:xfrm>
            <a:off x="4249826" y="3044952"/>
            <a:ext cx="329184" cy="329184"/>
          </a:xfrm>
          <a:prstGeom prst="ellipse">
            <a:avLst/>
          </a:prstGeom>
          <a:solidFill>
            <a:srgbClr val="2B9BD6"/>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125114" y="3611880"/>
            <a:ext cx="1051560" cy="329184"/>
          </a:xfrm>
          <a:prstGeom prst="roundRect">
            <a:avLst>
              <a:gd name="adj" fmla="val 50000"/>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25114" y="3611880"/>
            <a:ext cx="1051560" cy="329184"/>
          </a:xfrm>
          <a:prstGeom prst="rect">
            <a:avLst/>
          </a:prstGeom>
          <a:noFill/>
        </p:spPr>
        <p:txBody>
          <a:bodyPr wrap="square" anchor="ctr" lIns="0" rIns="0" tIns="0" bIns="0">
            <a:spAutoFit/>
          </a:bodyPr>
          <a:lstStyle/>
          <a:p>
            <a:pPr algn="ctr">
              <a:lnSpc>
                <a:spcPct val="108000"/>
              </a:lnSpc>
              <a:spcBef>
                <a:spcPts val="0"/>
              </a:spcBef>
              <a:spcAft>
                <a:spcPts val="0"/>
              </a:spcAft>
            </a:pPr>
            <a:r>
              <a:rPr sz="1200" b="1" i="0">
                <a:solidFill>
                  <a:srgbClr val="FFFFFF"/>
                </a:solidFill>
                <a:latin typeface="Segoe UI"/>
              </a:rPr>
              <a:t>TEST</a:t>
            </a:r>
          </a:p>
        </p:txBody>
      </p:sp>
      <p:sp>
        <p:nvSpPr>
          <p:cNvPr id="20" name="TextBox 19"/>
          <p:cNvSpPr txBox="1"/>
          <p:nvPr/>
        </p:nvSpPr>
        <p:spPr>
          <a:xfrm>
            <a:off x="3125114" y="4032504"/>
            <a:ext cx="2743200" cy="118872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12281C"/>
                </a:solidFill>
                <a:latin typeface="Segoe UI Semibold"/>
              </a:rPr>
              <a:t>Pilot on 5–10 farms</a:t>
            </a:r>
          </a:p>
          <a:p>
            <a:pPr algn="l">
              <a:lnSpc>
                <a:spcPct val="105000"/>
              </a:lnSpc>
              <a:spcBef>
                <a:spcPts val="0"/>
              </a:spcBef>
              <a:spcAft>
                <a:spcPts val="0"/>
              </a:spcAft>
            </a:pPr>
            <a:r>
              <a:rPr sz="1100" b="0" i="0">
                <a:solidFill>
                  <a:srgbClr val="5B6B62"/>
                </a:solidFill>
                <a:latin typeface="Calibri"/>
              </a:rPr>
              <a:t>measure input savings, accuracy &amp; uptime</a:t>
            </a:r>
          </a:p>
        </p:txBody>
      </p:sp>
      <p:sp>
        <p:nvSpPr>
          <p:cNvPr id="21" name="Oval 20"/>
          <p:cNvSpPr/>
          <p:nvPr/>
        </p:nvSpPr>
        <p:spPr>
          <a:xfrm>
            <a:off x="7630972" y="3044952"/>
            <a:ext cx="329184" cy="329184"/>
          </a:xfrm>
          <a:prstGeom prst="ellipse">
            <a:avLst/>
          </a:prstGeom>
          <a:solidFill>
            <a:srgbClr val="F2A03D"/>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06260" y="1417320"/>
            <a:ext cx="1051560" cy="329184"/>
          </a:xfrm>
          <a:prstGeom prst="roundRect">
            <a:avLst>
              <a:gd name="adj" fmla="val 50000"/>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6260" y="1417320"/>
            <a:ext cx="1051560" cy="329184"/>
          </a:xfrm>
          <a:prstGeom prst="rect">
            <a:avLst/>
          </a:prstGeom>
          <a:noFill/>
        </p:spPr>
        <p:txBody>
          <a:bodyPr wrap="square" anchor="ctr" lIns="0" rIns="0" tIns="0" bIns="0">
            <a:spAutoFit/>
          </a:bodyPr>
          <a:lstStyle/>
          <a:p>
            <a:pPr algn="ctr">
              <a:lnSpc>
                <a:spcPct val="108000"/>
              </a:lnSpc>
              <a:spcBef>
                <a:spcPts val="0"/>
              </a:spcBef>
              <a:spcAft>
                <a:spcPts val="0"/>
              </a:spcAft>
            </a:pPr>
            <a:r>
              <a:rPr sz="1200" b="1" i="0">
                <a:solidFill>
                  <a:srgbClr val="FFFFFF"/>
                </a:solidFill>
                <a:latin typeface="Segoe UI"/>
              </a:rPr>
              <a:t>ITERATE</a:t>
            </a:r>
          </a:p>
        </p:txBody>
      </p:sp>
      <p:sp>
        <p:nvSpPr>
          <p:cNvPr id="24" name="TextBox 23"/>
          <p:cNvSpPr txBox="1"/>
          <p:nvPr/>
        </p:nvSpPr>
        <p:spPr>
          <a:xfrm>
            <a:off x="6506260" y="1837944"/>
            <a:ext cx="2743200" cy="118872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12281C"/>
                </a:solidFill>
                <a:latin typeface="Segoe UI Semibold"/>
              </a:rPr>
              <a:t>Harden from field data</a:t>
            </a:r>
          </a:p>
          <a:p>
            <a:pPr algn="l">
              <a:lnSpc>
                <a:spcPct val="105000"/>
              </a:lnSpc>
              <a:spcBef>
                <a:spcPts val="0"/>
              </a:spcBef>
              <a:spcAft>
                <a:spcPts val="0"/>
              </a:spcAft>
            </a:pPr>
            <a:r>
              <a:rPr sz="1100" b="0" i="0">
                <a:solidFill>
                  <a:srgbClr val="5B6B62"/>
                </a:solidFill>
                <a:latin typeface="Calibri"/>
              </a:rPr>
              <a:t>tune dosing + AI; seal for dust &amp; 40–45 °C heat</a:t>
            </a:r>
          </a:p>
        </p:txBody>
      </p:sp>
      <p:sp>
        <p:nvSpPr>
          <p:cNvPr id="25" name="Oval 24"/>
          <p:cNvSpPr/>
          <p:nvPr/>
        </p:nvSpPr>
        <p:spPr>
          <a:xfrm>
            <a:off x="11012119" y="3044952"/>
            <a:ext cx="329184" cy="329184"/>
          </a:xfrm>
          <a:prstGeom prst="ellipse">
            <a:avLst/>
          </a:prstGeom>
          <a:solidFill>
            <a:srgbClr val="6A4C93"/>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790127" y="3611880"/>
            <a:ext cx="1051560" cy="32918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90127" y="3611880"/>
            <a:ext cx="1051560" cy="329184"/>
          </a:xfrm>
          <a:prstGeom prst="rect">
            <a:avLst/>
          </a:prstGeom>
          <a:noFill/>
        </p:spPr>
        <p:txBody>
          <a:bodyPr wrap="square" anchor="ctr" lIns="0" rIns="0" tIns="0" bIns="0">
            <a:spAutoFit/>
          </a:bodyPr>
          <a:lstStyle/>
          <a:p>
            <a:pPr algn="ctr">
              <a:lnSpc>
                <a:spcPct val="108000"/>
              </a:lnSpc>
              <a:spcBef>
                <a:spcPts val="0"/>
              </a:spcBef>
              <a:spcAft>
                <a:spcPts val="0"/>
              </a:spcAft>
            </a:pPr>
            <a:r>
              <a:rPr sz="1200" b="1" i="0">
                <a:solidFill>
                  <a:srgbClr val="FFFFFF"/>
                </a:solidFill>
                <a:latin typeface="Segoe UI"/>
              </a:rPr>
              <a:t>SCALE</a:t>
            </a:r>
          </a:p>
        </p:txBody>
      </p:sp>
      <p:sp>
        <p:nvSpPr>
          <p:cNvPr id="28" name="TextBox 27"/>
          <p:cNvSpPr txBox="1"/>
          <p:nvPr/>
        </p:nvSpPr>
        <p:spPr>
          <a:xfrm>
            <a:off x="8790127" y="4032504"/>
            <a:ext cx="2743200" cy="118872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12281C"/>
                </a:solidFill>
                <a:latin typeface="Segoe UI Semibold"/>
              </a:rPr>
              <a:t>FPO / CHC roll-out</a:t>
            </a:r>
          </a:p>
          <a:p>
            <a:pPr algn="l">
              <a:lnSpc>
                <a:spcPct val="105000"/>
              </a:lnSpc>
              <a:spcBef>
                <a:spcPts val="0"/>
              </a:spcBef>
              <a:spcAft>
                <a:spcPts val="0"/>
              </a:spcAft>
            </a:pPr>
            <a:r>
              <a:rPr sz="1100" b="0" i="0">
                <a:solidFill>
                  <a:srgbClr val="5B6B62"/>
                </a:solidFill>
                <a:latin typeface="Calibri"/>
              </a:rPr>
              <a:t>SMAM/AIF support → Rover-as-a-Service + data subscription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TEAM OF 4 &amp; IMPACT</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Built end-to-end at IIT Bombay</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14</a:t>
            </a:r>
          </a:p>
        </p:txBody>
      </p:sp>
      <p:sp>
        <p:nvSpPr>
          <p:cNvPr id="12" name="Rounded Rectangle 11"/>
          <p:cNvSpPr/>
          <p:nvPr/>
        </p:nvSpPr>
        <p:spPr>
          <a:xfrm>
            <a:off x="841248" y="1755648"/>
            <a:ext cx="2394127" cy="210312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 y="1755648"/>
            <a:ext cx="2394127" cy="548640"/>
          </a:xfrm>
          <a:prstGeom prst="round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1248" y="2048256"/>
            <a:ext cx="2394127" cy="25603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81111" y="2103120"/>
            <a:ext cx="914400" cy="914400"/>
          </a:xfrm>
          <a:prstGeom prst="ellipse">
            <a:avLst/>
          </a:prstGeom>
          <a:solidFill>
            <a:srgbClr val="1F9254"/>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81111" y="2103120"/>
            <a:ext cx="914400" cy="914400"/>
          </a:xfrm>
          <a:prstGeom prst="rect">
            <a:avLst/>
          </a:prstGeom>
          <a:noFill/>
        </p:spPr>
        <p:txBody>
          <a:bodyPr wrap="square" anchor="ctr" lIns="0" rIns="0" tIns="0" bIns="0">
            <a:spAutoFit/>
          </a:bodyPr>
          <a:lstStyle/>
          <a:p>
            <a:pPr algn="ctr">
              <a:lnSpc>
                <a:spcPct val="108000"/>
              </a:lnSpc>
              <a:spcBef>
                <a:spcPts val="0"/>
              </a:spcBef>
              <a:spcAft>
                <a:spcPts val="0"/>
              </a:spcAft>
            </a:pPr>
            <a:r>
              <a:rPr sz="2600" b="1" i="0">
                <a:solidFill>
                  <a:srgbClr val="FFFFFF"/>
                </a:solidFill>
                <a:latin typeface="Segoe UI Semibold"/>
              </a:rPr>
              <a:t>HK</a:t>
            </a:r>
          </a:p>
        </p:txBody>
      </p:sp>
      <p:sp>
        <p:nvSpPr>
          <p:cNvPr id="17" name="TextBox 16"/>
          <p:cNvSpPr txBox="1"/>
          <p:nvPr/>
        </p:nvSpPr>
        <p:spPr>
          <a:xfrm>
            <a:off x="950976" y="3127248"/>
            <a:ext cx="2174671" cy="685800"/>
          </a:xfrm>
          <a:prstGeom prst="rect">
            <a:avLst/>
          </a:prstGeom>
          <a:noFill/>
        </p:spPr>
        <p:txBody>
          <a:bodyPr wrap="square" anchor="t" lIns="0" rIns="0" tIns="0" bIns="0">
            <a:spAutoFit/>
          </a:bodyPr>
          <a:lstStyle/>
          <a:p>
            <a:pPr algn="ctr">
              <a:lnSpc>
                <a:spcPct val="98000"/>
              </a:lnSpc>
              <a:spcBef>
                <a:spcPts val="0"/>
              </a:spcBef>
              <a:spcAft>
                <a:spcPts val="300"/>
              </a:spcAft>
            </a:pPr>
            <a:r>
              <a:rPr sz="1350" b="1" i="0">
                <a:solidFill>
                  <a:srgbClr val="12281C"/>
                </a:solidFill>
                <a:latin typeface="Segoe UI Semibold"/>
              </a:rPr>
              <a:t>Hitanshu Kapadiya</a:t>
            </a:r>
          </a:p>
          <a:p>
            <a:pPr algn="ctr">
              <a:lnSpc>
                <a:spcPct val="100000"/>
              </a:lnSpc>
              <a:spcBef>
                <a:spcPts val="0"/>
              </a:spcBef>
              <a:spcAft>
                <a:spcPts val="0"/>
              </a:spcAft>
            </a:pPr>
            <a:r>
              <a:rPr sz="1100" b="1" i="0">
                <a:solidFill>
                  <a:srgbClr val="1F9254"/>
                </a:solidFill>
                <a:latin typeface="Calibri"/>
              </a:rPr>
              <a:t>Mechanical Engineering</a:t>
            </a:r>
          </a:p>
        </p:txBody>
      </p:sp>
      <p:sp>
        <p:nvSpPr>
          <p:cNvPr id="18" name="Rounded Rectangle 17"/>
          <p:cNvSpPr/>
          <p:nvPr/>
        </p:nvSpPr>
        <p:spPr>
          <a:xfrm>
            <a:off x="3546271" y="1755648"/>
            <a:ext cx="2394127" cy="210312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46271" y="1755648"/>
            <a:ext cx="2394127" cy="548640"/>
          </a:xfrm>
          <a:prstGeom prst="round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546271" y="2048256"/>
            <a:ext cx="2394127" cy="25603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286135" y="2103120"/>
            <a:ext cx="914400" cy="914400"/>
          </a:xfrm>
          <a:prstGeom prst="ellipse">
            <a:avLst/>
          </a:prstGeom>
          <a:solidFill>
            <a:srgbClr val="2B9BD6"/>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86135" y="2103120"/>
            <a:ext cx="914400" cy="914400"/>
          </a:xfrm>
          <a:prstGeom prst="rect">
            <a:avLst/>
          </a:prstGeom>
          <a:noFill/>
        </p:spPr>
        <p:txBody>
          <a:bodyPr wrap="square" anchor="ctr" lIns="0" rIns="0" tIns="0" bIns="0">
            <a:spAutoFit/>
          </a:bodyPr>
          <a:lstStyle/>
          <a:p>
            <a:pPr algn="ctr">
              <a:lnSpc>
                <a:spcPct val="108000"/>
              </a:lnSpc>
              <a:spcBef>
                <a:spcPts val="0"/>
              </a:spcBef>
              <a:spcAft>
                <a:spcPts val="0"/>
              </a:spcAft>
            </a:pPr>
            <a:r>
              <a:rPr sz="2600" b="1" i="0">
                <a:solidFill>
                  <a:srgbClr val="FFFFFF"/>
                </a:solidFill>
                <a:latin typeface="Segoe UI Semibold"/>
              </a:rPr>
              <a:t>VG</a:t>
            </a:r>
          </a:p>
        </p:txBody>
      </p:sp>
      <p:sp>
        <p:nvSpPr>
          <p:cNvPr id="23" name="TextBox 22"/>
          <p:cNvSpPr txBox="1"/>
          <p:nvPr/>
        </p:nvSpPr>
        <p:spPr>
          <a:xfrm>
            <a:off x="3655999" y="3127248"/>
            <a:ext cx="2174671" cy="685800"/>
          </a:xfrm>
          <a:prstGeom prst="rect">
            <a:avLst/>
          </a:prstGeom>
          <a:noFill/>
        </p:spPr>
        <p:txBody>
          <a:bodyPr wrap="square" anchor="t" lIns="0" rIns="0" tIns="0" bIns="0">
            <a:spAutoFit/>
          </a:bodyPr>
          <a:lstStyle/>
          <a:p>
            <a:pPr algn="ctr">
              <a:lnSpc>
                <a:spcPct val="98000"/>
              </a:lnSpc>
              <a:spcBef>
                <a:spcPts val="0"/>
              </a:spcBef>
              <a:spcAft>
                <a:spcPts val="300"/>
              </a:spcAft>
            </a:pPr>
            <a:r>
              <a:rPr sz="1350" b="1" i="0">
                <a:solidFill>
                  <a:srgbClr val="12281C"/>
                </a:solidFill>
                <a:latin typeface="Segoe UI Semibold"/>
              </a:rPr>
              <a:t>Vivek Gupta</a:t>
            </a:r>
          </a:p>
          <a:p>
            <a:pPr algn="ctr">
              <a:lnSpc>
                <a:spcPct val="100000"/>
              </a:lnSpc>
              <a:spcBef>
                <a:spcPts val="0"/>
              </a:spcBef>
              <a:spcAft>
                <a:spcPts val="0"/>
              </a:spcAft>
            </a:pPr>
            <a:r>
              <a:rPr sz="1100" b="1" i="0">
                <a:solidFill>
                  <a:srgbClr val="2B9BD6"/>
                </a:solidFill>
                <a:latin typeface="Calibri"/>
              </a:rPr>
              <a:t>Mechanical Engineering</a:t>
            </a:r>
          </a:p>
        </p:txBody>
      </p:sp>
      <p:sp>
        <p:nvSpPr>
          <p:cNvPr id="24" name="Rounded Rectangle 23"/>
          <p:cNvSpPr/>
          <p:nvPr/>
        </p:nvSpPr>
        <p:spPr>
          <a:xfrm>
            <a:off x="6251295" y="1755648"/>
            <a:ext cx="2394127" cy="210312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51295" y="1755648"/>
            <a:ext cx="2394127" cy="548640"/>
          </a:xfrm>
          <a:prstGeom prst="round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1295" y="2048256"/>
            <a:ext cx="2394127"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91159" y="2103120"/>
            <a:ext cx="914400" cy="914400"/>
          </a:xfrm>
          <a:prstGeom prst="ellipse">
            <a:avLst/>
          </a:prstGeom>
          <a:solidFill>
            <a:srgbClr val="6A4C93"/>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1159" y="2103120"/>
            <a:ext cx="914400" cy="914400"/>
          </a:xfrm>
          <a:prstGeom prst="rect">
            <a:avLst/>
          </a:prstGeom>
          <a:noFill/>
        </p:spPr>
        <p:txBody>
          <a:bodyPr wrap="square" anchor="ctr" lIns="0" rIns="0" tIns="0" bIns="0">
            <a:spAutoFit/>
          </a:bodyPr>
          <a:lstStyle/>
          <a:p>
            <a:pPr algn="ctr">
              <a:lnSpc>
                <a:spcPct val="108000"/>
              </a:lnSpc>
              <a:spcBef>
                <a:spcPts val="0"/>
              </a:spcBef>
              <a:spcAft>
                <a:spcPts val="0"/>
              </a:spcAft>
            </a:pPr>
            <a:r>
              <a:rPr sz="2600" b="1" i="0">
                <a:solidFill>
                  <a:srgbClr val="FFFFFF"/>
                </a:solidFill>
                <a:latin typeface="Segoe UI Semibold"/>
              </a:rPr>
              <a:t>SW</a:t>
            </a:r>
          </a:p>
        </p:txBody>
      </p:sp>
      <p:sp>
        <p:nvSpPr>
          <p:cNvPr id="29" name="TextBox 28"/>
          <p:cNvSpPr txBox="1"/>
          <p:nvPr/>
        </p:nvSpPr>
        <p:spPr>
          <a:xfrm>
            <a:off x="6361023" y="3127248"/>
            <a:ext cx="2174671" cy="685800"/>
          </a:xfrm>
          <a:prstGeom prst="rect">
            <a:avLst/>
          </a:prstGeom>
          <a:noFill/>
        </p:spPr>
        <p:txBody>
          <a:bodyPr wrap="square" anchor="t" lIns="0" rIns="0" tIns="0" bIns="0">
            <a:spAutoFit/>
          </a:bodyPr>
          <a:lstStyle/>
          <a:p>
            <a:pPr algn="ctr">
              <a:lnSpc>
                <a:spcPct val="98000"/>
              </a:lnSpc>
              <a:spcBef>
                <a:spcPts val="0"/>
              </a:spcBef>
              <a:spcAft>
                <a:spcPts val="300"/>
              </a:spcAft>
            </a:pPr>
            <a:r>
              <a:rPr sz="1350" b="1" i="0">
                <a:solidFill>
                  <a:srgbClr val="12281C"/>
                </a:solidFill>
                <a:latin typeface="Segoe UI Semibold"/>
              </a:rPr>
              <a:t>Shreyash Wagh</a:t>
            </a:r>
          </a:p>
          <a:p>
            <a:pPr algn="ctr">
              <a:lnSpc>
                <a:spcPct val="100000"/>
              </a:lnSpc>
              <a:spcBef>
                <a:spcPts val="0"/>
              </a:spcBef>
              <a:spcAft>
                <a:spcPts val="0"/>
              </a:spcAft>
            </a:pPr>
            <a:r>
              <a:rPr sz="1100" b="1" i="0">
                <a:solidFill>
                  <a:srgbClr val="6A4C93"/>
                </a:solidFill>
                <a:latin typeface="Calibri"/>
              </a:rPr>
              <a:t>Mechanical Engineering</a:t>
            </a:r>
          </a:p>
        </p:txBody>
      </p:sp>
      <p:sp>
        <p:nvSpPr>
          <p:cNvPr id="30" name="Rounded Rectangle 29"/>
          <p:cNvSpPr/>
          <p:nvPr/>
        </p:nvSpPr>
        <p:spPr>
          <a:xfrm>
            <a:off x="8956319" y="1755648"/>
            <a:ext cx="2394127" cy="2103120"/>
          </a:xfrm>
          <a:prstGeom prst="roundRect">
            <a:avLst>
              <a:gd name="adj" fmla="val 6000"/>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56319" y="1755648"/>
            <a:ext cx="2394127" cy="548640"/>
          </a:xfrm>
          <a:prstGeom prst="round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56319" y="2048256"/>
            <a:ext cx="2394127" cy="256032"/>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96183" y="2103120"/>
            <a:ext cx="914400" cy="914400"/>
          </a:xfrm>
          <a:prstGeom prst="ellipse">
            <a:avLst/>
          </a:prstGeom>
          <a:solidFill>
            <a:srgbClr val="F2A03D"/>
          </a:solidFill>
          <a:ln>
            <a:no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6183" y="2103120"/>
            <a:ext cx="914400" cy="914400"/>
          </a:xfrm>
          <a:prstGeom prst="rect">
            <a:avLst/>
          </a:prstGeom>
          <a:noFill/>
        </p:spPr>
        <p:txBody>
          <a:bodyPr wrap="square" anchor="ctr" lIns="0" rIns="0" tIns="0" bIns="0">
            <a:spAutoFit/>
          </a:bodyPr>
          <a:lstStyle/>
          <a:p>
            <a:pPr algn="ctr">
              <a:lnSpc>
                <a:spcPct val="108000"/>
              </a:lnSpc>
              <a:spcBef>
                <a:spcPts val="0"/>
              </a:spcBef>
              <a:spcAft>
                <a:spcPts val="0"/>
              </a:spcAft>
            </a:pPr>
            <a:r>
              <a:rPr sz="2600" b="1" i="0">
                <a:solidFill>
                  <a:srgbClr val="FFFFFF"/>
                </a:solidFill>
                <a:latin typeface="Segoe UI Semibold"/>
              </a:rPr>
              <a:t>PN</a:t>
            </a:r>
          </a:p>
        </p:txBody>
      </p:sp>
      <p:sp>
        <p:nvSpPr>
          <p:cNvPr id="35" name="TextBox 34"/>
          <p:cNvSpPr txBox="1"/>
          <p:nvPr/>
        </p:nvSpPr>
        <p:spPr>
          <a:xfrm>
            <a:off x="9066047" y="3127248"/>
            <a:ext cx="2174671" cy="685800"/>
          </a:xfrm>
          <a:prstGeom prst="rect">
            <a:avLst/>
          </a:prstGeom>
          <a:noFill/>
        </p:spPr>
        <p:txBody>
          <a:bodyPr wrap="square" anchor="t" lIns="0" rIns="0" tIns="0" bIns="0">
            <a:spAutoFit/>
          </a:bodyPr>
          <a:lstStyle/>
          <a:p>
            <a:pPr algn="ctr">
              <a:lnSpc>
                <a:spcPct val="98000"/>
              </a:lnSpc>
              <a:spcBef>
                <a:spcPts val="0"/>
              </a:spcBef>
              <a:spcAft>
                <a:spcPts val="300"/>
              </a:spcAft>
            </a:pPr>
            <a:r>
              <a:rPr sz="1350" b="1" i="0">
                <a:solidFill>
                  <a:srgbClr val="12281C"/>
                </a:solidFill>
                <a:latin typeface="Segoe UI Semibold"/>
              </a:rPr>
              <a:t>Pritish Nandy</a:t>
            </a:r>
          </a:p>
          <a:p>
            <a:pPr algn="ctr">
              <a:lnSpc>
                <a:spcPct val="100000"/>
              </a:lnSpc>
              <a:spcBef>
                <a:spcPts val="0"/>
              </a:spcBef>
              <a:spcAft>
                <a:spcPts val="0"/>
              </a:spcAft>
            </a:pPr>
            <a:r>
              <a:rPr sz="1100" b="1" i="0">
                <a:solidFill>
                  <a:srgbClr val="F2A03D"/>
                </a:solidFill>
                <a:latin typeface="Calibri"/>
              </a:rPr>
              <a:t>Aerospace Engineering</a:t>
            </a:r>
          </a:p>
        </p:txBody>
      </p:sp>
      <p:sp>
        <p:nvSpPr>
          <p:cNvPr id="36" name="Rounded Rectangle 35"/>
          <p:cNvSpPr/>
          <p:nvPr/>
        </p:nvSpPr>
        <p:spPr>
          <a:xfrm>
            <a:off x="841248" y="4114800"/>
            <a:ext cx="10509199" cy="1600200"/>
          </a:xfrm>
          <a:prstGeom prst="roundRect">
            <a:avLst>
              <a:gd name="adj" fmla="val 4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15568" y="4334256"/>
            <a:ext cx="10006279" cy="1234440"/>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1F9254"/>
                </a:solidFill>
                <a:latin typeface="Segoe UI Semibold"/>
              </a:rPr>
              <a:t>Why us</a:t>
            </a:r>
          </a:p>
          <a:p>
            <a:pPr>
              <a:lnSpc>
                <a:spcPct val="106000"/>
              </a:lnSpc>
              <a:spcAft>
                <a:spcPts val="300"/>
              </a:spcAft>
            </a:pPr>
            <a:r>
              <a:rPr sz="1150" b="1">
                <a:solidFill>
                  <a:srgbClr val="1F9254"/>
                </a:solidFill>
              </a:rPr>
              <a:t>▪  </a:t>
            </a:r>
            <a:r>
              <a:rPr sz="1150">
                <a:solidFill>
                  <a:srgbClr val="12281C"/>
                </a:solidFill>
                <a:latin typeface="Calibri"/>
              </a:rPr>
              <a:t>An IIT Bombay team of 4 that built the full software stack, circuit design and mechanical fabrication — end to end.</a:t>
            </a:r>
          </a:p>
          <a:p>
            <a:pPr algn="l">
              <a:lnSpc>
                <a:spcPct val="108000"/>
              </a:lnSpc>
              <a:spcBef>
                <a:spcPts val="800"/>
              </a:spcBef>
              <a:spcAft>
                <a:spcPts val="300"/>
              </a:spcAft>
            </a:pPr>
            <a:r>
              <a:rPr sz="1350" b="1" i="0">
                <a:solidFill>
                  <a:srgbClr val="1F9254"/>
                </a:solidFill>
                <a:latin typeface="Segoe UI Semibold"/>
              </a:rPr>
              <a:t>Impact</a:t>
            </a:r>
          </a:p>
          <a:p>
            <a:pPr>
              <a:lnSpc>
                <a:spcPct val="106000"/>
              </a:lnSpc>
              <a:spcAft>
                <a:spcPts val="300"/>
              </a:spcAft>
            </a:pPr>
            <a:r>
              <a:rPr sz="1150" b="1">
                <a:solidFill>
                  <a:srgbClr val="1F9254"/>
                </a:solidFill>
              </a:rPr>
              <a:t>▪  </a:t>
            </a:r>
            <a:r>
              <a:rPr sz="1150">
                <a:solidFill>
                  <a:srgbClr val="12281C"/>
                </a:solidFill>
                <a:latin typeface="Calibri"/>
              </a:rPr>
              <a:t>Lower input cost, less runoff, healthier soil and higher net income — affordable precision farming for every smallholder.</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F2A03D"/>
                </a:solidFill>
                <a:latin typeface="Segoe UI Semibold"/>
              </a:rPr>
              <a:t>BUDGET &amp; BUILD TIERS</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Affordable, modular, costed</a:t>
            </a:r>
          </a:p>
        </p:txBody>
      </p:sp>
      <p:sp>
        <p:nvSpPr>
          <p:cNvPr id="6" name="Rectangle 5"/>
          <p:cNvSpPr/>
          <p:nvPr/>
        </p:nvSpPr>
        <p:spPr>
          <a:xfrm>
            <a:off x="841248" y="1371600"/>
            <a:ext cx="1371600" cy="50292"/>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15</a:t>
            </a:r>
          </a:p>
        </p:txBody>
      </p:sp>
      <p:sp>
        <p:nvSpPr>
          <p:cNvPr id="12" name="Rectangle 11"/>
          <p:cNvSpPr/>
          <p:nvPr/>
        </p:nvSpPr>
        <p:spPr>
          <a:xfrm>
            <a:off x="786384" y="2187035"/>
            <a:ext cx="6693408" cy="2886264"/>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st_tiers.png"/>
          <p:cNvPicPr>
            <a:picLocks noChangeAspect="1"/>
          </p:cNvPicPr>
          <p:nvPr/>
        </p:nvPicPr>
        <p:blipFill>
          <a:blip r:embed="rId2"/>
          <a:stretch>
            <a:fillRect/>
          </a:stretch>
        </p:blipFill>
        <p:spPr>
          <a:xfrm>
            <a:off x="841248" y="2241899"/>
            <a:ext cx="6583680" cy="2776536"/>
          </a:xfrm>
          <a:prstGeom prst="rect">
            <a:avLst/>
          </a:prstGeom>
        </p:spPr>
      </p:pic>
      <p:sp>
        <p:nvSpPr>
          <p:cNvPr id="14" name="Rounded Rectangle 13"/>
          <p:cNvSpPr/>
          <p:nvPr/>
        </p:nvSpPr>
        <p:spPr>
          <a:xfrm>
            <a:off x="7699248" y="1755648"/>
            <a:ext cx="3651199" cy="3931920"/>
          </a:xfrm>
          <a:prstGeom prst="roundRect">
            <a:avLst>
              <a:gd name="adj" fmla="val 4000"/>
            </a:avLst>
          </a:prstGeom>
          <a:solidFill>
            <a:srgbClr val="EEF4EC"/>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73568" y="1975104"/>
            <a:ext cx="3148279" cy="3566160"/>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1F9254"/>
                </a:solidFill>
                <a:latin typeface="Segoe UI Semibold"/>
              </a:rPr>
              <a:t>Build tiers (India prices)</a:t>
            </a:r>
          </a:p>
          <a:p>
            <a:pPr>
              <a:lnSpc>
                <a:spcPct val="106000"/>
              </a:lnSpc>
              <a:spcAft>
                <a:spcPts val="300"/>
              </a:spcAft>
            </a:pPr>
            <a:r>
              <a:rPr sz="1150" b="1">
                <a:solidFill>
                  <a:srgbClr val="1F9254"/>
                </a:solidFill>
              </a:rPr>
              <a:t>▪  </a:t>
            </a:r>
            <a:r>
              <a:rPr sz="1150">
                <a:solidFill>
                  <a:srgbClr val="12281C"/>
                </a:solidFill>
                <a:latin typeface="Calibri"/>
              </a:rPr>
              <a:t>Core / demo: ₹8,000–14,000</a:t>
            </a:r>
          </a:p>
          <a:p>
            <a:pPr>
              <a:lnSpc>
                <a:spcPct val="106000"/>
              </a:lnSpc>
              <a:spcAft>
                <a:spcPts val="300"/>
              </a:spcAft>
            </a:pPr>
            <a:r>
              <a:rPr sz="1150" b="1">
                <a:solidFill>
                  <a:srgbClr val="1F9254"/>
                </a:solidFill>
              </a:rPr>
              <a:t>▪  </a:t>
            </a:r>
            <a:r>
              <a:rPr sz="1150">
                <a:solidFill>
                  <a:srgbClr val="12281C"/>
                </a:solidFill>
                <a:latin typeface="Calibri"/>
              </a:rPr>
              <a:t>Core + Navigation: ₹12,000–20,000</a:t>
            </a:r>
          </a:p>
          <a:p>
            <a:pPr>
              <a:lnSpc>
                <a:spcPct val="106000"/>
              </a:lnSpc>
              <a:spcAft>
                <a:spcPts val="300"/>
              </a:spcAft>
            </a:pPr>
            <a:r>
              <a:rPr sz="1150" b="1">
                <a:solidFill>
                  <a:srgbClr val="1F9254"/>
                </a:solidFill>
              </a:rPr>
              <a:t>▪  </a:t>
            </a:r>
            <a:r>
              <a:rPr sz="1150">
                <a:solidFill>
                  <a:srgbClr val="12281C"/>
                </a:solidFill>
                <a:latin typeface="Calibri"/>
              </a:rPr>
              <a:t>Full AI build: ₹27,000–48,000</a:t>
            </a:r>
          </a:p>
          <a:p>
            <a:pPr algn="l">
              <a:lnSpc>
                <a:spcPct val="108000"/>
              </a:lnSpc>
              <a:spcBef>
                <a:spcPts val="800"/>
              </a:spcBef>
              <a:spcAft>
                <a:spcPts val="300"/>
              </a:spcAft>
            </a:pPr>
            <a:r>
              <a:rPr sz="1350" b="1" i="0">
                <a:solidFill>
                  <a:srgbClr val="1F9254"/>
                </a:solidFill>
                <a:latin typeface="Segoe UI Semibold"/>
              </a:rPr>
              <a:t>Notes</a:t>
            </a:r>
          </a:p>
          <a:p>
            <a:pPr>
              <a:lnSpc>
                <a:spcPct val="106000"/>
              </a:lnSpc>
              <a:spcAft>
                <a:spcPts val="300"/>
              </a:spcAft>
            </a:pPr>
            <a:r>
              <a:rPr sz="1150" b="1">
                <a:solidFill>
                  <a:srgbClr val="1F9254"/>
                </a:solidFill>
              </a:rPr>
              <a:t>▪  </a:t>
            </a:r>
            <a:r>
              <a:rPr sz="1150">
                <a:solidFill>
                  <a:srgbClr val="12281C"/>
                </a:solidFill>
                <a:latin typeface="Calibri"/>
              </a:rPr>
              <a:t>Off-the-shelf parts; software is free.</a:t>
            </a:r>
          </a:p>
          <a:p>
            <a:pPr>
              <a:lnSpc>
                <a:spcPct val="106000"/>
              </a:lnSpc>
              <a:spcAft>
                <a:spcPts val="300"/>
              </a:spcAft>
            </a:pPr>
            <a:r>
              <a:rPr sz="1150" b="1">
                <a:solidFill>
                  <a:srgbClr val="1F9254"/>
                </a:solidFill>
              </a:rPr>
              <a:t>▪  </a:t>
            </a:r>
            <a:r>
              <a:rPr sz="1150">
                <a:solidFill>
                  <a:srgbClr val="12281C"/>
                </a:solidFill>
                <a:latin typeface="Calibri"/>
              </a:rPr>
              <a:t>3D-printed parts are PETG, not bought.</a:t>
            </a:r>
          </a:p>
          <a:p>
            <a:pPr>
              <a:lnSpc>
                <a:spcPct val="106000"/>
              </a:lnSpc>
              <a:spcAft>
                <a:spcPts val="300"/>
              </a:spcAft>
            </a:pPr>
            <a:r>
              <a:rPr sz="1150" b="1">
                <a:solidFill>
                  <a:srgbClr val="1F9254"/>
                </a:solidFill>
              </a:rPr>
              <a:t>▪  </a:t>
            </a:r>
            <a:r>
              <a:rPr sz="1150">
                <a:solidFill>
                  <a:srgbClr val="12281C"/>
                </a:solidFill>
                <a:latin typeface="Calibri"/>
              </a:rPr>
              <a:t>Verify prices before ordering.</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3B2A"/>
              </a:gs>
              <a:gs pos="100000">
                <a:srgbClr val="07271B"/>
              </a:gs>
            </a:gsLst>
            <a:lin scaled="0" ang="183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6FB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052560" y="2743200"/>
            <a:ext cx="5120640" cy="5120640"/>
          </a:xfrm>
          <a:prstGeom prst="ellipse">
            <a:avLst/>
          </a:prstGeom>
          <a:solidFill>
            <a:srgbClr val="1F925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463040" y="-1463040"/>
            <a:ext cx="3291840" cy="3291840"/>
          </a:xfrm>
          <a:prstGeom prst="ellipse">
            <a:avLst/>
          </a:prstGeom>
          <a:solidFill>
            <a:srgbClr val="6FBF44">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41248" y="640080"/>
            <a:ext cx="457200" cy="457200"/>
          </a:xfrm>
          <a:prstGeom prst="roundRect">
            <a:avLst>
              <a:gd name="adj" fmla="val 28000"/>
            </a:avLst>
          </a:prstGeom>
          <a:solidFill>
            <a:srgbClr val="6FB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ardrop 6"/>
          <p:cNvSpPr/>
          <p:nvPr/>
        </p:nvSpPr>
        <p:spPr>
          <a:xfrm rot="8100000">
            <a:off x="950976" y="704088"/>
            <a:ext cx="237744" cy="283464"/>
          </a:xfrm>
          <a:prstGeom prst="teardrop">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08176" y="603503"/>
            <a:ext cx="2743200" cy="530352"/>
          </a:xfrm>
          <a:prstGeom prst="rect">
            <a:avLst/>
          </a:prstGeom>
          <a:noFill/>
        </p:spPr>
        <p:txBody>
          <a:bodyPr wrap="square" anchor="ctr" lIns="0" rIns="0" tIns="0" bIns="0">
            <a:spAutoFit/>
          </a:bodyPr>
          <a:lstStyle/>
          <a:p>
            <a:pPr algn="l"/>
            <a:r>
              <a:rPr sz="1700" b="1">
                <a:solidFill>
                  <a:srgbClr val="FFFFFF"/>
                </a:solidFill>
                <a:latin typeface="Segoe UI Semibold"/>
              </a:rPr>
              <a:t>Agri</a:t>
            </a:r>
            <a:r>
              <a:rPr sz="1700" b="1">
                <a:solidFill>
                  <a:srgbClr val="6FBF44"/>
                </a:solidFill>
                <a:latin typeface="Segoe UI Semibold"/>
              </a:rPr>
              <a:t>Rover</a:t>
            </a:r>
          </a:p>
        </p:txBody>
      </p:sp>
      <p:sp>
        <p:nvSpPr>
          <p:cNvPr id="9" name="TextBox 8"/>
          <p:cNvSpPr txBox="1"/>
          <p:nvPr/>
        </p:nvSpPr>
        <p:spPr>
          <a:xfrm>
            <a:off x="841248" y="2011680"/>
            <a:ext cx="10058400" cy="1097280"/>
          </a:xfrm>
          <a:prstGeom prst="rect">
            <a:avLst/>
          </a:prstGeom>
          <a:noFill/>
        </p:spPr>
        <p:txBody>
          <a:bodyPr wrap="square" anchor="t" lIns="0" rIns="0" tIns="0" bIns="0">
            <a:spAutoFit/>
          </a:bodyPr>
          <a:lstStyle/>
          <a:p>
            <a:pPr algn="l">
              <a:lnSpc>
                <a:spcPct val="108000"/>
              </a:lnSpc>
              <a:spcBef>
                <a:spcPts val="0"/>
              </a:spcBef>
              <a:spcAft>
                <a:spcPts val="0"/>
              </a:spcAft>
            </a:pPr>
            <a:r>
              <a:rPr sz="5400" b="1" i="0">
                <a:solidFill>
                  <a:srgbClr val="FFFFFF"/>
                </a:solidFill>
                <a:latin typeface="Segoe UI Semibold"/>
              </a:rPr>
              <a:t>Thank you.</a:t>
            </a:r>
          </a:p>
        </p:txBody>
      </p:sp>
      <p:sp>
        <p:nvSpPr>
          <p:cNvPr id="10" name="TextBox 9"/>
          <p:cNvSpPr txBox="1"/>
          <p:nvPr/>
        </p:nvSpPr>
        <p:spPr>
          <a:xfrm>
            <a:off x="841248" y="3154680"/>
            <a:ext cx="10241280" cy="548640"/>
          </a:xfrm>
          <a:prstGeom prst="rect">
            <a:avLst/>
          </a:prstGeom>
          <a:noFill/>
        </p:spPr>
        <p:txBody>
          <a:bodyPr wrap="square" anchor="t" lIns="0" rIns="0" tIns="0" bIns="0">
            <a:spAutoFit/>
          </a:bodyPr>
          <a:lstStyle/>
          <a:p>
            <a:pPr algn="l">
              <a:lnSpc>
                <a:spcPct val="108000"/>
              </a:lnSpc>
              <a:spcBef>
                <a:spcPts val="0"/>
              </a:spcBef>
              <a:spcAft>
                <a:spcPts val="0"/>
              </a:spcAft>
            </a:pPr>
            <a:r>
              <a:rPr sz="2000" b="0" i="0">
                <a:solidFill>
                  <a:srgbClr val="D9EAD9"/>
                </a:solidFill>
                <a:latin typeface="Calibri"/>
              </a:rPr>
              <a:t>Precision farming for every small farm.</a:t>
            </a:r>
          </a:p>
        </p:txBody>
      </p:sp>
      <p:sp>
        <p:nvSpPr>
          <p:cNvPr id="11" name="TextBox 10"/>
          <p:cNvSpPr txBox="1"/>
          <p:nvPr/>
        </p:nvSpPr>
        <p:spPr>
          <a:xfrm>
            <a:off x="841248" y="3840480"/>
            <a:ext cx="10241280" cy="365760"/>
          </a:xfrm>
          <a:prstGeom prst="rect">
            <a:avLst/>
          </a:prstGeom>
          <a:noFill/>
        </p:spPr>
        <p:txBody>
          <a:bodyPr wrap="square" anchor="t" lIns="0" rIns="0" tIns="0" bIns="0">
            <a:spAutoFit/>
          </a:bodyPr>
          <a:lstStyle/>
          <a:p>
            <a:pPr algn="l">
              <a:lnSpc>
                <a:spcPct val="108000"/>
              </a:lnSpc>
              <a:spcBef>
                <a:spcPts val="0"/>
              </a:spcBef>
              <a:spcAft>
                <a:spcPts val="0"/>
              </a:spcAft>
            </a:pPr>
            <a:r>
              <a:rPr sz="1300" b="1" i="0">
                <a:solidFill>
                  <a:srgbClr val="F2A03D"/>
                </a:solidFill>
                <a:latin typeface="Segoe UI Semibold"/>
              </a:rPr>
              <a:t>OUR ASK</a:t>
            </a:r>
          </a:p>
        </p:txBody>
      </p:sp>
      <p:sp>
        <p:nvSpPr>
          <p:cNvPr id="12" name="TextBox 11"/>
          <p:cNvSpPr txBox="1"/>
          <p:nvPr/>
        </p:nvSpPr>
        <p:spPr>
          <a:xfrm>
            <a:off x="841248" y="4160520"/>
            <a:ext cx="10241280" cy="1280160"/>
          </a:xfrm>
          <a:prstGeom prst="rect">
            <a:avLst/>
          </a:prstGeom>
          <a:noFill/>
        </p:spPr>
        <p:txBody>
          <a:bodyPr wrap="square" anchor="t" lIns="0" rIns="0" tIns="0" bIns="0">
            <a:spAutoFit/>
          </a:bodyPr>
          <a:lstStyle/>
          <a:p>
            <a:pPr>
              <a:lnSpc>
                <a:spcPct val="106000"/>
              </a:lnSpc>
              <a:spcAft>
                <a:spcPts val="900"/>
              </a:spcAft>
            </a:pPr>
            <a:r>
              <a:rPr sz="1400" b="1">
                <a:solidFill>
                  <a:srgbClr val="6FBF44"/>
                </a:solidFill>
                <a:latin typeface="Segoe UI Semibold"/>
              </a:rPr>
              <a:t>▸  </a:t>
            </a:r>
            <a:r>
              <a:rPr sz="1400" b="1">
                <a:solidFill>
                  <a:srgbClr val="EAF3EA"/>
                </a:solidFill>
                <a:latin typeface="Calibri"/>
              </a:rPr>
              <a:t>Mentorship &amp; a pilot</a:t>
            </a:r>
            <a:r>
              <a:rPr sz="1250" b="0">
                <a:solidFill>
                  <a:srgbClr val="5B6B62"/>
                </a:solidFill>
                <a:latin typeface="Calibri"/>
              </a:rPr>
              <a:t>  —  field access via an FPO / Custom Hiring Centre</a:t>
            </a:r>
          </a:p>
          <a:p>
            <a:pPr>
              <a:lnSpc>
                <a:spcPct val="106000"/>
              </a:lnSpc>
              <a:spcAft>
                <a:spcPts val="900"/>
              </a:spcAft>
            </a:pPr>
            <a:r>
              <a:rPr sz="1400" b="1">
                <a:solidFill>
                  <a:srgbClr val="6FBF44"/>
                </a:solidFill>
                <a:latin typeface="Segoe UI Semibold"/>
              </a:rPr>
              <a:t>▸  </a:t>
            </a:r>
            <a:r>
              <a:rPr sz="1400" b="1">
                <a:solidFill>
                  <a:srgbClr val="EAF3EA"/>
                </a:solidFill>
                <a:latin typeface="Calibri"/>
              </a:rPr>
              <a:t>Seed support</a:t>
            </a:r>
            <a:r>
              <a:rPr sz="1250" b="0">
                <a:solidFill>
                  <a:srgbClr val="5B6B62"/>
                </a:solidFill>
                <a:latin typeface="Calibri"/>
              </a:rPr>
              <a:t>  —  to build the hardware prototype and run the first pilots</a:t>
            </a:r>
          </a:p>
        </p:txBody>
      </p:sp>
      <p:sp>
        <p:nvSpPr>
          <p:cNvPr id="13" name="Rectangle 12"/>
          <p:cNvSpPr/>
          <p:nvPr/>
        </p:nvSpPr>
        <p:spPr>
          <a:xfrm>
            <a:off x="841248" y="5440680"/>
            <a:ext cx="10515600" cy="18288"/>
          </a:xfrm>
          <a:prstGeom prst="rect">
            <a:avLst/>
          </a:prstGeom>
          <a:solidFill>
            <a:srgbClr val="275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59552"/>
            <a:ext cx="10607040" cy="822960"/>
          </a:xfrm>
          <a:prstGeom prst="rect">
            <a:avLst/>
          </a:prstGeom>
          <a:noFill/>
        </p:spPr>
        <p:txBody>
          <a:bodyPr wrap="square" anchor="t" lIns="0" rIns="0" tIns="0" bIns="0">
            <a:spAutoFit/>
          </a:bodyPr>
          <a:lstStyle/>
          <a:p>
            <a:pPr algn="l">
              <a:lnSpc>
                <a:spcPct val="108000"/>
              </a:lnSpc>
              <a:spcBef>
                <a:spcPts val="0"/>
              </a:spcBef>
              <a:spcAft>
                <a:spcPts val="400"/>
              </a:spcAft>
            </a:pPr>
            <a:r>
              <a:rPr sz="1300" b="1" i="0">
                <a:solidFill>
                  <a:srgbClr val="FFFFFF"/>
                </a:solidFill>
                <a:latin typeface="Calibri"/>
              </a:rPr>
              <a:t>Hitanshu Kapadiya · Vivek Gupta · Shreyash Wagh · Pritish Nandy</a:t>
            </a:r>
          </a:p>
          <a:p>
            <a:pPr algn="l">
              <a:lnSpc>
                <a:spcPct val="108000"/>
              </a:lnSpc>
              <a:spcBef>
                <a:spcPts val="0"/>
              </a:spcBef>
              <a:spcAft>
                <a:spcPts val="0"/>
              </a:spcAft>
            </a:pPr>
            <a:r>
              <a:rPr sz="1200" b="0" i="0">
                <a:solidFill>
                  <a:srgbClr val="9FC2AC"/>
                </a:solidFill>
                <a:latin typeface="Calibri"/>
              </a:rPr>
              <a:t>IIT Bombay  ·  IITB–Groww INV.ENT  ·  Track A</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3B2A"/>
              </a:gs>
              <a:gs pos="100000">
                <a:srgbClr val="07271B"/>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023360" cy="4023360"/>
          </a:xfrm>
          <a:prstGeom prst="ellipse">
            <a:avLst/>
          </a:prstGeom>
          <a:solidFill>
            <a:srgbClr val="1F9254">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6858000"/>
          </a:xfrm>
          <a:prstGeom prst="rect">
            <a:avLst/>
          </a:prstGeom>
          <a:solidFill>
            <a:srgbClr val="6FB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743200"/>
            <a:ext cx="9601200" cy="365760"/>
          </a:xfrm>
          <a:prstGeom prst="rect">
            <a:avLst/>
          </a:prstGeom>
          <a:noFill/>
        </p:spPr>
        <p:txBody>
          <a:bodyPr wrap="square" anchor="t" lIns="0" rIns="0" tIns="0" bIns="0">
            <a:spAutoFit/>
          </a:bodyPr>
          <a:lstStyle/>
          <a:p>
            <a:pPr algn="l">
              <a:lnSpc>
                <a:spcPct val="108000"/>
              </a:lnSpc>
              <a:spcBef>
                <a:spcPts val="0"/>
              </a:spcBef>
              <a:spcAft>
                <a:spcPts val="0"/>
              </a:spcAft>
            </a:pPr>
            <a:r>
              <a:rPr sz="1500" b="1" i="0">
                <a:solidFill>
                  <a:srgbClr val="F2A03D"/>
                </a:solidFill>
                <a:latin typeface="Segoe UI Semibold"/>
              </a:rPr>
              <a:t>APPENDIX</a:t>
            </a:r>
          </a:p>
        </p:txBody>
      </p:sp>
      <p:sp>
        <p:nvSpPr>
          <p:cNvPr id="6" name="TextBox 5"/>
          <p:cNvSpPr txBox="1"/>
          <p:nvPr/>
        </p:nvSpPr>
        <p:spPr>
          <a:xfrm>
            <a:off x="841248" y="3063240"/>
            <a:ext cx="10241280" cy="1097280"/>
          </a:xfrm>
          <a:prstGeom prst="rect">
            <a:avLst/>
          </a:prstGeom>
          <a:noFill/>
        </p:spPr>
        <p:txBody>
          <a:bodyPr wrap="square" anchor="t" lIns="0" rIns="0" tIns="0" bIns="0">
            <a:spAutoFit/>
          </a:bodyPr>
          <a:lstStyle/>
          <a:p>
            <a:pPr algn="l">
              <a:lnSpc>
                <a:spcPct val="108000"/>
              </a:lnSpc>
              <a:spcBef>
                <a:spcPts val="0"/>
              </a:spcBef>
              <a:spcAft>
                <a:spcPts val="0"/>
              </a:spcAft>
            </a:pPr>
            <a:r>
              <a:rPr sz="4200" b="1" i="0">
                <a:solidFill>
                  <a:srgbClr val="FFFFFF"/>
                </a:solidFill>
                <a:latin typeface="Segoe UI Semibold"/>
              </a:rPr>
              <a:t>Engineering Depth</a:t>
            </a:r>
          </a:p>
        </p:txBody>
      </p:sp>
      <p:sp>
        <p:nvSpPr>
          <p:cNvPr id="7" name="TextBox 6"/>
          <p:cNvSpPr txBox="1"/>
          <p:nvPr/>
        </p:nvSpPr>
        <p:spPr>
          <a:xfrm>
            <a:off x="841248" y="4114800"/>
            <a:ext cx="9875520" cy="548640"/>
          </a:xfrm>
          <a:prstGeom prst="rect">
            <a:avLst/>
          </a:prstGeom>
          <a:noFill/>
        </p:spPr>
        <p:txBody>
          <a:bodyPr wrap="square" anchor="t" lIns="0" rIns="0" tIns="0" bIns="0">
            <a:spAutoFit/>
          </a:bodyPr>
          <a:lstStyle/>
          <a:p>
            <a:pPr algn="l">
              <a:lnSpc>
                <a:spcPct val="108000"/>
              </a:lnSpc>
              <a:spcBef>
                <a:spcPts val="0"/>
              </a:spcBef>
              <a:spcAft>
                <a:spcPts val="0"/>
              </a:spcAft>
            </a:pPr>
            <a:r>
              <a:rPr sz="1600" b="0" i="0">
                <a:solidFill>
                  <a:srgbClr val="CFE6D8"/>
                </a:solidFill>
                <a:latin typeface="Calibri"/>
              </a:rPr>
              <a:t>Verified circuit, drive, mechanical layout &amp; field-risk engineering.</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2B9BD6"/>
                </a:solidFill>
                <a:latin typeface="Segoe UI Semibold"/>
              </a:rPr>
              <a:t>APPENDIX · ELECTRONICS</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Every wire accounted for</a:t>
            </a:r>
          </a:p>
        </p:txBody>
      </p:sp>
      <p:sp>
        <p:nvSpPr>
          <p:cNvPr id="6" name="Rectangle 5"/>
          <p:cNvSpPr/>
          <p:nvPr/>
        </p:nvSpPr>
        <p:spPr>
          <a:xfrm>
            <a:off x="841248" y="1371600"/>
            <a:ext cx="1371600" cy="5029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18</a:t>
            </a:r>
          </a:p>
        </p:txBody>
      </p:sp>
      <p:sp>
        <p:nvSpPr>
          <p:cNvPr id="12" name="TextBox 11"/>
          <p:cNvSpPr txBox="1"/>
          <p:nvPr/>
        </p:nvSpPr>
        <p:spPr>
          <a:xfrm>
            <a:off x="841248" y="1645920"/>
            <a:ext cx="10509199" cy="411480"/>
          </a:xfrm>
          <a:prstGeom prst="rect">
            <a:avLst/>
          </a:prstGeom>
          <a:noFill/>
        </p:spPr>
        <p:txBody>
          <a:bodyPr wrap="square" anchor="t" lIns="0" rIns="0" tIns="0" bIns="0">
            <a:spAutoFit/>
          </a:bodyPr>
          <a:lstStyle/>
          <a:p>
            <a:pPr algn="l">
              <a:lnSpc>
                <a:spcPct val="105000"/>
              </a:lnSpc>
              <a:spcBef>
                <a:spcPts val="0"/>
              </a:spcBef>
              <a:spcAft>
                <a:spcPts val="600"/>
              </a:spcAft>
            </a:pPr>
            <a:r>
              <a:rPr sz="1300" b="0" i="0">
                <a:solidFill>
                  <a:srgbClr val="5B6B62"/>
                </a:solidFill>
                <a:latin typeface="Calibri"/>
              </a:rPr>
              <a:t>110 BOM components + 15 gap-audit items — every bus, divider and safety part placed.</a:t>
            </a:r>
          </a:p>
        </p:txBody>
      </p:sp>
      <p:sp>
        <p:nvSpPr>
          <p:cNvPr id="13" name="Rectangle 12"/>
          <p:cNvSpPr/>
          <p:nvPr/>
        </p:nvSpPr>
        <p:spPr>
          <a:xfrm>
            <a:off x="3415637" y="2139696"/>
            <a:ext cx="5360419" cy="3867912"/>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iring.png"/>
          <p:cNvPicPr>
            <a:picLocks noChangeAspect="1"/>
          </p:cNvPicPr>
          <p:nvPr/>
        </p:nvPicPr>
        <p:blipFill>
          <a:blip r:embed="rId2"/>
          <a:stretch>
            <a:fillRect/>
          </a:stretch>
        </p:blipFill>
        <p:spPr>
          <a:xfrm>
            <a:off x="3470501" y="2194560"/>
            <a:ext cx="5250691" cy="3758184"/>
          </a:xfrm>
          <a:prstGeom prst="rect">
            <a:avLst/>
          </a:prstGeom>
        </p:spPr>
      </p:pic>
      <p:sp>
        <p:nvSpPr>
          <p:cNvPr id="15" name="TextBox 14"/>
          <p:cNvSpPr txBox="1"/>
          <p:nvPr/>
        </p:nvSpPr>
        <p:spPr>
          <a:xfrm>
            <a:off x="841248" y="5971031"/>
            <a:ext cx="10509199" cy="310896"/>
          </a:xfrm>
          <a:prstGeom prst="rect">
            <a:avLst/>
          </a:prstGeom>
          <a:noFill/>
        </p:spPr>
        <p:txBody>
          <a:bodyPr wrap="square" anchor="t" lIns="0" rIns="0" tIns="0" bIns="0">
            <a:spAutoFit/>
          </a:bodyPr>
          <a:lstStyle/>
          <a:p>
            <a:pPr algn="ctr">
              <a:lnSpc>
                <a:spcPct val="108000"/>
              </a:lnSpc>
              <a:spcBef>
                <a:spcPts val="0"/>
              </a:spcBef>
              <a:spcAft>
                <a:spcPts val="0"/>
              </a:spcAft>
            </a:pPr>
            <a:r>
              <a:rPr sz="1050" b="0" i="1">
                <a:solidFill>
                  <a:srgbClr val="5B6B62"/>
                </a:solidFill>
                <a:latin typeface="Calibri"/>
              </a:rPr>
              <a:t>Consolidated v2 wiring schematic — red = safety-critical paths.</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2B9BD6"/>
                </a:solidFill>
                <a:latin typeface="Segoe UI Semibold"/>
              </a:rPr>
              <a:t>APPENDIX · DRIVE SYSTEM</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MOSFET power for soil loads</a:t>
            </a:r>
          </a:p>
        </p:txBody>
      </p:sp>
      <p:sp>
        <p:nvSpPr>
          <p:cNvPr id="6" name="Rectangle 5"/>
          <p:cNvSpPr/>
          <p:nvPr/>
        </p:nvSpPr>
        <p:spPr>
          <a:xfrm>
            <a:off x="841248" y="1371600"/>
            <a:ext cx="1371600" cy="50292"/>
          </a:xfrm>
          <a:prstGeom prst="rect">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2B9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19</a:t>
            </a:r>
          </a:p>
        </p:txBody>
      </p:sp>
      <p:sp>
        <p:nvSpPr>
          <p:cNvPr id="12" name="Rectangle 11"/>
          <p:cNvSpPr/>
          <p:nvPr/>
        </p:nvSpPr>
        <p:spPr>
          <a:xfrm>
            <a:off x="1682548" y="1609344"/>
            <a:ext cx="6089799" cy="4233672"/>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rive_schematic.png"/>
          <p:cNvPicPr>
            <a:picLocks noChangeAspect="1"/>
          </p:cNvPicPr>
          <p:nvPr/>
        </p:nvPicPr>
        <p:blipFill>
          <a:blip r:embed="rId2"/>
          <a:stretch>
            <a:fillRect/>
          </a:stretch>
        </p:blipFill>
        <p:spPr>
          <a:xfrm>
            <a:off x="1737412" y="1664208"/>
            <a:ext cx="5980071" cy="4123944"/>
          </a:xfrm>
          <a:prstGeom prst="rect">
            <a:avLst/>
          </a:prstGeom>
        </p:spPr>
      </p:pic>
      <p:sp>
        <p:nvSpPr>
          <p:cNvPr id="14" name="TextBox 13"/>
          <p:cNvSpPr txBox="1"/>
          <p:nvPr/>
        </p:nvSpPr>
        <p:spPr>
          <a:xfrm>
            <a:off x="841248" y="5806440"/>
            <a:ext cx="7772400" cy="310896"/>
          </a:xfrm>
          <a:prstGeom prst="rect">
            <a:avLst/>
          </a:prstGeom>
          <a:noFill/>
        </p:spPr>
        <p:txBody>
          <a:bodyPr wrap="square" anchor="t" lIns="0" rIns="0" tIns="0" bIns="0">
            <a:spAutoFit/>
          </a:bodyPr>
          <a:lstStyle/>
          <a:p>
            <a:pPr algn="ctr">
              <a:lnSpc>
                <a:spcPct val="108000"/>
              </a:lnSpc>
              <a:spcBef>
                <a:spcPts val="0"/>
              </a:spcBef>
              <a:spcAft>
                <a:spcPts val="0"/>
              </a:spcAft>
            </a:pPr>
            <a:r>
              <a:rPr sz="1050" b="0" i="1">
                <a:solidFill>
                  <a:srgbClr val="5B6B62"/>
                </a:solidFill>
                <a:latin typeface="Calibri"/>
              </a:rPr>
              <a:t>Pin-level 2× BTS7960 (IBT-2) drive schematic.</a:t>
            </a:r>
          </a:p>
        </p:txBody>
      </p:sp>
      <p:sp>
        <p:nvSpPr>
          <p:cNvPr id="15" name="TextBox 14"/>
          <p:cNvSpPr txBox="1"/>
          <p:nvPr/>
        </p:nvSpPr>
        <p:spPr>
          <a:xfrm>
            <a:off x="8887968" y="1892808"/>
            <a:ext cx="2462479" cy="3931920"/>
          </a:xfrm>
          <a:prstGeom prst="rect">
            <a:avLst/>
          </a:prstGeom>
          <a:noFill/>
        </p:spPr>
        <p:txBody>
          <a:bodyPr wrap="square" anchor="t" lIns="0" rIns="0" tIns="0" bIns="0">
            <a:spAutoFit/>
          </a:bodyPr>
          <a:lstStyle/>
          <a:p>
            <a:pPr>
              <a:lnSpc>
                <a:spcPct val="106000"/>
              </a:lnSpc>
              <a:spcAft>
                <a:spcPts val="900"/>
              </a:spcAft>
            </a:pPr>
            <a:r>
              <a:rPr sz="1300" b="1">
                <a:solidFill>
                  <a:srgbClr val="2B9BD6"/>
                </a:solidFill>
                <a:latin typeface="Segoe UI Semibold"/>
              </a:rPr>
              <a:t>▸  </a:t>
            </a:r>
            <a:r>
              <a:rPr sz="1300" b="1">
                <a:solidFill>
                  <a:srgbClr val="12281C"/>
                </a:solidFill>
                <a:latin typeface="Calibri"/>
              </a:rPr>
              <a:t>2× BTS7960</a:t>
            </a:r>
            <a:r>
              <a:rPr sz="1150" b="0">
                <a:solidFill>
                  <a:srgbClr val="5B6B62"/>
                </a:solidFill>
                <a:latin typeface="Calibri"/>
              </a:rPr>
              <a:t>  —  replaced the L298N (FC-10)</a:t>
            </a:r>
          </a:p>
          <a:p>
            <a:pPr>
              <a:lnSpc>
                <a:spcPct val="106000"/>
              </a:lnSpc>
              <a:spcAft>
                <a:spcPts val="900"/>
              </a:spcAft>
            </a:pPr>
            <a:r>
              <a:rPr sz="1300" b="1">
                <a:solidFill>
                  <a:srgbClr val="2B9BD6"/>
                </a:solidFill>
                <a:latin typeface="Segoe UI Semibold"/>
              </a:rPr>
              <a:t>▸  </a:t>
            </a:r>
            <a:r>
              <a:rPr sz="1300" b="1">
                <a:solidFill>
                  <a:srgbClr val="12281C"/>
                </a:solidFill>
                <a:latin typeface="Calibri"/>
              </a:rPr>
              <a:t>~43 A peak/side</a:t>
            </a:r>
            <a:r>
              <a:rPr sz="1150" b="0">
                <a:solidFill>
                  <a:srgbClr val="5B6B62"/>
                </a:solidFill>
                <a:latin typeface="Calibri"/>
              </a:rPr>
              <a:t>  —  handles soil-loaded motors</a:t>
            </a:r>
          </a:p>
          <a:p>
            <a:pPr>
              <a:lnSpc>
                <a:spcPct val="106000"/>
              </a:lnSpc>
              <a:spcAft>
                <a:spcPts val="900"/>
              </a:spcAft>
            </a:pPr>
            <a:r>
              <a:rPr sz="1300" b="1">
                <a:solidFill>
                  <a:srgbClr val="2B9BD6"/>
                </a:solidFill>
                <a:latin typeface="Segoe UI Semibold"/>
              </a:rPr>
              <a:t>▸  </a:t>
            </a:r>
            <a:r>
              <a:rPr sz="1300" b="1">
                <a:solidFill>
                  <a:srgbClr val="12281C"/>
                </a:solidFill>
                <a:latin typeface="Calibri"/>
              </a:rPr>
              <a:t>Dual-PWM</a:t>
            </a:r>
            <a:r>
              <a:rPr sz="1150" b="0">
                <a:solidFill>
                  <a:srgbClr val="5B6B62"/>
                </a:solidFill>
                <a:latin typeface="Calibri"/>
              </a:rPr>
              <a:t>  —  forward / reverse / coast</a:t>
            </a:r>
          </a:p>
          <a:p>
            <a:pPr>
              <a:lnSpc>
                <a:spcPct val="106000"/>
              </a:lnSpc>
              <a:spcAft>
                <a:spcPts val="900"/>
              </a:spcAft>
            </a:pPr>
            <a:r>
              <a:rPr sz="1300" b="1">
                <a:solidFill>
                  <a:srgbClr val="2B9BD6"/>
                </a:solidFill>
                <a:latin typeface="Segoe UI Semibold"/>
              </a:rPr>
              <a:t>▸  </a:t>
            </a:r>
            <a:r>
              <a:rPr sz="1300" b="1">
                <a:solidFill>
                  <a:srgbClr val="12281C"/>
                </a:solidFill>
                <a:latin typeface="Calibri"/>
              </a:rPr>
              <a:t>1N5819 flyback</a:t>
            </a:r>
            <a:r>
              <a:rPr sz="1150" b="0">
                <a:solidFill>
                  <a:srgbClr val="5B6B62"/>
                </a:solidFill>
                <a:latin typeface="Calibri"/>
              </a:rPr>
              <a:t>  —  clamps back-EMF</a:t>
            </a:r>
          </a:p>
          <a:p>
            <a:pPr>
              <a:lnSpc>
                <a:spcPct val="106000"/>
              </a:lnSpc>
              <a:spcAft>
                <a:spcPts val="900"/>
              </a:spcAft>
            </a:pPr>
            <a:r>
              <a:rPr sz="1300" b="1">
                <a:solidFill>
                  <a:srgbClr val="2B9BD6"/>
                </a:solidFill>
                <a:latin typeface="Segoe UI Semibold"/>
              </a:rPr>
              <a:t>▸  </a:t>
            </a:r>
            <a:r>
              <a:rPr sz="1300" b="1">
                <a:solidFill>
                  <a:srgbClr val="12281C"/>
                </a:solidFill>
                <a:latin typeface="Calibri"/>
              </a:rPr>
              <a:t>Current-sense</a:t>
            </a:r>
            <a:r>
              <a:rPr sz="1150" b="0">
                <a:solidFill>
                  <a:srgbClr val="5B6B62"/>
                </a:solidFill>
                <a:latin typeface="Calibri"/>
              </a:rPr>
              <a:t>  —  IS → stall detection</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1F9254"/>
                </a:solidFill>
                <a:latin typeface="Segoe UI Semibold"/>
              </a:rPr>
              <a:t>APPENDIX · MECHANICAL</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Stable, service-friendly</a:t>
            </a:r>
          </a:p>
        </p:txBody>
      </p:sp>
      <p:sp>
        <p:nvSpPr>
          <p:cNvPr id="6" name="Rectangle 5"/>
          <p:cNvSpPr/>
          <p:nvPr/>
        </p:nvSpPr>
        <p:spPr>
          <a:xfrm>
            <a:off x="841248" y="1371600"/>
            <a:ext cx="1371600" cy="50292"/>
          </a:xfrm>
          <a:prstGeom prst="rect">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1F92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20</a:t>
            </a:r>
          </a:p>
        </p:txBody>
      </p:sp>
      <p:sp>
        <p:nvSpPr>
          <p:cNvPr id="12" name="Rectangle 11"/>
          <p:cNvSpPr/>
          <p:nvPr/>
        </p:nvSpPr>
        <p:spPr>
          <a:xfrm>
            <a:off x="1949446" y="1609344"/>
            <a:ext cx="5464563" cy="4187952"/>
          </a:xfrm>
          <a:prstGeom prst="rect">
            <a:avLst/>
          </a:prstGeom>
          <a:solidFill>
            <a:srgbClr val="FFFFFF"/>
          </a:solidFill>
          <a:ln w="12700">
            <a:solidFill>
              <a:srgbClr val="E7EFE7"/>
            </a:solidFill>
          </a:ln>
          <a:effectLst>
            <a:outerShdw blurRad="90000" dist="38000" dir="5400000" rotWithShape="0">
              <a:srgbClr val="0B241A">
                <a:alpha val="6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assis_layout.png"/>
          <p:cNvPicPr>
            <a:picLocks noChangeAspect="1"/>
          </p:cNvPicPr>
          <p:nvPr/>
        </p:nvPicPr>
        <p:blipFill>
          <a:blip r:embed="rId2"/>
          <a:stretch>
            <a:fillRect/>
          </a:stretch>
        </p:blipFill>
        <p:spPr>
          <a:xfrm>
            <a:off x="2004310" y="1664208"/>
            <a:ext cx="5354835" cy="4078224"/>
          </a:xfrm>
          <a:prstGeom prst="rect">
            <a:avLst/>
          </a:prstGeom>
        </p:spPr>
      </p:pic>
      <p:sp>
        <p:nvSpPr>
          <p:cNvPr id="14" name="TextBox 13"/>
          <p:cNvSpPr txBox="1"/>
          <p:nvPr/>
        </p:nvSpPr>
        <p:spPr>
          <a:xfrm>
            <a:off x="841248" y="5760720"/>
            <a:ext cx="7680960" cy="310896"/>
          </a:xfrm>
          <a:prstGeom prst="rect">
            <a:avLst/>
          </a:prstGeom>
          <a:noFill/>
        </p:spPr>
        <p:txBody>
          <a:bodyPr wrap="square" anchor="t" lIns="0" rIns="0" tIns="0" bIns="0">
            <a:spAutoFit/>
          </a:bodyPr>
          <a:lstStyle/>
          <a:p>
            <a:pPr algn="ctr">
              <a:lnSpc>
                <a:spcPct val="108000"/>
              </a:lnSpc>
              <a:spcBef>
                <a:spcPts val="0"/>
              </a:spcBef>
              <a:spcAft>
                <a:spcPts val="0"/>
              </a:spcAft>
            </a:pPr>
            <a:r>
              <a:rPr sz="1050" b="0" i="1">
                <a:solidFill>
                  <a:srgbClr val="5B6B62"/>
                </a:solidFill>
                <a:latin typeface="Calibri"/>
              </a:rPr>
              <a:t>To-scale layout from verified component coordinates.</a:t>
            </a:r>
          </a:p>
        </p:txBody>
      </p:sp>
      <p:sp>
        <p:nvSpPr>
          <p:cNvPr id="15" name="TextBox 14"/>
          <p:cNvSpPr txBox="1"/>
          <p:nvPr/>
        </p:nvSpPr>
        <p:spPr>
          <a:xfrm>
            <a:off x="8796528" y="1892808"/>
            <a:ext cx="2553919" cy="3931920"/>
          </a:xfrm>
          <a:prstGeom prst="rect">
            <a:avLst/>
          </a:prstGeom>
          <a:noFill/>
        </p:spPr>
        <p:txBody>
          <a:bodyPr wrap="square" anchor="t" lIns="0" rIns="0" tIns="0" bIns="0">
            <a:spAutoFit/>
          </a:bodyPr>
          <a:lstStyle/>
          <a:p>
            <a:pPr>
              <a:lnSpc>
                <a:spcPct val="106000"/>
              </a:lnSpc>
              <a:spcAft>
                <a:spcPts val="900"/>
              </a:spcAft>
            </a:pPr>
            <a:r>
              <a:rPr sz="1300" b="1">
                <a:solidFill>
                  <a:srgbClr val="1F9254"/>
                </a:solidFill>
                <a:latin typeface="Segoe UI Semibold"/>
              </a:rPr>
              <a:t>▸  </a:t>
            </a:r>
            <a:r>
              <a:rPr sz="1300" b="1">
                <a:solidFill>
                  <a:srgbClr val="12281C"/>
                </a:solidFill>
                <a:latin typeface="Calibri"/>
              </a:rPr>
              <a:t>Double-decker</a:t>
            </a:r>
            <a:r>
              <a:rPr sz="1150" b="0">
                <a:solidFill>
                  <a:srgbClr val="5B6B62"/>
                </a:solidFill>
                <a:latin typeface="Calibri"/>
              </a:rPr>
              <a:t>  —  320 × 450 mm, two layers</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Low CoG</a:t>
            </a:r>
            <a:r>
              <a:rPr sz="1150" b="0">
                <a:solidFill>
                  <a:srgbClr val="5B6B62"/>
                </a:solidFill>
                <a:latin typeface="Calibri"/>
              </a:rPr>
              <a:t>  —  battery + tank low, centred</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Fluids below</a:t>
            </a:r>
            <a:r>
              <a:rPr sz="1150" b="0">
                <a:solidFill>
                  <a:srgbClr val="5B6B62"/>
                </a:solidFill>
                <a:latin typeface="Calibri"/>
              </a:rPr>
              <a:t>  —  leaks drain from the Pi</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Heat apart</a:t>
            </a:r>
            <a:r>
              <a:rPr sz="1150" b="0">
                <a:solidFill>
                  <a:srgbClr val="5B6B62"/>
                </a:solidFill>
                <a:latin typeface="Calibri"/>
              </a:rPr>
              <a:t>  —  drivers at the rear + fan</a:t>
            </a:r>
          </a:p>
          <a:p>
            <a:pPr>
              <a:lnSpc>
                <a:spcPct val="106000"/>
              </a:lnSpc>
              <a:spcAft>
                <a:spcPts val="900"/>
              </a:spcAft>
            </a:pPr>
            <a:r>
              <a:rPr sz="1300" b="1">
                <a:solidFill>
                  <a:srgbClr val="1F9254"/>
                </a:solidFill>
                <a:latin typeface="Segoe UI Semibold"/>
              </a:rPr>
              <a:t>▸  </a:t>
            </a:r>
            <a:r>
              <a:rPr sz="1300" b="1">
                <a:solidFill>
                  <a:srgbClr val="12281C"/>
                </a:solidFill>
                <a:latin typeface="Calibri"/>
              </a:rPr>
              <a:t>Field-hardened</a:t>
            </a:r>
            <a:r>
              <a:rPr sz="1150" b="0">
                <a:solidFill>
                  <a:srgbClr val="5B6B62"/>
                </a:solidFill>
                <a:latin typeface="Calibri"/>
              </a:rPr>
              <a:t>  —  grommets, glands, coating</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20624"/>
            <a:ext cx="8223199" cy="274320"/>
          </a:xfrm>
          <a:prstGeom prst="rect">
            <a:avLst/>
          </a:prstGeom>
          <a:noFill/>
        </p:spPr>
        <p:txBody>
          <a:bodyPr wrap="square" anchor="t" lIns="0" rIns="0" tIns="0" bIns="0">
            <a:spAutoFit/>
          </a:bodyPr>
          <a:lstStyle/>
          <a:p>
            <a:pPr algn="l">
              <a:lnSpc>
                <a:spcPct val="108000"/>
              </a:lnSpc>
              <a:spcBef>
                <a:spcPts val="0"/>
              </a:spcBef>
              <a:spcAft>
                <a:spcPts val="0"/>
              </a:spcAft>
            </a:pPr>
            <a:r>
              <a:rPr sz="1200" b="1" i="0">
                <a:solidFill>
                  <a:srgbClr val="F2A03D"/>
                </a:solidFill>
                <a:latin typeface="Segoe UI Semibold"/>
              </a:rPr>
              <a:t>APPENDIX · FIELD-READY</a:t>
            </a:r>
          </a:p>
        </p:txBody>
      </p:sp>
      <p:sp>
        <p:nvSpPr>
          <p:cNvPr id="5" name="TextBox 4"/>
          <p:cNvSpPr txBox="1"/>
          <p:nvPr/>
        </p:nvSpPr>
        <p:spPr>
          <a:xfrm>
            <a:off x="841248" y="658368"/>
            <a:ext cx="10509199" cy="685800"/>
          </a:xfrm>
          <a:prstGeom prst="rect">
            <a:avLst/>
          </a:prstGeom>
          <a:noFill/>
        </p:spPr>
        <p:txBody>
          <a:bodyPr wrap="square" anchor="t" lIns="0" rIns="0" tIns="0" bIns="0">
            <a:spAutoFit/>
          </a:bodyPr>
          <a:lstStyle/>
          <a:p>
            <a:pPr algn="l">
              <a:lnSpc>
                <a:spcPct val="108000"/>
              </a:lnSpc>
              <a:spcBef>
                <a:spcPts val="0"/>
              </a:spcBef>
              <a:spcAft>
                <a:spcPts val="0"/>
              </a:spcAft>
            </a:pPr>
            <a:r>
              <a:rPr sz="2900" b="1" i="0">
                <a:solidFill>
                  <a:srgbClr val="12281C"/>
                </a:solidFill>
                <a:latin typeface="Segoe UI Semibold"/>
              </a:rPr>
              <a:t>Ten field risks, engineered</a:t>
            </a:r>
          </a:p>
        </p:txBody>
      </p:sp>
      <p:sp>
        <p:nvSpPr>
          <p:cNvPr id="6" name="Rectangle 5"/>
          <p:cNvSpPr/>
          <p:nvPr/>
        </p:nvSpPr>
        <p:spPr>
          <a:xfrm>
            <a:off x="841248" y="1371600"/>
            <a:ext cx="1371600" cy="50292"/>
          </a:xfrm>
          <a:prstGeom prst="rect">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4175" y="457200"/>
            <a:ext cx="2331720" cy="365760"/>
          </a:xfrm>
          <a:prstGeom prst="rect">
            <a:avLst/>
          </a:prstGeom>
          <a:noFill/>
        </p:spPr>
        <p:txBody>
          <a:bodyPr wrap="square" anchor="ctr" lIns="0" rIns="0" tIns="0" bIns="0">
            <a:spAutoFit/>
          </a:bodyPr>
          <a:lstStyle/>
          <a:p>
            <a:pPr algn="r"/>
            <a:r>
              <a:rPr sz="1250" b="1">
                <a:solidFill>
                  <a:srgbClr val="12281C"/>
                </a:solidFill>
                <a:latin typeface="Segoe UI Semibold"/>
              </a:rPr>
              <a:t>Agri</a:t>
            </a:r>
            <a:r>
              <a:rPr sz="1250" b="1">
                <a:solidFill>
                  <a:srgbClr val="1F9254"/>
                </a:solidFill>
                <a:latin typeface="Segoe UI Semibold"/>
              </a:rPr>
              <a:t>Rover</a:t>
            </a:r>
          </a:p>
        </p:txBody>
      </p:sp>
      <p:sp>
        <p:nvSpPr>
          <p:cNvPr id="8" name="Oval 7"/>
          <p:cNvSpPr/>
          <p:nvPr/>
        </p:nvSpPr>
        <p:spPr>
          <a:xfrm>
            <a:off x="11624767" y="530352"/>
            <a:ext cx="182880" cy="182880"/>
          </a:xfrm>
          <a:prstGeom prst="ellipse">
            <a:avLst/>
          </a:prstGeom>
          <a:solidFill>
            <a:srgbClr val="F2A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6455664"/>
            <a:ext cx="10509199" cy="12801"/>
          </a:xfrm>
          <a:prstGeom prst="rect">
            <a:avLst/>
          </a:prstGeom>
          <a:solidFill>
            <a:srgbClr val="E7E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6510528"/>
            <a:ext cx="7315200" cy="274320"/>
          </a:xfrm>
          <a:prstGeom prst="rect">
            <a:avLst/>
          </a:prstGeom>
          <a:noFill/>
        </p:spPr>
        <p:txBody>
          <a:bodyPr wrap="square" anchor="t" lIns="0" rIns="0" tIns="0" bIns="0">
            <a:spAutoFit/>
          </a:bodyPr>
          <a:lstStyle/>
          <a:p>
            <a:pPr algn="l">
              <a:lnSpc>
                <a:spcPct val="108000"/>
              </a:lnSpc>
              <a:spcBef>
                <a:spcPts val="0"/>
              </a:spcBef>
              <a:spcAft>
                <a:spcPts val="0"/>
              </a:spcAft>
            </a:pPr>
            <a:r>
              <a:rPr sz="900" b="0" i="0">
                <a:solidFill>
                  <a:srgbClr val="9AA8A0"/>
                </a:solidFill>
                <a:latin typeface="Calibri"/>
              </a:rPr>
              <a:t>AgriRover  ·  IITB–Groww INV.ENT  ·  Track A  ·  Team of 4 (IIT Bombay)</a:t>
            </a:r>
          </a:p>
        </p:txBody>
      </p:sp>
      <p:sp>
        <p:nvSpPr>
          <p:cNvPr id="11" name="TextBox 10"/>
          <p:cNvSpPr txBox="1"/>
          <p:nvPr/>
        </p:nvSpPr>
        <p:spPr>
          <a:xfrm>
            <a:off x="10253167" y="6510528"/>
            <a:ext cx="1097280" cy="274320"/>
          </a:xfrm>
          <a:prstGeom prst="rect">
            <a:avLst/>
          </a:prstGeom>
          <a:noFill/>
        </p:spPr>
        <p:txBody>
          <a:bodyPr wrap="square" anchor="t" lIns="0" rIns="0" tIns="0" bIns="0">
            <a:spAutoFit/>
          </a:bodyPr>
          <a:lstStyle/>
          <a:p>
            <a:pPr algn="r">
              <a:lnSpc>
                <a:spcPct val="108000"/>
              </a:lnSpc>
              <a:spcBef>
                <a:spcPts val="0"/>
              </a:spcBef>
              <a:spcAft>
                <a:spcPts val="0"/>
              </a:spcAft>
            </a:pPr>
            <a:r>
              <a:rPr sz="900" b="0" i="0">
                <a:solidFill>
                  <a:srgbClr val="9AA8A0"/>
                </a:solidFill>
                <a:latin typeface="Calibri"/>
              </a:rPr>
              <a:t>21</a:t>
            </a:r>
          </a:p>
        </p:txBody>
      </p:sp>
      <p:graphicFrame>
        <p:nvGraphicFramePr>
          <p:cNvPr id="12" name="Table 11"/>
          <p:cNvGraphicFramePr>
            <a:graphicFrameLocks noGrp="1"/>
          </p:cNvGraphicFramePr>
          <p:nvPr/>
        </p:nvGraphicFramePr>
        <p:xfrm>
          <a:off x="841248" y="1682496"/>
          <a:ext cx="10469880" cy="4434837"/>
        </p:xfrm>
        <a:graphic>
          <a:graphicData uri="http://schemas.openxmlformats.org/drawingml/2006/table">
            <a:tbl>
              <a:tblPr>
                <a:tableStyleId>{5C22544A-7EE6-4342-B048-85BDC9FD1C3A}</a:tableStyleId>
              </a:tblPr>
              <a:tblGrid>
                <a:gridCol w="1005840"/>
                <a:gridCol w="3840480"/>
                <a:gridCol w="4251960"/>
                <a:gridCol w="1371600"/>
              </a:tblGrid>
              <a:tr h="403167">
                <a:tc>
                  <a:txBody>
                    <a:bodyPr wrap="square"/>
                    <a:lstStyle/>
                    <a:p>
                      <a:pPr algn="ctr"/>
                      <a:r>
                        <a:rPr sz="1050" b="1">
                          <a:solidFill>
                            <a:srgbClr val="FFFFFF"/>
                          </a:solidFill>
                          <a:latin typeface="Segoe UI Semibold"/>
                        </a:rPr>
                        <a:t>ID</a:t>
                      </a:r>
                    </a:p>
                  </a:txBody>
                  <a:tcPr marL="73152" marR="45720" marT="9144" marB="9144" anchor="ctr">
                    <a:solidFill>
                      <a:srgbClr val="0E3B2A"/>
                    </a:solidFill>
                  </a:tcPr>
                </a:tc>
                <a:tc>
                  <a:txBody>
                    <a:bodyPr wrap="square"/>
                    <a:lstStyle/>
                    <a:p>
                      <a:pPr algn="l"/>
                      <a:r>
                        <a:rPr sz="1050" b="1">
                          <a:solidFill>
                            <a:srgbClr val="FFFFFF"/>
                          </a:solidFill>
                          <a:latin typeface="Segoe UI Semibold"/>
                        </a:rPr>
                        <a:t>Field challenge</a:t>
                      </a:r>
                    </a:p>
                  </a:txBody>
                  <a:tcPr marL="73152" marR="45720" marT="9144" marB="9144" anchor="ctr">
                    <a:solidFill>
                      <a:srgbClr val="0E3B2A"/>
                    </a:solidFill>
                  </a:tcPr>
                </a:tc>
                <a:tc>
                  <a:txBody>
                    <a:bodyPr wrap="square"/>
                    <a:lstStyle/>
                    <a:p>
                      <a:pPr algn="l"/>
                      <a:r>
                        <a:rPr sz="1050" b="1">
                          <a:solidFill>
                            <a:srgbClr val="FFFFFF"/>
                          </a:solidFill>
                          <a:latin typeface="Segoe UI Semibold"/>
                        </a:rPr>
                        <a:t>Engineered solution</a:t>
                      </a:r>
                    </a:p>
                  </a:txBody>
                  <a:tcPr marL="73152" marR="45720" marT="9144" marB="9144" anchor="ctr">
                    <a:solidFill>
                      <a:srgbClr val="0E3B2A"/>
                    </a:solidFill>
                  </a:tcPr>
                </a:tc>
                <a:tc>
                  <a:txBody>
                    <a:bodyPr wrap="square"/>
                    <a:lstStyle/>
                    <a:p>
                      <a:pPr algn="ctr"/>
                      <a:r>
                        <a:rPr sz="1050" b="1">
                          <a:solidFill>
                            <a:srgbClr val="FFFFFF"/>
                          </a:solidFill>
                          <a:latin typeface="Segoe UI Semibold"/>
                        </a:rPr>
                        <a:t>Status</a:t>
                      </a:r>
                    </a:p>
                  </a:txBody>
                  <a:tcPr marL="73152" marR="45720" marT="9144" marB="9144" anchor="ctr">
                    <a:solidFill>
                      <a:srgbClr val="0E3B2A"/>
                    </a:solidFill>
                  </a:tcPr>
                </a:tc>
              </a:tr>
              <a:tr h="403167">
                <a:tc>
                  <a:txBody>
                    <a:bodyPr wrap="square"/>
                    <a:lstStyle/>
                    <a:p>
                      <a:pPr algn="ctr"/>
                      <a:r>
                        <a:rPr sz="1000" b="1">
                          <a:solidFill>
                            <a:srgbClr val="1F9254"/>
                          </a:solidFill>
                          <a:latin typeface="Segoe UI Semibold"/>
                        </a:rPr>
                        <a:t>FC-01</a:t>
                      </a:r>
                    </a:p>
                  </a:txBody>
                  <a:tcPr marL="73152" marR="45720" marT="9144" marB="9144" anchor="ctr">
                    <a:solidFill>
                      <a:srgbClr val="FFFFFF"/>
                    </a:solidFill>
                  </a:tcPr>
                </a:tc>
                <a:tc>
                  <a:txBody>
                    <a:bodyPr wrap="square"/>
                    <a:lstStyle/>
                    <a:p>
                      <a:pPr algn="l"/>
                      <a:r>
                        <a:rPr sz="1000" b="0">
                          <a:solidFill>
                            <a:srgbClr val="12281C"/>
                          </a:solidFill>
                          <a:latin typeface="Calibri"/>
                        </a:rPr>
                        <a:t>Weeds above the pathway</a:t>
                      </a:r>
                    </a:p>
                  </a:txBody>
                  <a:tcPr marL="73152" marR="45720" marT="9144" marB="9144" anchor="ctr">
                    <a:solidFill>
                      <a:srgbClr val="FFFFFF"/>
                    </a:solidFill>
                  </a:tcPr>
                </a:tc>
                <a:tc>
                  <a:txBody>
                    <a:bodyPr wrap="square"/>
                    <a:lstStyle/>
                    <a:p>
                      <a:pPr algn="l"/>
                      <a:r>
                        <a:rPr sz="1000" b="0">
                          <a:solidFill>
                            <a:srgbClr val="12281C"/>
                          </a:solidFill>
                          <a:latin typeface="Calibri"/>
                        </a:rPr>
                        <a:t>Vision-guided pan/tilt aimed spray</a:t>
                      </a:r>
                    </a:p>
                  </a:txBody>
                  <a:tcPr marL="73152" marR="45720" marT="9144" marB="9144" anchor="ctr">
                    <a:solidFill>
                      <a:srgbClr val="FFFFFF"/>
                    </a:solidFill>
                  </a:tcPr>
                </a:tc>
                <a:tc>
                  <a:txBody>
                    <a:bodyPr wrap="square"/>
                    <a:lstStyle/>
                    <a:p>
                      <a:pPr algn="ctr"/>
                      <a:r>
                        <a:rPr sz="1000" b="1">
                          <a:solidFill>
                            <a:srgbClr val="F2A03D"/>
                          </a:solidFill>
                          <a:latin typeface="Calibri"/>
                        </a:rPr>
                        <a:t>Code-ready</a:t>
                      </a:r>
                    </a:p>
                  </a:txBody>
                  <a:tcPr marL="73152" marR="45720" marT="9144" marB="9144" anchor="ctr">
                    <a:solidFill>
                      <a:srgbClr val="FFFFFF"/>
                    </a:solidFill>
                  </a:tcPr>
                </a:tc>
              </a:tr>
              <a:tr h="403167">
                <a:tc>
                  <a:txBody>
                    <a:bodyPr wrap="square"/>
                    <a:lstStyle/>
                    <a:p>
                      <a:pPr algn="ctr"/>
                      <a:r>
                        <a:rPr sz="1000" b="1">
                          <a:solidFill>
                            <a:srgbClr val="1F9254"/>
                          </a:solidFill>
                          <a:latin typeface="Segoe UI Semibold"/>
                        </a:rPr>
                        <a:t>FC-02</a:t>
                      </a:r>
                    </a:p>
                  </a:txBody>
                  <a:tcPr marL="73152" marR="45720" marT="9144" marB="9144" anchor="ctr">
                    <a:solidFill>
                      <a:srgbClr val="EEF4EC"/>
                    </a:solidFill>
                  </a:tcPr>
                </a:tc>
                <a:tc>
                  <a:txBody>
                    <a:bodyPr wrap="square"/>
                    <a:lstStyle/>
                    <a:p>
                      <a:pPr algn="l"/>
                      <a:r>
                        <a:rPr sz="1000" b="0">
                          <a:solidFill>
                            <a:srgbClr val="12281C"/>
                          </a:solidFill>
                          <a:latin typeface="Calibri"/>
                        </a:rPr>
                        <a:t>Field heat → battery fire</a:t>
                      </a:r>
                    </a:p>
                  </a:txBody>
                  <a:tcPr marL="73152" marR="45720" marT="9144" marB="9144" anchor="ctr">
                    <a:solidFill>
                      <a:srgbClr val="EEF4EC"/>
                    </a:solidFill>
                  </a:tcPr>
                </a:tc>
                <a:tc>
                  <a:txBody>
                    <a:bodyPr wrap="square"/>
                    <a:lstStyle/>
                    <a:p>
                      <a:pPr algn="l"/>
                      <a:r>
                        <a:rPr sz="1000" b="0">
                          <a:solidFill>
                            <a:srgbClr val="12281C"/>
                          </a:solidFill>
                          <a:latin typeface="Calibri"/>
                        </a:rPr>
                        <a:t>Thermal guardian + NTC + LiFePO4</a:t>
                      </a:r>
                    </a:p>
                  </a:txBody>
                  <a:tcPr marL="73152" marR="45720" marT="9144" marB="9144" anchor="ctr">
                    <a:solidFill>
                      <a:srgbClr val="EEF4EC"/>
                    </a:solidFill>
                  </a:tcPr>
                </a:tc>
                <a:tc>
                  <a:txBody>
                    <a:bodyPr wrap="square"/>
                    <a:lstStyle/>
                    <a:p>
                      <a:pPr algn="ctr"/>
                      <a:r>
                        <a:rPr sz="1000" b="1">
                          <a:solidFill>
                            <a:srgbClr val="F2A03D"/>
                          </a:solidFill>
                          <a:latin typeface="Calibri"/>
                        </a:rPr>
                        <a:t>Code-ready</a:t>
                      </a:r>
                    </a:p>
                  </a:txBody>
                  <a:tcPr marL="73152" marR="45720" marT="9144" marB="9144" anchor="ctr">
                    <a:solidFill>
                      <a:srgbClr val="EEF4EC"/>
                    </a:solidFill>
                  </a:tcPr>
                </a:tc>
              </a:tr>
              <a:tr h="403167">
                <a:tc>
                  <a:txBody>
                    <a:bodyPr wrap="square"/>
                    <a:lstStyle/>
                    <a:p>
                      <a:pPr algn="ctr"/>
                      <a:r>
                        <a:rPr sz="1000" b="1">
                          <a:solidFill>
                            <a:srgbClr val="1F9254"/>
                          </a:solidFill>
                          <a:latin typeface="Segoe UI Semibold"/>
                        </a:rPr>
                        <a:t>FC-03</a:t>
                      </a:r>
                    </a:p>
                  </a:txBody>
                  <a:tcPr marL="73152" marR="45720" marT="9144" marB="9144" anchor="ctr">
                    <a:solidFill>
                      <a:srgbClr val="FFFFFF"/>
                    </a:solidFill>
                  </a:tcPr>
                </a:tc>
                <a:tc>
                  <a:txBody>
                    <a:bodyPr wrap="square"/>
                    <a:lstStyle/>
                    <a:p>
                      <a:pPr algn="l"/>
                      <a:r>
                        <a:rPr sz="1000" b="0">
                          <a:solidFill>
                            <a:srgbClr val="12281C"/>
                          </a:solidFill>
                          <a:latin typeface="Calibri"/>
                        </a:rPr>
                        <a:t>Actuator retract type</a:t>
                      </a:r>
                    </a:p>
                  </a:txBody>
                  <a:tcPr marL="73152" marR="45720" marT="9144" marB="9144" anchor="ctr">
                    <a:solidFill>
                      <a:srgbClr val="FFFFFF"/>
                    </a:solidFill>
                  </a:tcPr>
                </a:tc>
                <a:tc>
                  <a:txBody>
                    <a:bodyPr wrap="square"/>
                    <a:lstStyle/>
                    <a:p>
                      <a:pPr algn="l"/>
                      <a:r>
                        <a:rPr sz="1000" b="0">
                          <a:solidFill>
                            <a:srgbClr val="12281C"/>
                          </a:solidFill>
                          <a:latin typeface="Calibri"/>
                        </a:rPr>
                        <a:t>Dual compile-flag branches</a:t>
                      </a:r>
                    </a:p>
                  </a:txBody>
                  <a:tcPr marL="73152" marR="45720" marT="9144" marB="9144" anchor="ctr">
                    <a:solidFill>
                      <a:srgbClr val="FFFFFF"/>
                    </a:solidFill>
                  </a:tcPr>
                </a:tc>
                <a:tc>
                  <a:txBody>
                    <a:bodyPr wrap="square"/>
                    <a:lstStyle/>
                    <a:p>
                      <a:pPr algn="ctr"/>
                      <a:r>
                        <a:rPr sz="1000" b="1">
                          <a:solidFill>
                            <a:srgbClr val="F2A03D"/>
                          </a:solidFill>
                          <a:latin typeface="Calibri"/>
                        </a:rPr>
                        <a:t>Code-ready</a:t>
                      </a:r>
                    </a:p>
                  </a:txBody>
                  <a:tcPr marL="73152" marR="45720" marT="9144" marB="9144" anchor="ctr">
                    <a:solidFill>
                      <a:srgbClr val="FFFFFF"/>
                    </a:solidFill>
                  </a:tcPr>
                </a:tc>
              </a:tr>
              <a:tr h="403167">
                <a:tc>
                  <a:txBody>
                    <a:bodyPr wrap="square"/>
                    <a:lstStyle/>
                    <a:p>
                      <a:pPr algn="ctr"/>
                      <a:r>
                        <a:rPr sz="1000" b="1">
                          <a:solidFill>
                            <a:srgbClr val="1F9254"/>
                          </a:solidFill>
                          <a:latin typeface="Segoe UI Semibold"/>
                        </a:rPr>
                        <a:t>FC-04</a:t>
                      </a:r>
                    </a:p>
                  </a:txBody>
                  <a:tcPr marL="73152" marR="45720" marT="9144" marB="9144" anchor="ctr">
                    <a:solidFill>
                      <a:srgbClr val="EEF4EC"/>
                    </a:solidFill>
                  </a:tcPr>
                </a:tc>
                <a:tc>
                  <a:txBody>
                    <a:bodyPr wrap="square"/>
                    <a:lstStyle/>
                    <a:p>
                      <a:pPr algn="l"/>
                      <a:r>
                        <a:rPr sz="1000" b="0">
                          <a:solidFill>
                            <a:srgbClr val="12281C"/>
                          </a:solidFill>
                          <a:latin typeface="Calibri"/>
                        </a:rPr>
                        <a:t>Per-plant GPS precision</a:t>
                      </a:r>
                    </a:p>
                  </a:txBody>
                  <a:tcPr marL="73152" marR="45720" marT="9144" marB="9144" anchor="ctr">
                    <a:solidFill>
                      <a:srgbClr val="EEF4EC"/>
                    </a:solidFill>
                  </a:tcPr>
                </a:tc>
                <a:tc>
                  <a:txBody>
                    <a:bodyPr wrap="square"/>
                    <a:lstStyle/>
                    <a:p>
                      <a:pPr algn="l"/>
                      <a:r>
                        <a:rPr sz="1000" b="0">
                          <a:solidFill>
                            <a:srgbClr val="12281C"/>
                          </a:solidFill>
                          <a:latin typeface="Calibri"/>
                        </a:rPr>
                        <a:t>SBAS + averaging + EKF + vision</a:t>
                      </a:r>
                    </a:p>
                  </a:txBody>
                  <a:tcPr marL="73152" marR="45720" marT="9144" marB="9144" anchor="ctr">
                    <a:solidFill>
                      <a:srgbClr val="EEF4EC"/>
                    </a:solidFill>
                  </a:tcPr>
                </a:tc>
                <a:tc>
                  <a:txBody>
                    <a:bodyPr wrap="square"/>
                    <a:lstStyle/>
                    <a:p>
                      <a:pPr algn="ctr"/>
                      <a:r>
                        <a:rPr sz="1000" b="1">
                          <a:solidFill>
                            <a:srgbClr val="1F9254"/>
                          </a:solidFill>
                          <a:latin typeface="Calibri"/>
                        </a:rPr>
                        <a:t>Implemented</a:t>
                      </a:r>
                    </a:p>
                  </a:txBody>
                  <a:tcPr marL="73152" marR="45720" marT="9144" marB="9144" anchor="ctr">
                    <a:solidFill>
                      <a:srgbClr val="EEF4EC"/>
                    </a:solidFill>
                  </a:tcPr>
                </a:tc>
              </a:tr>
              <a:tr h="403167">
                <a:tc>
                  <a:txBody>
                    <a:bodyPr wrap="square"/>
                    <a:lstStyle/>
                    <a:p>
                      <a:pPr algn="ctr"/>
                      <a:r>
                        <a:rPr sz="1000" b="1">
                          <a:solidFill>
                            <a:srgbClr val="1F9254"/>
                          </a:solidFill>
                          <a:latin typeface="Segoe UI Semibold"/>
                        </a:rPr>
                        <a:t>FC-05</a:t>
                      </a:r>
                    </a:p>
                  </a:txBody>
                  <a:tcPr marL="73152" marR="45720" marT="9144" marB="9144" anchor="ctr">
                    <a:solidFill>
                      <a:srgbClr val="FFFFFF"/>
                    </a:solidFill>
                  </a:tcPr>
                </a:tc>
                <a:tc>
                  <a:txBody>
                    <a:bodyPr wrap="square"/>
                    <a:lstStyle/>
                    <a:p>
                      <a:pPr algn="l"/>
                      <a:r>
                        <a:rPr sz="1000" b="0">
                          <a:solidFill>
                            <a:srgbClr val="12281C"/>
                          </a:solidFill>
                          <a:latin typeface="Calibri"/>
                        </a:rPr>
                        <a:t>Sensors over-volt the ADC</a:t>
                      </a:r>
                    </a:p>
                  </a:txBody>
                  <a:tcPr marL="73152" marR="45720" marT="9144" marB="9144" anchor="ctr">
                    <a:solidFill>
                      <a:srgbClr val="FFFFFF"/>
                    </a:solidFill>
                  </a:tcPr>
                </a:tc>
                <a:tc>
                  <a:txBody>
                    <a:bodyPr wrap="square"/>
                    <a:lstStyle/>
                    <a:p>
                      <a:pPr algn="l"/>
                      <a:r>
                        <a:rPr sz="1000" b="0">
                          <a:solidFill>
                            <a:srgbClr val="12281C"/>
                          </a:solidFill>
                          <a:latin typeface="Calibri"/>
                        </a:rPr>
                        <a:t>Powered from the 3.3 V rail</a:t>
                      </a:r>
                    </a:p>
                  </a:txBody>
                  <a:tcPr marL="73152" marR="45720" marT="9144" marB="9144" anchor="ctr">
                    <a:solidFill>
                      <a:srgbClr val="FFFFFF"/>
                    </a:solidFill>
                  </a:tcPr>
                </a:tc>
                <a:tc>
                  <a:txBody>
                    <a:bodyPr wrap="square"/>
                    <a:lstStyle/>
                    <a:p>
                      <a:pPr algn="ctr"/>
                      <a:r>
                        <a:rPr sz="1000" b="1">
                          <a:solidFill>
                            <a:srgbClr val="1F9254"/>
                          </a:solidFill>
                          <a:latin typeface="Calibri"/>
                        </a:rPr>
                        <a:t>Implemented</a:t>
                      </a:r>
                    </a:p>
                  </a:txBody>
                  <a:tcPr marL="73152" marR="45720" marT="9144" marB="9144" anchor="ctr">
                    <a:solidFill>
                      <a:srgbClr val="FFFFFF"/>
                    </a:solidFill>
                  </a:tcPr>
                </a:tc>
              </a:tr>
              <a:tr h="403167">
                <a:tc>
                  <a:txBody>
                    <a:bodyPr wrap="square"/>
                    <a:lstStyle/>
                    <a:p>
                      <a:pPr algn="ctr"/>
                      <a:r>
                        <a:rPr sz="1000" b="1">
                          <a:solidFill>
                            <a:srgbClr val="1F9254"/>
                          </a:solidFill>
                          <a:latin typeface="Segoe UI Semibold"/>
                        </a:rPr>
                        <a:t>FC-06</a:t>
                      </a:r>
                    </a:p>
                  </a:txBody>
                  <a:tcPr marL="73152" marR="45720" marT="9144" marB="9144" anchor="ctr">
                    <a:solidFill>
                      <a:srgbClr val="EEF4EC"/>
                    </a:solidFill>
                  </a:tcPr>
                </a:tc>
                <a:tc>
                  <a:txBody>
                    <a:bodyPr wrap="square"/>
                    <a:lstStyle/>
                    <a:p>
                      <a:pPr algn="l"/>
                      <a:r>
                        <a:rPr sz="1000" b="0">
                          <a:solidFill>
                            <a:srgbClr val="12281C"/>
                          </a:solidFill>
                          <a:latin typeface="Calibri"/>
                        </a:rPr>
                        <a:t>Relays twitch ON at boot</a:t>
                      </a:r>
                    </a:p>
                  </a:txBody>
                  <a:tcPr marL="73152" marR="45720" marT="9144" marB="9144" anchor="ctr">
                    <a:solidFill>
                      <a:srgbClr val="EEF4EC"/>
                    </a:solidFill>
                  </a:tcPr>
                </a:tc>
                <a:tc>
                  <a:txBody>
                    <a:bodyPr wrap="square"/>
                    <a:lstStyle/>
                    <a:p>
                      <a:pPr algn="l"/>
                      <a:r>
                        <a:rPr sz="1000" b="0">
                          <a:solidFill>
                            <a:srgbClr val="12281C"/>
                          </a:solidFill>
                          <a:latin typeface="Calibri"/>
                        </a:rPr>
                        <a:t>10 kΩ pull-ups + fail-safe OFF</a:t>
                      </a:r>
                    </a:p>
                  </a:txBody>
                  <a:tcPr marL="73152" marR="45720" marT="9144" marB="9144" anchor="ctr">
                    <a:solidFill>
                      <a:srgbClr val="EEF4EC"/>
                    </a:solidFill>
                  </a:tcPr>
                </a:tc>
                <a:tc>
                  <a:txBody>
                    <a:bodyPr wrap="square"/>
                    <a:lstStyle/>
                    <a:p>
                      <a:pPr algn="ctr"/>
                      <a:r>
                        <a:rPr sz="1000" b="1">
                          <a:solidFill>
                            <a:srgbClr val="1F9254"/>
                          </a:solidFill>
                          <a:latin typeface="Calibri"/>
                        </a:rPr>
                        <a:t>Implemented</a:t>
                      </a:r>
                    </a:p>
                  </a:txBody>
                  <a:tcPr marL="73152" marR="45720" marT="9144" marB="9144" anchor="ctr">
                    <a:solidFill>
                      <a:srgbClr val="EEF4EC"/>
                    </a:solidFill>
                  </a:tcPr>
                </a:tc>
              </a:tr>
              <a:tr h="403167">
                <a:tc>
                  <a:txBody>
                    <a:bodyPr wrap="square"/>
                    <a:lstStyle/>
                    <a:p>
                      <a:pPr algn="ctr"/>
                      <a:r>
                        <a:rPr sz="1000" b="1">
                          <a:solidFill>
                            <a:srgbClr val="1F9254"/>
                          </a:solidFill>
                          <a:latin typeface="Segoe UI Semibold"/>
                        </a:rPr>
                        <a:t>FC-07</a:t>
                      </a:r>
                    </a:p>
                  </a:txBody>
                  <a:tcPr marL="73152" marR="45720" marT="9144" marB="9144" anchor="ctr">
                    <a:solidFill>
                      <a:srgbClr val="FFFFFF"/>
                    </a:solidFill>
                  </a:tcPr>
                </a:tc>
                <a:tc>
                  <a:txBody>
                    <a:bodyPr wrap="square"/>
                    <a:lstStyle/>
                    <a:p>
                      <a:pPr algn="l"/>
                      <a:r>
                        <a:rPr sz="1000" b="0">
                          <a:solidFill>
                            <a:srgbClr val="12281C"/>
                          </a:solidFill>
                          <a:latin typeface="Calibri"/>
                        </a:rPr>
                        <a:t>Comms link drops</a:t>
                      </a:r>
                    </a:p>
                  </a:txBody>
                  <a:tcPr marL="73152" marR="45720" marT="9144" marB="9144" anchor="ctr">
                    <a:solidFill>
                      <a:srgbClr val="FFFFFF"/>
                    </a:solidFill>
                  </a:tcPr>
                </a:tc>
                <a:tc>
                  <a:txBody>
                    <a:bodyPr wrap="square"/>
                    <a:lstStyle/>
                    <a:p>
                      <a:pPr algn="l"/>
                      <a:r>
                        <a:rPr sz="1000" b="0">
                          <a:solidFill>
                            <a:srgbClr val="12281C"/>
                          </a:solidFill>
                          <a:latin typeface="Calibri"/>
                        </a:rPr>
                        <a:t>HMAC heartbeat dead-man halt</a:t>
                      </a:r>
                    </a:p>
                  </a:txBody>
                  <a:tcPr marL="73152" marR="45720" marT="9144" marB="9144" anchor="ctr">
                    <a:solidFill>
                      <a:srgbClr val="FFFFFF"/>
                    </a:solidFill>
                  </a:tcPr>
                </a:tc>
                <a:tc>
                  <a:txBody>
                    <a:bodyPr wrap="square"/>
                    <a:lstStyle/>
                    <a:p>
                      <a:pPr algn="ctr"/>
                      <a:r>
                        <a:rPr sz="1000" b="1">
                          <a:solidFill>
                            <a:srgbClr val="1F9254"/>
                          </a:solidFill>
                          <a:latin typeface="Calibri"/>
                        </a:rPr>
                        <a:t>Implemented</a:t>
                      </a:r>
                    </a:p>
                  </a:txBody>
                  <a:tcPr marL="73152" marR="45720" marT="9144" marB="9144" anchor="ctr">
                    <a:solidFill>
                      <a:srgbClr val="FFFFFF"/>
                    </a:solidFill>
                  </a:tcPr>
                </a:tc>
              </a:tr>
              <a:tr h="403167">
                <a:tc>
                  <a:txBody>
                    <a:bodyPr wrap="square"/>
                    <a:lstStyle/>
                    <a:p>
                      <a:pPr algn="ctr"/>
                      <a:r>
                        <a:rPr sz="1000" b="1">
                          <a:solidFill>
                            <a:srgbClr val="1F9254"/>
                          </a:solidFill>
                          <a:latin typeface="Segoe UI Semibold"/>
                        </a:rPr>
                        <a:t>FC-08</a:t>
                      </a:r>
                    </a:p>
                  </a:txBody>
                  <a:tcPr marL="73152" marR="45720" marT="9144" marB="9144" anchor="ctr">
                    <a:solidFill>
                      <a:srgbClr val="EEF4EC"/>
                    </a:solidFill>
                  </a:tcPr>
                </a:tc>
                <a:tc>
                  <a:txBody>
                    <a:bodyPr wrap="square"/>
                    <a:lstStyle/>
                    <a:p>
                      <a:pPr algn="l"/>
                      <a:r>
                        <a:rPr sz="1000" b="0">
                          <a:solidFill>
                            <a:srgbClr val="12281C"/>
                          </a:solidFill>
                          <a:latin typeface="Calibri"/>
                        </a:rPr>
                        <a:t>Dust, dew &amp; spray</a:t>
                      </a:r>
                    </a:p>
                  </a:txBody>
                  <a:tcPr marL="73152" marR="45720" marT="9144" marB="9144" anchor="ctr">
                    <a:solidFill>
                      <a:srgbClr val="EEF4EC"/>
                    </a:solidFill>
                  </a:tcPr>
                </a:tc>
                <a:tc>
                  <a:txBody>
                    <a:bodyPr wrap="square"/>
                    <a:lstStyle/>
                    <a:p>
                      <a:pPr algn="l"/>
                      <a:r>
                        <a:rPr sz="1000" b="0">
                          <a:solidFill>
                            <a:srgbClr val="12281C"/>
                          </a:solidFill>
                          <a:latin typeface="Calibri"/>
                        </a:rPr>
                        <a:t>Conformal coat + glands + gaskets</a:t>
                      </a:r>
                    </a:p>
                  </a:txBody>
                  <a:tcPr marL="73152" marR="45720" marT="9144" marB="9144" anchor="ctr">
                    <a:solidFill>
                      <a:srgbClr val="EEF4EC"/>
                    </a:solidFill>
                  </a:tcPr>
                </a:tc>
                <a:tc>
                  <a:txBody>
                    <a:bodyPr wrap="square"/>
                    <a:lstStyle/>
                    <a:p>
                      <a:pPr algn="ctr"/>
                      <a:r>
                        <a:rPr sz="1000" b="1">
                          <a:solidFill>
                            <a:srgbClr val="1F9254"/>
                          </a:solidFill>
                          <a:latin typeface="Calibri"/>
                        </a:rPr>
                        <a:t>Implemented</a:t>
                      </a:r>
                    </a:p>
                  </a:txBody>
                  <a:tcPr marL="73152" marR="45720" marT="9144" marB="9144" anchor="ctr">
                    <a:solidFill>
                      <a:srgbClr val="EEF4EC"/>
                    </a:solidFill>
                  </a:tcPr>
                </a:tc>
              </a:tr>
              <a:tr h="403167">
                <a:tc>
                  <a:txBody>
                    <a:bodyPr wrap="square"/>
                    <a:lstStyle/>
                    <a:p>
                      <a:pPr algn="ctr"/>
                      <a:r>
                        <a:rPr sz="1000" b="1">
                          <a:solidFill>
                            <a:srgbClr val="1F9254"/>
                          </a:solidFill>
                          <a:latin typeface="Segoe UI Semibold"/>
                        </a:rPr>
                        <a:t>FC-09</a:t>
                      </a:r>
                    </a:p>
                  </a:txBody>
                  <a:tcPr marL="73152" marR="45720" marT="9144" marB="9144" anchor="ctr">
                    <a:solidFill>
                      <a:srgbClr val="FFFFFF"/>
                    </a:solidFill>
                  </a:tcPr>
                </a:tc>
                <a:tc>
                  <a:txBody>
                    <a:bodyPr wrap="square"/>
                    <a:lstStyle/>
                    <a:p>
                      <a:pPr algn="l"/>
                      <a:r>
                        <a:rPr sz="1000" b="0">
                          <a:solidFill>
                            <a:srgbClr val="12281C"/>
                          </a:solidFill>
                          <a:latin typeface="Calibri"/>
                        </a:rPr>
                        <a:t>Wheel / cutter jam</a:t>
                      </a:r>
                    </a:p>
                  </a:txBody>
                  <a:tcPr marL="73152" marR="45720" marT="9144" marB="9144" anchor="ctr">
                    <a:solidFill>
                      <a:srgbClr val="FFFFFF"/>
                    </a:solidFill>
                  </a:tcPr>
                </a:tc>
                <a:tc>
                  <a:txBody>
                    <a:bodyPr wrap="square"/>
                    <a:lstStyle/>
                    <a:p>
                      <a:pPr algn="l"/>
                      <a:r>
                        <a:rPr sz="1000" b="0">
                          <a:solidFill>
                            <a:srgbClr val="12281C"/>
                          </a:solidFill>
                          <a:latin typeface="Calibri"/>
                        </a:rPr>
                        <a:t>ADS1115 current-sense stall stop</a:t>
                      </a:r>
                    </a:p>
                  </a:txBody>
                  <a:tcPr marL="73152" marR="45720" marT="9144" marB="9144" anchor="ctr">
                    <a:solidFill>
                      <a:srgbClr val="FFFFFF"/>
                    </a:solidFill>
                  </a:tcPr>
                </a:tc>
                <a:tc>
                  <a:txBody>
                    <a:bodyPr wrap="square"/>
                    <a:lstStyle/>
                    <a:p>
                      <a:pPr algn="ctr"/>
                      <a:r>
                        <a:rPr sz="1000" b="1">
                          <a:solidFill>
                            <a:srgbClr val="1F9254"/>
                          </a:solidFill>
                          <a:latin typeface="Calibri"/>
                        </a:rPr>
                        <a:t>Implemented</a:t>
                      </a:r>
                    </a:p>
                  </a:txBody>
                  <a:tcPr marL="73152" marR="45720" marT="9144" marB="9144" anchor="ctr">
                    <a:solidFill>
                      <a:srgbClr val="FFFFFF"/>
                    </a:solidFill>
                  </a:tcPr>
                </a:tc>
              </a:tr>
              <a:tr h="403167">
                <a:tc>
                  <a:txBody>
                    <a:bodyPr wrap="square"/>
                    <a:lstStyle/>
                    <a:p>
                      <a:pPr algn="ctr"/>
                      <a:r>
                        <a:rPr sz="1000" b="1">
                          <a:solidFill>
                            <a:srgbClr val="1F9254"/>
                          </a:solidFill>
                          <a:latin typeface="Segoe UI Semibold"/>
                        </a:rPr>
                        <a:t>FC-10</a:t>
                      </a:r>
                    </a:p>
                  </a:txBody>
                  <a:tcPr marL="73152" marR="45720" marT="9144" marB="9144" anchor="ctr">
                    <a:solidFill>
                      <a:srgbClr val="EEF4EC"/>
                    </a:solidFill>
                  </a:tcPr>
                </a:tc>
                <a:tc>
                  <a:txBody>
                    <a:bodyPr wrap="square"/>
                    <a:lstStyle/>
                    <a:p>
                      <a:pPr algn="l"/>
                      <a:r>
                        <a:rPr sz="1000" b="0">
                          <a:solidFill>
                            <a:srgbClr val="12281C"/>
                          </a:solidFill>
                          <a:latin typeface="Calibri"/>
                        </a:rPr>
                        <a:t>Driver under-spec (L298N)</a:t>
                      </a:r>
                    </a:p>
                  </a:txBody>
                  <a:tcPr marL="73152" marR="45720" marT="9144" marB="9144" anchor="ctr">
                    <a:solidFill>
                      <a:srgbClr val="EEF4EC"/>
                    </a:solidFill>
                  </a:tcPr>
                </a:tc>
                <a:tc>
                  <a:txBody>
                    <a:bodyPr wrap="square"/>
                    <a:lstStyle/>
                    <a:p>
                      <a:pPr algn="l"/>
                      <a:r>
                        <a:rPr sz="1000" b="0">
                          <a:solidFill>
                            <a:srgbClr val="12281C"/>
                          </a:solidFill>
                          <a:latin typeface="Calibri"/>
                        </a:rPr>
                        <a:t>2× BTS7960 MOSFET drivers</a:t>
                      </a:r>
                    </a:p>
                  </a:txBody>
                  <a:tcPr marL="73152" marR="45720" marT="9144" marB="9144" anchor="ctr">
                    <a:solidFill>
                      <a:srgbClr val="EEF4EC"/>
                    </a:solidFill>
                  </a:tcPr>
                </a:tc>
                <a:tc>
                  <a:txBody>
                    <a:bodyPr wrap="square"/>
                    <a:lstStyle/>
                    <a:p>
                      <a:pPr algn="ctr"/>
                      <a:r>
                        <a:rPr sz="1000" b="1">
                          <a:solidFill>
                            <a:srgbClr val="F2A03D"/>
                          </a:solidFill>
                          <a:latin typeface="Calibri"/>
                        </a:rPr>
                        <a:t>Code-ready</a:t>
                      </a:r>
                    </a:p>
                  </a:txBody>
                  <a:tcPr marL="73152" marR="45720" marT="9144" marB="9144" anchor="ctr">
                    <a:solidFill>
                      <a:srgbClr val="EEF4EC"/>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