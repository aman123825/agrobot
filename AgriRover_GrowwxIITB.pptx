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4C2A"/>
            </a:gs>
            <a:gs pos="100000">
              <a:srgbClr val="0F4C2A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her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F4C2A"/>
              </a:gs>
              <a:gs pos="100000">
                <a:srgbClr val="1F7A3D"/>
              </a:gs>
            </a:gsLst>
            <a:lin ang="27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31" name="rr31"/>
          <p:cNvSpPr/>
          <p:nvPr/>
        </p:nvSpPr>
        <p:spPr>
          <a:xfrm>
            <a:off x="777240" y="1554480"/>
            <a:ext cx="822960" cy="822960"/>
          </a:xfrm>
          <a:prstGeom prst="roundRect">
            <a:avLst>
              <a:gd name="adj" fmla="val 28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x32"/>
          <p:cNvSpPr txBox="1"/>
          <p:nvPr/>
        </p:nvSpPr>
        <p:spPr>
          <a:xfrm>
            <a:off x="822960" y="1572768"/>
            <a:ext cx="77724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0F4C2A"/>
                </a:solidFill>
                <a:latin typeface="Calibri"/>
              </a:rPr>
              <a:t>A</a:t>
            </a:r>
          </a:p>
        </p:txBody>
      </p:sp>
      <p:sp>
        <p:nvSpPr>
          <p:cNvPr id="33" name="tx33"/>
          <p:cNvSpPr txBox="1"/>
          <p:nvPr/>
        </p:nvSpPr>
        <p:spPr>
          <a:xfrm>
            <a:off x="1828800" y="1417320"/>
            <a:ext cx="9144000" cy="12801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dirty="0">
                <a:solidFill>
                  <a:srgbClr val="FFFFFF"/>
                </a:solidFill>
                <a:latin typeface="Calibri"/>
              </a:rPr>
              <a:t>AgriRover</a:t>
            </a:r>
          </a:p>
        </p:txBody>
      </p:sp>
      <p:sp>
        <p:nvSpPr>
          <p:cNvPr id="34" name="r34"/>
          <p:cNvSpPr/>
          <p:nvPr/>
        </p:nvSpPr>
        <p:spPr>
          <a:xfrm>
            <a:off x="822960" y="2880360"/>
            <a:ext cx="1280160" cy="64008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x35"/>
          <p:cNvSpPr txBox="1"/>
          <p:nvPr/>
        </p:nvSpPr>
        <p:spPr>
          <a:xfrm>
            <a:off x="822960" y="3063240"/>
            <a:ext cx="100584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CDE7D2"/>
                </a:solidFill>
                <a:latin typeface="Calibri"/>
              </a:rPr>
              <a:t>Precision farming for every small farm</a:t>
            </a:r>
          </a:p>
        </p:txBody>
      </p:sp>
      <p:sp>
        <p:nvSpPr>
          <p:cNvPr id="36" name="tx36"/>
          <p:cNvSpPr txBox="1"/>
          <p:nvPr/>
        </p:nvSpPr>
        <p:spPr>
          <a:xfrm>
            <a:off x="822960" y="3977640"/>
            <a:ext cx="10332720" cy="822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dirty="0">
                <a:solidFill>
                  <a:srgbClr val="E6F2E9"/>
                </a:solidFill>
                <a:latin typeface="Calibri"/>
              </a:rPr>
              <a:t>Affordable autonomous rover — soil-NPK sensing · AI weed &amp; disease detection · per-plant micro-dosing</a:t>
            </a:r>
          </a:p>
        </p:txBody>
      </p:sp>
      <p:sp>
        <p:nvSpPr>
          <p:cNvPr id="37" name="rr37"/>
          <p:cNvSpPr/>
          <p:nvPr/>
        </p:nvSpPr>
        <p:spPr>
          <a:xfrm>
            <a:off x="822960" y="5074920"/>
            <a:ext cx="10332720" cy="960120"/>
          </a:xfrm>
          <a:prstGeom prst="roundRect">
            <a:avLst>
              <a:gd name="adj" fmla="val 12000"/>
            </a:avLst>
          </a:prstGeom>
          <a:solidFill>
            <a:srgbClr val="11592F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x38"/>
          <p:cNvSpPr txBox="1"/>
          <p:nvPr/>
        </p:nvSpPr>
        <p:spPr>
          <a:xfrm>
            <a:off x="1051560" y="5175504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"/>
              </a:spcAft>
              <a:buNone/>
            </a:pPr>
            <a:r>
              <a:rPr lang="en-US" sz="1150" b="1" dirty="0">
                <a:solidFill>
                  <a:srgbClr val="F2A900"/>
                </a:solidFill>
                <a:latin typeface="Calibri"/>
              </a:rPr>
              <a:t>IITB–Groww INV.ENT   ·   Track A   ·   Team of 4 · IIT Bombay</a:t>
            </a:r>
          </a:p>
        </p:txBody>
      </p:sp>
      <p:sp>
        <p:nvSpPr>
          <p:cNvPr id="39" name="tx39"/>
          <p:cNvSpPr txBox="1"/>
          <p:nvPr/>
        </p:nvSpPr>
        <p:spPr>
          <a:xfrm>
            <a:off x="1051560" y="5522976"/>
            <a:ext cx="10058400" cy="411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/>
              </a:rPr>
              <a:t>Hitanshu Kapadiya · Vivek Gupta · Shreyash Wagh · Pritish Nandy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PROBLEM &amp; VALIDATION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Farming runs on guesswork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x20"/>
          <p:cNvSpPr txBox="1"/>
          <p:nvPr/>
        </p:nvSpPr>
        <p:spPr>
          <a:xfrm>
            <a:off x="548640" y="1481328"/>
            <a:ext cx="109728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17241E"/>
                </a:solidFill>
                <a:latin typeface="Calibri"/>
              </a:rPr>
              <a:t>India's small farms can't use big machinery — and fertilise blind. That wastes money and degrades soil.</a:t>
            </a:r>
          </a:p>
        </p:txBody>
      </p:sp>
      <p:sp>
        <p:nvSpPr>
          <p:cNvPr id="21" name="rr21"/>
          <p:cNvSpPr/>
          <p:nvPr/>
        </p:nvSpPr>
        <p:spPr>
          <a:xfrm>
            <a:off x="548640" y="2148840"/>
            <a:ext cx="2615184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2" name="b"/>
          <p:cNvSpPr/>
          <p:nvPr/>
        </p:nvSpPr>
        <p:spPr>
          <a:xfrm>
            <a:off x="548640" y="214884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x23"/>
          <p:cNvSpPr txBox="1"/>
          <p:nvPr/>
        </p:nvSpPr>
        <p:spPr>
          <a:xfrm>
            <a:off x="749808" y="2441448"/>
            <a:ext cx="2249424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7A3D"/>
                </a:solidFill>
                <a:latin typeface="Calibri"/>
              </a:rPr>
              <a:t>86%</a:t>
            </a:r>
          </a:p>
        </p:txBody>
      </p:sp>
      <p:sp>
        <p:nvSpPr>
          <p:cNvPr id="24" name="tx24"/>
          <p:cNvSpPr txBox="1"/>
          <p:nvPr/>
        </p:nvSpPr>
        <p:spPr>
          <a:xfrm>
            <a:off x="749808" y="3200400"/>
            <a:ext cx="2212848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of holdings are under 2 ha — too small for tractors (Agri Census 2015-16).</a:t>
            </a:r>
          </a:p>
        </p:txBody>
      </p:sp>
      <p:sp>
        <p:nvSpPr>
          <p:cNvPr id="25" name="rr25"/>
          <p:cNvSpPr/>
          <p:nvPr/>
        </p:nvSpPr>
        <p:spPr>
          <a:xfrm>
            <a:off x="3346704" y="2148840"/>
            <a:ext cx="2615184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6" name="b"/>
          <p:cNvSpPr/>
          <p:nvPr/>
        </p:nvSpPr>
        <p:spPr>
          <a:xfrm>
            <a:off x="3346704" y="214884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x27"/>
          <p:cNvSpPr txBox="1"/>
          <p:nvPr/>
        </p:nvSpPr>
        <p:spPr>
          <a:xfrm>
            <a:off x="3547872" y="2441448"/>
            <a:ext cx="2249424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E8F86"/>
                </a:solidFill>
                <a:latin typeface="Calibri"/>
              </a:rPr>
              <a:t>Blind</a:t>
            </a:r>
          </a:p>
        </p:txBody>
      </p:sp>
      <p:sp>
        <p:nvSpPr>
          <p:cNvPr id="28" name="tx28"/>
          <p:cNvSpPr txBox="1"/>
          <p:nvPr/>
        </p:nvSpPr>
        <p:spPr>
          <a:xfrm>
            <a:off x="3547872" y="3200400"/>
            <a:ext cx="2212848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No affordable way to sense soil NPK or dose per plant.</a:t>
            </a:r>
          </a:p>
        </p:txBody>
      </p:sp>
      <p:sp>
        <p:nvSpPr>
          <p:cNvPr id="29" name="rr29"/>
          <p:cNvSpPr/>
          <p:nvPr/>
        </p:nvSpPr>
        <p:spPr>
          <a:xfrm>
            <a:off x="6144768" y="2148840"/>
            <a:ext cx="2615184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0" name="b"/>
          <p:cNvSpPr/>
          <p:nvPr/>
        </p:nvSpPr>
        <p:spPr>
          <a:xfrm>
            <a:off x="6144768" y="214884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x31"/>
          <p:cNvSpPr txBox="1"/>
          <p:nvPr/>
        </p:nvSpPr>
        <p:spPr>
          <a:xfrm>
            <a:off x="6345936" y="2441448"/>
            <a:ext cx="2249424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EF6C00"/>
                </a:solidFill>
                <a:latin typeface="Calibri"/>
              </a:rPr>
              <a:t>4:2:1</a:t>
            </a:r>
          </a:p>
        </p:txBody>
      </p:sp>
      <p:sp>
        <p:nvSpPr>
          <p:cNvPr id="32" name="tx32"/>
          <p:cNvSpPr txBox="1"/>
          <p:nvPr/>
        </p:nvSpPr>
        <p:spPr>
          <a:xfrm>
            <a:off x="6345936" y="3200400"/>
            <a:ext cx="2212848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NPK imbalance vs the ideal (FAI) — excess urea wastes money, kills soil.</a:t>
            </a:r>
          </a:p>
        </p:txBody>
      </p:sp>
      <p:sp>
        <p:nvSpPr>
          <p:cNvPr id="33" name="rr33"/>
          <p:cNvSpPr/>
          <p:nvPr/>
        </p:nvSpPr>
        <p:spPr>
          <a:xfrm>
            <a:off x="8942832" y="2148840"/>
            <a:ext cx="2615184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4" name="b"/>
          <p:cNvSpPr/>
          <p:nvPr/>
        </p:nvSpPr>
        <p:spPr>
          <a:xfrm>
            <a:off x="8942832" y="214884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x35"/>
          <p:cNvSpPr txBox="1"/>
          <p:nvPr/>
        </p:nvSpPr>
        <p:spPr>
          <a:xfrm>
            <a:off x="9144000" y="2441448"/>
            <a:ext cx="2249424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3F51B5"/>
                </a:solidFill>
                <a:latin typeface="Calibri"/>
              </a:rPr>
              <a:t>2-3 wks</a:t>
            </a:r>
          </a:p>
        </p:txBody>
      </p:sp>
      <p:sp>
        <p:nvSpPr>
          <p:cNvPr id="36" name="tx36"/>
          <p:cNvSpPr txBox="1"/>
          <p:nvPr/>
        </p:nvSpPr>
        <p:spPr>
          <a:xfrm>
            <a:off x="9144000" y="3200400"/>
            <a:ext cx="2212848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Soil-health lab tests are slow, so old habits win.</a:t>
            </a:r>
          </a:p>
        </p:txBody>
      </p:sp>
      <p:sp>
        <p:nvSpPr>
          <p:cNvPr id="37" name="rr37"/>
          <p:cNvSpPr/>
          <p:nvPr/>
        </p:nvSpPr>
        <p:spPr>
          <a:xfrm>
            <a:off x="548640" y="4754880"/>
            <a:ext cx="11064240" cy="1051560"/>
          </a:xfrm>
          <a:prstGeom prst="roundRect">
            <a:avLst>
              <a:gd name="adj" fmla="val 12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</p:spPr>
        <p:txBody>
          <a:bodyPr/>
          <a:lstStyle/>
          <a:p/>
        </p:txBody>
      </p:sp>
      <p:sp>
        <p:nvSpPr>
          <p:cNvPr id="38" name="tx38"/>
          <p:cNvSpPr txBox="1"/>
          <p:nvPr/>
        </p:nvSpPr>
        <p:spPr>
          <a:xfrm>
            <a:off x="822960" y="4882896"/>
            <a:ext cx="10607040" cy="82296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7A3D"/>
                </a:solidFill>
                <a:latin typeface="Calibri"/>
              </a:rPr>
              <a:t>Validated in the field:  </a:t>
            </a:r>
            <a:r>
              <a:rPr lang="en-US" sz="1200" dirty="0">
                <a:solidFill>
                  <a:srgbClr val="17241E"/>
                </a:solidFill>
                <a:latin typeface="Calibri"/>
              </a:rPr>
              <a:t>talks with local farmers &amp; input dealers confirm uniform hand-broadcasting and guesswork dosing is the norm.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SOLUTION &amp; INNOVATION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One low-cost autonomous rover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x20"/>
          <p:cNvSpPr txBox="1"/>
          <p:nvPr/>
        </p:nvSpPr>
        <p:spPr>
          <a:xfrm>
            <a:off x="548640" y="1481328"/>
            <a:ext cx="109728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17241E"/>
                </a:solidFill>
                <a:latin typeface="Calibri"/>
              </a:rPr>
              <a:t>AgriRover senses, decides and acts — per plant — at a fraction of big-machinery cost.</a:t>
            </a:r>
          </a:p>
        </p:txBody>
      </p:sp>
      <p:sp>
        <p:nvSpPr>
          <p:cNvPr id="21" name="rr21"/>
          <p:cNvSpPr/>
          <p:nvPr/>
        </p:nvSpPr>
        <p:spPr>
          <a:xfrm>
            <a:off x="548640" y="228600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2" name="bar21"/>
          <p:cNvSpPr/>
          <p:nvPr/>
        </p:nvSpPr>
        <p:spPr>
          <a:xfrm>
            <a:off x="548640" y="228600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r23"/>
          <p:cNvSpPr/>
          <p:nvPr/>
        </p:nvSpPr>
        <p:spPr>
          <a:xfrm>
            <a:off x="768096" y="25603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x24"/>
          <p:cNvSpPr txBox="1"/>
          <p:nvPr/>
        </p:nvSpPr>
        <p:spPr>
          <a:xfrm>
            <a:off x="768096" y="257860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x25"/>
          <p:cNvSpPr txBox="1"/>
          <p:nvPr/>
        </p:nvSpPr>
        <p:spPr>
          <a:xfrm>
            <a:off x="1371600" y="259689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SENSE</a:t>
            </a:r>
          </a:p>
        </p:txBody>
      </p:sp>
      <p:sp>
        <p:nvSpPr>
          <p:cNvPr id="26" name="tx26"/>
          <p:cNvSpPr txBox="1"/>
          <p:nvPr/>
        </p:nvSpPr>
        <p:spPr>
          <a:xfrm>
            <a:off x="786384" y="324612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7-in-1 NPK probe · moisture · TDS · pH · GPS/IMU</a:t>
            </a:r>
          </a:p>
        </p:txBody>
      </p:sp>
      <p:sp>
        <p:nvSpPr>
          <p:cNvPr id="27" name="rr27"/>
          <p:cNvSpPr/>
          <p:nvPr/>
        </p:nvSpPr>
        <p:spPr>
          <a:xfrm>
            <a:off x="3346704" y="228600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8" name="bar27"/>
          <p:cNvSpPr/>
          <p:nvPr/>
        </p:nvSpPr>
        <p:spPr>
          <a:xfrm>
            <a:off x="3346704" y="228600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r29"/>
          <p:cNvSpPr/>
          <p:nvPr/>
        </p:nvSpPr>
        <p:spPr>
          <a:xfrm>
            <a:off x="3566160" y="25603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3566160" y="257860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x31"/>
          <p:cNvSpPr txBox="1"/>
          <p:nvPr/>
        </p:nvSpPr>
        <p:spPr>
          <a:xfrm>
            <a:off x="4169664" y="259689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DECIDE</a:t>
            </a:r>
          </a:p>
        </p:txBody>
      </p:sp>
      <p:sp>
        <p:nvSpPr>
          <p:cNvPr id="32" name="tx32"/>
          <p:cNvSpPr txBox="1"/>
          <p:nvPr/>
        </p:nvSpPr>
        <p:spPr>
          <a:xfrm>
            <a:off x="3584448" y="324612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YOLOv8n vision — weed · disease · obstacle</a:t>
            </a:r>
          </a:p>
        </p:txBody>
      </p:sp>
      <p:sp>
        <p:nvSpPr>
          <p:cNvPr id="33" name="rr33"/>
          <p:cNvSpPr/>
          <p:nvPr/>
        </p:nvSpPr>
        <p:spPr>
          <a:xfrm>
            <a:off x="6144768" y="228600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4" name="bar33"/>
          <p:cNvSpPr/>
          <p:nvPr/>
        </p:nvSpPr>
        <p:spPr>
          <a:xfrm>
            <a:off x="6144768" y="228600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rr35"/>
          <p:cNvSpPr/>
          <p:nvPr/>
        </p:nvSpPr>
        <p:spPr>
          <a:xfrm>
            <a:off x="6364224" y="25603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x36"/>
          <p:cNvSpPr txBox="1"/>
          <p:nvPr/>
        </p:nvSpPr>
        <p:spPr>
          <a:xfrm>
            <a:off x="6364224" y="257860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x37"/>
          <p:cNvSpPr txBox="1"/>
          <p:nvPr/>
        </p:nvSpPr>
        <p:spPr>
          <a:xfrm>
            <a:off x="6967728" y="259689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ACT</a:t>
            </a:r>
          </a:p>
        </p:txBody>
      </p:sp>
      <p:sp>
        <p:nvSpPr>
          <p:cNvPr id="38" name="tx38"/>
          <p:cNvSpPr txBox="1"/>
          <p:nvPr/>
        </p:nvSpPr>
        <p:spPr>
          <a:xfrm>
            <a:off x="6382512" y="324612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micro-dosing · aimed spot-spray · cutter/seeder</a:t>
            </a:r>
          </a:p>
        </p:txBody>
      </p:sp>
      <p:sp>
        <p:nvSpPr>
          <p:cNvPr id="39" name="rr39"/>
          <p:cNvSpPr/>
          <p:nvPr/>
        </p:nvSpPr>
        <p:spPr>
          <a:xfrm>
            <a:off x="8942832" y="228600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0" name="bar39"/>
          <p:cNvSpPr/>
          <p:nvPr/>
        </p:nvSpPr>
        <p:spPr>
          <a:xfrm>
            <a:off x="8942832" y="228600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rr41"/>
          <p:cNvSpPr/>
          <p:nvPr/>
        </p:nvSpPr>
        <p:spPr>
          <a:xfrm>
            <a:off x="9162288" y="25603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x42"/>
          <p:cNvSpPr txBox="1"/>
          <p:nvPr/>
        </p:nvSpPr>
        <p:spPr>
          <a:xfrm>
            <a:off x="9162288" y="257860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x43"/>
          <p:cNvSpPr txBox="1"/>
          <p:nvPr/>
        </p:nvSpPr>
        <p:spPr>
          <a:xfrm>
            <a:off x="9765792" y="259689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LEARN</a:t>
            </a:r>
          </a:p>
        </p:txBody>
      </p:sp>
      <p:sp>
        <p:nvSpPr>
          <p:cNvPr id="44" name="tx44"/>
          <p:cNvSpPr txBox="1"/>
          <p:nvPr/>
        </p:nvSpPr>
        <p:spPr>
          <a:xfrm>
            <a:off x="9180576" y="324612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geo-tagged logs · prescription maps · dashboard</a:t>
            </a:r>
          </a:p>
        </p:txBody>
      </p:sp>
      <p:sp>
        <p:nvSpPr>
          <p:cNvPr id="45" name="rr45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14000"/>
            </a:avLst>
          </a:prstGeom>
          <a:solidFill>
            <a:srgbClr val="0F4C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x46"/>
          <p:cNvSpPr txBox="1"/>
          <p:nvPr/>
        </p:nvSpPr>
        <p:spPr>
          <a:xfrm>
            <a:off x="822960" y="5358384"/>
            <a:ext cx="10607040" cy="64008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2A900"/>
                </a:solidFill>
                <a:latin typeface="Calibri"/>
              </a:rPr>
              <a:t>Why it's different:  </a:t>
            </a:r>
            <a:r>
              <a:rPr lang="en-US" sz="1250" dirty="0">
                <a:solidFill>
                  <a:srgbClr val="FFFFFF"/>
                </a:solidFill>
                <a:latin typeface="Calibri"/>
              </a:rPr>
              <a:t>the only affordable, autonomous, per-plant solution purpose-built for India's small farms.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WHY AGRIROVER?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Versus the alternatives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20" name="t20"/>
          <p:cNvGraphicFramePr/>
          <p:nvPr/>
        </p:nvGraphicFramePr>
        <p:xfrm>
          <a:off x="548640" y="1600200"/>
          <a:ext cx="11064240" cy="35844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83280"/>
                <a:gridCol w="2103120"/>
                <a:gridCol w="2011680"/>
                <a:gridCol w="1783080"/>
                <a:gridCol w="1783080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0000" marR="46000" marT="24000" marB="24000" anchor="ctr">
                    <a:solidFill>
                      <a:srgbClr val="0F4C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AgriRover</a:t>
                      </a:r>
                    </a:p>
                  </a:txBody>
                  <a:tcPr marL="60000" marR="46000" marT="24000" marB="24000" anchor="ctr">
                    <a:solidFill>
                      <a:srgbClr val="1F7A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Big-ag machinery</a:t>
                      </a:r>
                    </a:p>
                  </a:txBody>
                  <a:tcPr marL="60000" marR="46000" marT="24000" marB="24000" anchor="ctr">
                    <a:solidFill>
                      <a:srgbClr val="0F4C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Manual labour</a:t>
                      </a:r>
                    </a:p>
                  </a:txBody>
                  <a:tcPr marL="60000" marR="46000" marT="24000" marB="24000" anchor="ctr">
                    <a:solidFill>
                      <a:srgbClr val="0F4C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Ag-drones</a:t>
                      </a:r>
                    </a:p>
                  </a:txBody>
                  <a:tcPr marL="60000" marR="46000" marT="24000" marB="24000" anchor="ctr">
                    <a:solidFill>
                      <a:srgbClr val="0F4C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Affordable for &lt;2 ha farms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✓*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Senses soil NPK per spot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Per-plant micro-dosing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AI weed &amp; disease ID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Autonomous operation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7241E"/>
                          </a:solidFill>
                          <a:latin typeface="Calibri"/>
                        </a:rPr>
                        <a:t>One-time low-cost asset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F7A3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0000" marR="46000" marT="24000" marB="24000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C6282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B26A0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60000" marR="46000" marT="24000" marB="24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r21"/>
          <p:cNvSpPr/>
          <p:nvPr/>
        </p:nvSpPr>
        <p:spPr>
          <a:xfrm>
            <a:off x="548640" y="5532120"/>
            <a:ext cx="11064240" cy="566928"/>
          </a:xfrm>
          <a:prstGeom prst="roundRect">
            <a:avLst>
              <a:gd name="adj" fmla="val 16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</p:spPr>
        <p:txBody>
          <a:bodyPr/>
          <a:lstStyle/>
          <a:p/>
        </p:txBody>
      </p:sp>
      <p:sp>
        <p:nvSpPr>
          <p:cNvPr id="22" name="tx22"/>
          <p:cNvSpPr txBox="1"/>
          <p:nvPr/>
        </p:nvSpPr>
        <p:spPr>
          <a:xfrm>
            <a:off x="822960" y="5596128"/>
            <a:ext cx="1060704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1F7A3D"/>
                </a:solidFill>
                <a:latin typeface="Calibri"/>
              </a:rPr>
              <a:t>Our edge:  </a:t>
            </a:r>
            <a:r>
              <a:rPr lang="en-US" sz="1100" dirty="0">
                <a:solidFill>
                  <a:srgbClr val="17241E"/>
                </a:solidFill>
                <a:latin typeface="Calibri"/>
              </a:rPr>
              <a:t>affordable + autonomous + per-plant, in one asset that also senses soil.   *manual labour is cheap per use but recurring.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SENSE &amp; SEE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Know the soil, see the crop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00200"/>
            <a:ext cx="640080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tx21"/>
          <p:cNvSpPr txBox="1"/>
          <p:nvPr/>
        </p:nvSpPr>
        <p:spPr>
          <a:xfrm>
            <a:off x="868680" y="1828800"/>
            <a:ext cx="5852160" cy="3840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37744" indent="-237744" algn="l">
              <a:spcBef>
                <a:spcPts val="0"/>
              </a:spcBef>
              <a:spcAft>
                <a:spcPts val="260"/>
              </a:spcAft>
              <a:buFont typeface="Arial"/>
              <a:buChar char="•"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7-in-1 soil probe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N·P·K·pH·EC·moisture·temp over RS485 Modbus</a:t>
            </a:r>
          </a:p>
          <a:p>
            <a:pPr marL="237744" indent="-237744" algn="l">
              <a:spcBef>
                <a:spcPts val="0"/>
              </a:spcBef>
              <a:spcAft>
                <a:spcPts val="260"/>
              </a:spcAft>
              <a:buFont typeface="Arial"/>
              <a:buChar char="•"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Calibrated &amp; robust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oversampled ADC, multi-point moisture, temp-comp TDS</a:t>
            </a:r>
          </a:p>
          <a:p>
            <a:pPr marL="237744" indent="-237744" algn="l">
              <a:spcBef>
                <a:spcPts val="0"/>
              </a:spcBef>
              <a:spcAft>
                <a:spcPts val="260"/>
              </a:spcAft>
              <a:buFont typeface="Arial"/>
              <a:buChar char="•"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Three AI models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obstacle · weed (DeepWeeds) · disease (PlantVillage)</a:t>
            </a:r>
          </a:p>
          <a:p>
            <a:pPr marL="237744" indent="-237744" algn="l">
              <a:spcBef>
                <a:spcPts val="0"/>
              </a:spcBef>
              <a:spcAft>
                <a:spcPts val="260"/>
              </a:spcAft>
              <a:buFont typeface="Arial"/>
              <a:buChar char="•"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Runs on Coral Edge TPU  —  </a:t>
            </a:r>
            <a:r>
              <a:rPr lang="en-US" sz="1200" dirty="0">
                <a:solidFill>
                  <a:srgbClr val="5B6B63"/>
                </a:solidFill>
                <a:latin typeface="Calibri"/>
              </a:rPr>
              <a:t>~10× faster than CPU; fails safe if a model is absent</a:t>
            </a:r>
          </a:p>
        </p:txBody>
      </p:sp>
      <p:sp>
        <p:nvSpPr>
          <p:cNvPr id="22" name="rr22"/>
          <p:cNvSpPr/>
          <p:nvPr/>
        </p:nvSpPr>
        <p:spPr>
          <a:xfrm>
            <a:off x="7178040" y="1600200"/>
            <a:ext cx="2121408" cy="20482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7178954" y="1601114"/>
            <a:ext cx="109728" cy="2046427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x24"/>
          <p:cNvSpPr txBox="1"/>
          <p:nvPr/>
        </p:nvSpPr>
        <p:spPr>
          <a:xfrm>
            <a:off x="7470648" y="1728216"/>
            <a:ext cx="1664208" cy="1792224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1F7A3D"/>
                </a:solidFill>
                <a:latin typeface="Calibri"/>
              </a:rPr>
              <a:t>7-in-1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soil probe</a:t>
            </a:r>
          </a:p>
        </p:txBody>
      </p:sp>
      <p:sp>
        <p:nvSpPr>
          <p:cNvPr id="25" name="rr25"/>
          <p:cNvSpPr/>
          <p:nvPr/>
        </p:nvSpPr>
        <p:spPr>
          <a:xfrm>
            <a:off x="9482328" y="1600200"/>
            <a:ext cx="2121408" cy="20482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6" name="r26"/>
          <p:cNvSpPr/>
          <p:nvPr/>
        </p:nvSpPr>
        <p:spPr>
          <a:xfrm>
            <a:off x="9483242" y="1601114"/>
            <a:ext cx="109728" cy="2046427"/>
          </a:xfrm>
          <a:prstGeom prst="rect">
            <a:avLst/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x27"/>
          <p:cNvSpPr txBox="1"/>
          <p:nvPr/>
        </p:nvSpPr>
        <p:spPr>
          <a:xfrm>
            <a:off x="9774936" y="1728216"/>
            <a:ext cx="1664208" cy="1792224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0E8F86"/>
                </a:solidFill>
                <a:latin typeface="Calibri"/>
              </a:rPr>
              <a:t>38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disease classes</a:t>
            </a:r>
          </a:p>
        </p:txBody>
      </p:sp>
      <p:sp>
        <p:nvSpPr>
          <p:cNvPr id="28" name="rr28"/>
          <p:cNvSpPr/>
          <p:nvPr/>
        </p:nvSpPr>
        <p:spPr>
          <a:xfrm>
            <a:off x="7178040" y="3849624"/>
            <a:ext cx="2121408" cy="20482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7178954" y="3850538"/>
            <a:ext cx="109728" cy="2046427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7470648" y="3977640"/>
            <a:ext cx="1664208" cy="1792224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EF6C00"/>
                </a:solidFill>
                <a:latin typeface="Calibri"/>
              </a:rPr>
              <a:t>~30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FPS on Coral</a:t>
            </a:r>
          </a:p>
        </p:txBody>
      </p:sp>
      <p:sp>
        <p:nvSpPr>
          <p:cNvPr id="31" name="rr31"/>
          <p:cNvSpPr/>
          <p:nvPr/>
        </p:nvSpPr>
        <p:spPr>
          <a:xfrm>
            <a:off x="9482328" y="3849624"/>
            <a:ext cx="2121408" cy="20482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2" name="r32"/>
          <p:cNvSpPr/>
          <p:nvPr/>
        </p:nvSpPr>
        <p:spPr>
          <a:xfrm>
            <a:off x="9483242" y="3850538"/>
            <a:ext cx="109728" cy="2046427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x33"/>
          <p:cNvSpPr txBox="1"/>
          <p:nvPr/>
        </p:nvSpPr>
        <p:spPr>
          <a:xfrm>
            <a:off x="9774936" y="3977640"/>
            <a:ext cx="1664208" cy="1792224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3F51B5"/>
                </a:solidFill>
                <a:latin typeface="Calibri"/>
              </a:rPr>
              <a:t>10–20cm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plant geo-tag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ACT &amp; AUTONOMY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Treat the plant, drive the field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002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bar20"/>
          <p:cNvSpPr/>
          <p:nvPr/>
        </p:nvSpPr>
        <p:spPr>
          <a:xfrm>
            <a:off x="548640" y="160020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x22"/>
          <p:cNvSpPr txBox="1"/>
          <p:nvPr/>
        </p:nvSpPr>
        <p:spPr>
          <a:xfrm>
            <a:off x="786384" y="185623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Sequential micro-dosing</a:t>
            </a:r>
          </a:p>
        </p:txBody>
      </p:sp>
      <p:sp>
        <p:nvSpPr>
          <p:cNvPr id="23" name="tx23"/>
          <p:cNvSpPr txBox="1"/>
          <p:nvPr/>
        </p:nvSpPr>
        <p:spPr>
          <a:xfrm>
            <a:off x="786384" y="2560320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pre-soak → probe → dose → retract; drive frozen while dosing</a:t>
            </a:r>
          </a:p>
        </p:txBody>
      </p:sp>
      <p:sp>
        <p:nvSpPr>
          <p:cNvPr id="24" name="rr24"/>
          <p:cNvSpPr/>
          <p:nvPr/>
        </p:nvSpPr>
        <p:spPr>
          <a:xfrm>
            <a:off x="4297680" y="16002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5" name="bar24"/>
          <p:cNvSpPr/>
          <p:nvPr/>
        </p:nvSpPr>
        <p:spPr>
          <a:xfrm>
            <a:off x="4297680" y="160020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x26"/>
          <p:cNvSpPr txBox="1"/>
          <p:nvPr/>
        </p:nvSpPr>
        <p:spPr>
          <a:xfrm>
            <a:off x="4535424" y="185623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Vision-aimed spot-spray</a:t>
            </a:r>
          </a:p>
        </p:txBody>
      </p:sp>
      <p:sp>
        <p:nvSpPr>
          <p:cNvPr id="27" name="tx27"/>
          <p:cNvSpPr txBox="1"/>
          <p:nvPr/>
        </p:nvSpPr>
        <p:spPr>
          <a:xfrm>
            <a:off x="4535424" y="2560320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pan/tilt nozzle targets each detected weed (FC-01)</a:t>
            </a:r>
          </a:p>
        </p:txBody>
      </p:sp>
      <p:sp>
        <p:nvSpPr>
          <p:cNvPr id="28" name="rr28"/>
          <p:cNvSpPr/>
          <p:nvPr/>
        </p:nvSpPr>
        <p:spPr>
          <a:xfrm>
            <a:off x="8046720" y="16002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9" name="bar28"/>
          <p:cNvSpPr/>
          <p:nvPr/>
        </p:nvSpPr>
        <p:spPr>
          <a:xfrm>
            <a:off x="8046720" y="160020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8284464" y="185623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Autonomous snake-route</a:t>
            </a:r>
          </a:p>
        </p:txBody>
      </p:sp>
      <p:sp>
        <p:nvSpPr>
          <p:cNvPr id="31" name="tx31"/>
          <p:cNvSpPr txBox="1"/>
          <p:nvPr/>
        </p:nvSpPr>
        <p:spPr>
          <a:xfrm>
            <a:off x="8284464" y="2560320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GPS + SBAS + EKF fusion → sub-meter coverage</a:t>
            </a:r>
          </a:p>
        </p:txBody>
      </p:sp>
      <p:sp>
        <p:nvSpPr>
          <p:cNvPr id="32" name="rr32"/>
          <p:cNvSpPr/>
          <p:nvPr/>
        </p:nvSpPr>
        <p:spPr>
          <a:xfrm>
            <a:off x="548640" y="3995928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3" name="bar32"/>
          <p:cNvSpPr/>
          <p:nvPr/>
        </p:nvSpPr>
        <p:spPr>
          <a:xfrm>
            <a:off x="548640" y="3995928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x34"/>
          <p:cNvSpPr txBox="1"/>
          <p:nvPr/>
        </p:nvSpPr>
        <p:spPr>
          <a:xfrm>
            <a:off x="786384" y="4251960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Closed-loop velocity PID</a:t>
            </a:r>
          </a:p>
        </p:txBody>
      </p:sp>
      <p:sp>
        <p:nvSpPr>
          <p:cNvPr id="35" name="tx35"/>
          <p:cNvSpPr txBox="1"/>
          <p:nvPr/>
        </p:nvSpPr>
        <p:spPr>
          <a:xfrm>
            <a:off x="786384" y="4956048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encoder feedback → straight rows, repeatable spacing</a:t>
            </a:r>
          </a:p>
        </p:txBody>
      </p:sp>
      <p:sp>
        <p:nvSpPr>
          <p:cNvPr id="36" name="rr36"/>
          <p:cNvSpPr/>
          <p:nvPr/>
        </p:nvSpPr>
        <p:spPr>
          <a:xfrm>
            <a:off x="4297680" y="3995928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7" name="bar36"/>
          <p:cNvSpPr/>
          <p:nvPr/>
        </p:nvSpPr>
        <p:spPr>
          <a:xfrm>
            <a:off x="4297680" y="3995928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6A3EA1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x38"/>
          <p:cNvSpPr txBox="1"/>
          <p:nvPr/>
        </p:nvSpPr>
        <p:spPr>
          <a:xfrm>
            <a:off x="4535424" y="4251960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Fail-safe by design</a:t>
            </a:r>
          </a:p>
        </p:txBody>
      </p:sp>
      <p:sp>
        <p:nvSpPr>
          <p:cNvPr id="39" name="tx39"/>
          <p:cNvSpPr txBox="1"/>
          <p:nvPr/>
        </p:nvSpPr>
        <p:spPr>
          <a:xfrm>
            <a:off x="4535424" y="4956048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E-stop · dead-man heartbeat · thermal guardian · stall stop</a:t>
            </a:r>
          </a:p>
        </p:txBody>
      </p:sp>
      <p:sp>
        <p:nvSpPr>
          <p:cNvPr id="40" name="rr40"/>
          <p:cNvSpPr/>
          <p:nvPr/>
        </p:nvSpPr>
        <p:spPr>
          <a:xfrm>
            <a:off x="8046720" y="3995928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1" name="bar40"/>
          <p:cNvSpPr/>
          <p:nvPr/>
        </p:nvSpPr>
        <p:spPr>
          <a:xfrm>
            <a:off x="8046720" y="3995928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C62828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x42"/>
          <p:cNvSpPr txBox="1"/>
          <p:nvPr/>
        </p:nvSpPr>
        <p:spPr>
          <a:xfrm>
            <a:off x="8284464" y="4251960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Modular tools</a:t>
            </a:r>
          </a:p>
        </p:txBody>
      </p:sp>
      <p:sp>
        <p:nvSpPr>
          <p:cNvPr id="43" name="tx43"/>
          <p:cNvSpPr txBox="1"/>
          <p:nvPr/>
        </p:nvSpPr>
        <p:spPr>
          <a:xfrm>
            <a:off x="8284464" y="4956048"/>
            <a:ext cx="3108960" cy="11430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cutter · seeder · weeder · sprayer — swap per job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MARKET OPPORTUNITY &amp; SCOPE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A large, growing market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4592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r21"/>
          <p:cNvSpPr/>
          <p:nvPr/>
        </p:nvSpPr>
        <p:spPr>
          <a:xfrm>
            <a:off x="549554" y="1646834"/>
            <a:ext cx="109728" cy="1369771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x22"/>
          <p:cNvSpPr txBox="1"/>
          <p:nvPr/>
        </p:nvSpPr>
        <p:spPr>
          <a:xfrm>
            <a:off x="841248" y="1773936"/>
            <a:ext cx="502920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1F7A3D"/>
                </a:solidFill>
                <a:latin typeface="Calibri"/>
              </a:rPr>
              <a:t>$2.5 Bn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India agritech market by 2034 (~$0.97 Bn in 2025, ~10.6% CAGR).</a:t>
            </a:r>
          </a:p>
        </p:txBody>
      </p:sp>
      <p:sp>
        <p:nvSpPr>
          <p:cNvPr id="23" name="rr23"/>
          <p:cNvSpPr/>
          <p:nvPr/>
        </p:nvSpPr>
        <p:spPr>
          <a:xfrm>
            <a:off x="548640" y="3163824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549554" y="3164738"/>
            <a:ext cx="109728" cy="1369771"/>
          </a:xfrm>
          <a:prstGeom prst="rect">
            <a:avLst/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x25"/>
          <p:cNvSpPr txBox="1"/>
          <p:nvPr/>
        </p:nvSpPr>
        <p:spPr>
          <a:xfrm>
            <a:off x="841248" y="3291840"/>
            <a:ext cx="502920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0E8F86"/>
                </a:solidFill>
                <a:latin typeface="Calibri"/>
              </a:rPr>
              <a:t>$739 Mn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India precision-agriculture market by 2034 (~9.2% CAGR).</a:t>
            </a:r>
          </a:p>
        </p:txBody>
      </p:sp>
      <p:sp>
        <p:nvSpPr>
          <p:cNvPr id="26" name="rr26"/>
          <p:cNvSpPr/>
          <p:nvPr/>
        </p:nvSpPr>
        <p:spPr>
          <a:xfrm>
            <a:off x="548640" y="4681728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7" name="r27"/>
          <p:cNvSpPr/>
          <p:nvPr/>
        </p:nvSpPr>
        <p:spPr>
          <a:xfrm>
            <a:off x="549554" y="4682642"/>
            <a:ext cx="109728" cy="1369771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x28"/>
          <p:cNvSpPr txBox="1"/>
          <p:nvPr/>
        </p:nvSpPr>
        <p:spPr>
          <a:xfrm>
            <a:off x="841248" y="4809744"/>
            <a:ext cx="5029200" cy="1115568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2600" b="1" dirty="0">
                <a:solidFill>
                  <a:srgbClr val="EF6C00"/>
                </a:solidFill>
                <a:latin typeface="Calibri"/>
              </a:rPr>
              <a:t>~146 M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17241E"/>
                </a:solidFill>
                <a:latin typeface="Calibri"/>
              </a:rPr>
              <a:t>farm holdings — 86% small/marginal (&lt;2 ha): our core market.</a:t>
            </a:r>
          </a:p>
        </p:txBody>
      </p:sp>
      <p:sp>
        <p:nvSpPr>
          <p:cNvPr id="29" name="rr29"/>
          <p:cNvSpPr/>
          <p:nvPr/>
        </p:nvSpPr>
        <p:spPr>
          <a:xfrm>
            <a:off x="6263640" y="1645920"/>
            <a:ext cx="534924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6537960" y="1874520"/>
            <a:ext cx="4892040" cy="3840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250" b="1" dirty="0">
                <a:solidFill>
                  <a:srgbClr val="1F7A3D"/>
                </a:solidFill>
                <a:latin typeface="Calibri"/>
              </a:rPr>
              <a:t>Scope — what it does today</a:t>
            </a:r>
          </a:p>
          <a:p>
            <a:pPr marL="219456" indent="-219456" algn="l">
              <a:spcBef>
                <a:spcPts val="0"/>
              </a:spcBef>
              <a:spcAft>
                <a:spcPts val="260"/>
              </a:spcAft>
              <a:buFont typeface="Arial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/>
              </a:rPr>
              <a:t>Soil NPK sensing, AI weed/disease ID, targeted micro-dosing, autonomous nav.</a:t>
            </a:r>
          </a:p>
          <a:p>
            <a:pPr marL="0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250" b="1" dirty="0">
                <a:solidFill>
                  <a:srgbClr val="1F7A3D"/>
                </a:solidFill>
                <a:latin typeface="Calibri"/>
              </a:rPr>
              <a:t>Scope — where it grows</a:t>
            </a:r>
          </a:p>
          <a:p>
            <a:pPr marL="219456" indent="-219456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/>
              </a:rPr>
              <a:t>Crops: vegetables, cotton, cereals, orchards, polyhouses.</a:t>
            </a:r>
          </a:p>
          <a:p>
            <a:pPr marL="219456" indent="-219456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/>
              </a:rPr>
              <a:t>Geography: India's small-farm belts via FPOs / co-ops.</a:t>
            </a:r>
          </a:p>
          <a:p>
            <a:pPr marL="219456" indent="-219456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/>
              </a:rPr>
              <a:t>Add-ons: seeding, spraying, weeding, scouting, yield mapping.</a:t>
            </a:r>
          </a:p>
          <a:p>
            <a:pPr marL="219456" indent="-219456" algn="l"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/>
              </a:rPr>
              <a:t>Data services: soil &amp; crop analytics + prescription maps (recurring).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TAILWINDS &amp; BUSINESS MODEL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Policy is on our side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00200"/>
            <a:ext cx="640080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tx21"/>
          <p:cNvSpPr txBox="1"/>
          <p:nvPr/>
        </p:nvSpPr>
        <p:spPr>
          <a:xfrm>
            <a:off x="868680" y="1828800"/>
            <a:ext cx="5852160" cy="3840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F4C2A"/>
                </a:solidFill>
                <a:latin typeface="Calibri"/>
              </a:rPr>
              <a:t>Policy is on our side</a:t>
            </a:r>
          </a:p>
          <a:p>
            <a:pPr marL="237744" indent="-23774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150" b="1" dirty="0">
                <a:solidFill>
                  <a:srgbClr val="1F7A3D"/>
                </a:solidFill>
                <a:latin typeface="Calibri"/>
              </a:rPr>
              <a:t>SMAM  —  </a:t>
            </a:r>
            <a:r>
              <a:rPr lang="en-US" sz="1150" dirty="0">
                <a:solidFill>
                  <a:srgbClr val="5B6B63"/>
                </a:solidFill>
                <a:latin typeface="Calibri"/>
              </a:rPr>
              <a:t>50–80% subsidy on farm machinery; funds Custom Hiring Centres</a:t>
            </a:r>
          </a:p>
          <a:p>
            <a:pPr marL="237744" indent="-23774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150" b="1" dirty="0">
                <a:solidFill>
                  <a:srgbClr val="1F7A3D"/>
                </a:solidFill>
                <a:latin typeface="Calibri"/>
              </a:rPr>
              <a:t>Agri Infra Fund  —  </a:t>
            </a:r>
            <a:r>
              <a:rPr lang="en-US" sz="1150" dirty="0">
                <a:solidFill>
                  <a:srgbClr val="5B6B63"/>
                </a:solidFill>
                <a:latin typeface="Calibri"/>
              </a:rPr>
              <a:t>interest-subvented loans for FPOs/SHGs to set up CHCs</a:t>
            </a:r>
          </a:p>
          <a:p>
            <a:pPr marL="237744" indent="-23774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150" b="1" dirty="0">
                <a:solidFill>
                  <a:srgbClr val="1F7A3D"/>
                </a:solidFill>
                <a:latin typeface="Calibri"/>
              </a:rPr>
              <a:t>Namo Drone Didi  —  </a:t>
            </a:r>
            <a:r>
              <a:rPr lang="en-US" sz="1150" dirty="0">
                <a:solidFill>
                  <a:srgbClr val="5B6B63"/>
                </a:solidFill>
                <a:latin typeface="Calibri"/>
              </a:rPr>
              <a:t>15,000 drones to women SHGs — momentum for ag-robotics</a:t>
            </a:r>
          </a:p>
          <a:p>
            <a:pPr marL="237744" indent="-237744" algn="l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en-US" sz="1150" b="1" dirty="0">
                <a:solidFill>
                  <a:srgbClr val="1F7A3D"/>
                </a:solidFill>
                <a:latin typeface="Calibri"/>
              </a:rPr>
              <a:t>Soil Health Card  —  </a:t>
            </a:r>
            <a:r>
              <a:rPr lang="en-US" sz="1150" dirty="0">
                <a:solidFill>
                  <a:srgbClr val="5B6B63"/>
                </a:solidFill>
                <a:latin typeface="Calibri"/>
              </a:rPr>
              <a:t>national soil-testing push — aligns with our NPK sensing</a:t>
            </a:r>
          </a:p>
        </p:txBody>
      </p:sp>
      <p:sp>
        <p:nvSpPr>
          <p:cNvPr id="22" name="rr22"/>
          <p:cNvSpPr/>
          <p:nvPr/>
        </p:nvSpPr>
        <p:spPr>
          <a:xfrm>
            <a:off x="7178040" y="1600200"/>
            <a:ext cx="4434840" cy="4297680"/>
          </a:xfrm>
          <a:prstGeom prst="roundRect">
            <a:avLst>
              <a:gd name="adj" fmla="val 6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3" name="tx23"/>
          <p:cNvSpPr txBox="1"/>
          <p:nvPr/>
        </p:nvSpPr>
        <p:spPr>
          <a:xfrm>
            <a:off x="7452360" y="1828800"/>
            <a:ext cx="3931920" cy="38404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250" b="1" dirty="0">
                <a:solidFill>
                  <a:srgbClr val="1F7A3D"/>
                </a:solidFill>
                <a:latin typeface="Calibri"/>
              </a:rPr>
              <a:t>How we leverage it</a:t>
            </a:r>
          </a:p>
          <a:p>
            <a:pPr marL="219456" indent="-219456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7241E"/>
                </a:solidFill>
                <a:latin typeface="Calibri"/>
              </a:rPr>
              <a:t>Rover = agri-machinery → SMAM subsidy cuts farmer cost.</a:t>
            </a:r>
          </a:p>
          <a:p>
            <a:pPr marL="219456" indent="-219456" algn="l">
              <a:spcBef>
                <a:spcPts val="0"/>
              </a:spcBef>
              <a:spcAft>
                <a:spcPts val="260"/>
              </a:spcAft>
              <a:buFont typeface="Arial"/>
              <a:buChar char="•"/>
            </a:pPr>
            <a:r>
              <a:rPr lang="en-US" sz="1100" dirty="0">
                <a:solidFill>
                  <a:srgbClr val="17241E"/>
                </a:solidFill>
                <a:latin typeface="Calibri"/>
              </a:rPr>
              <a:t>Deploy via FPOs / CHCs financed by AIF → shared asset.</a:t>
            </a:r>
          </a:p>
          <a:p>
            <a:pPr marL="0" indent="0" algn="l">
              <a:spcBef>
                <a:spcPts val="0"/>
              </a:spcBef>
              <a:spcAft>
                <a:spcPts val="140"/>
              </a:spcAft>
              <a:buNone/>
            </a:pPr>
            <a:r>
              <a:rPr lang="en-US" sz="1250" b="1" dirty="0">
                <a:solidFill>
                  <a:srgbClr val="1F7A3D"/>
                </a:solidFill>
                <a:latin typeface="Calibri"/>
              </a:rPr>
              <a:t>Revenue streams</a:t>
            </a:r>
          </a:p>
          <a:p>
            <a:pPr marL="219456" indent="-219456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7241E"/>
                </a:solidFill>
                <a:latin typeface="Calibri"/>
              </a:rPr>
              <a:t>Rover sale + annual service contract.</a:t>
            </a:r>
          </a:p>
          <a:p>
            <a:pPr marL="219456" indent="-219456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7241E"/>
                </a:solidFill>
                <a:latin typeface="Calibri"/>
              </a:rPr>
              <a:t>Rover-as-a-Service: per-acre fee via FPO/CHC.</a:t>
            </a:r>
          </a:p>
          <a:p>
            <a:pPr marL="219456" indent="-219456" algn="l"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1100" dirty="0">
                <a:solidFill>
                  <a:srgbClr val="17241E"/>
                </a:solidFill>
                <a:latin typeface="Calibri"/>
              </a:rPr>
              <a:t>Subscription: soil &amp; crop analytics + maps.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WHAT WE'VE BUILT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A working POC / MVP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55448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bar20"/>
          <p:cNvSpPr/>
          <p:nvPr/>
        </p:nvSpPr>
        <p:spPr>
          <a:xfrm>
            <a:off x="548640" y="155448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r22"/>
          <p:cNvSpPr/>
          <p:nvPr/>
        </p:nvSpPr>
        <p:spPr>
          <a:xfrm>
            <a:off x="768096" y="18288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x23"/>
          <p:cNvSpPr txBox="1"/>
          <p:nvPr/>
        </p:nvSpPr>
        <p:spPr>
          <a:xfrm>
            <a:off x="768096" y="18470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4" name="tx24"/>
          <p:cNvSpPr txBox="1"/>
          <p:nvPr/>
        </p:nvSpPr>
        <p:spPr>
          <a:xfrm>
            <a:off x="1371600" y="186537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Firmware · ESP32/FreeRTOS</a:t>
            </a:r>
          </a:p>
        </p:txBody>
      </p:sp>
      <p:sp>
        <p:nvSpPr>
          <p:cNvPr id="25" name="tx25"/>
          <p:cNvSpPr txBox="1"/>
          <p:nvPr/>
        </p:nvSpPr>
        <p:spPr>
          <a:xfrm>
            <a:off x="786384" y="251460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Dual-core drive + RS485 NPK</a:t>
            </a:r>
          </a:p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Dosing state machine · secure link</a:t>
            </a:r>
          </a:p>
        </p:txBody>
      </p:sp>
      <p:sp>
        <p:nvSpPr>
          <p:cNvPr id="26" name="rr26"/>
          <p:cNvSpPr/>
          <p:nvPr/>
        </p:nvSpPr>
        <p:spPr>
          <a:xfrm>
            <a:off x="4297680" y="155448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7" name="bar26"/>
          <p:cNvSpPr/>
          <p:nvPr/>
        </p:nvSpPr>
        <p:spPr>
          <a:xfrm>
            <a:off x="4297680" y="155448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r28"/>
          <p:cNvSpPr/>
          <p:nvPr/>
        </p:nvSpPr>
        <p:spPr>
          <a:xfrm>
            <a:off x="4517136" y="18288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x29"/>
          <p:cNvSpPr txBox="1"/>
          <p:nvPr/>
        </p:nvSpPr>
        <p:spPr>
          <a:xfrm>
            <a:off x="4517136" y="18470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x30"/>
          <p:cNvSpPr txBox="1"/>
          <p:nvPr/>
        </p:nvSpPr>
        <p:spPr>
          <a:xfrm>
            <a:off x="5120640" y="186537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AI Vision · Raspberry Pi</a:t>
            </a:r>
          </a:p>
        </p:txBody>
      </p:sp>
      <p:sp>
        <p:nvSpPr>
          <p:cNvPr id="31" name="tx31"/>
          <p:cNvSpPr txBox="1"/>
          <p:nvPr/>
        </p:nvSpPr>
        <p:spPr>
          <a:xfrm>
            <a:off x="4535424" y="251460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YOLOv8n weed/disease/obstacle</a:t>
            </a:r>
          </a:p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Coral TPU · training notebooks</a:t>
            </a:r>
          </a:p>
        </p:txBody>
      </p:sp>
      <p:sp>
        <p:nvSpPr>
          <p:cNvPr id="32" name="rr32"/>
          <p:cNvSpPr/>
          <p:nvPr/>
        </p:nvSpPr>
        <p:spPr>
          <a:xfrm>
            <a:off x="8046720" y="155448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3" name="bar32"/>
          <p:cNvSpPr/>
          <p:nvPr/>
        </p:nvSpPr>
        <p:spPr>
          <a:xfrm>
            <a:off x="8046720" y="155448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rr34"/>
          <p:cNvSpPr/>
          <p:nvPr/>
        </p:nvSpPr>
        <p:spPr>
          <a:xfrm>
            <a:off x="8266176" y="18288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x35"/>
          <p:cNvSpPr txBox="1"/>
          <p:nvPr/>
        </p:nvSpPr>
        <p:spPr>
          <a:xfrm>
            <a:off x="8266176" y="18470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6" name="tx36"/>
          <p:cNvSpPr txBox="1"/>
          <p:nvPr/>
        </p:nvSpPr>
        <p:spPr>
          <a:xfrm>
            <a:off x="8869680" y="186537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Navigation &amp; Systems</a:t>
            </a:r>
          </a:p>
        </p:txBody>
      </p:sp>
      <p:sp>
        <p:nvSpPr>
          <p:cNvPr id="37" name="tx37"/>
          <p:cNvSpPr txBox="1"/>
          <p:nvPr/>
        </p:nvSpPr>
        <p:spPr>
          <a:xfrm>
            <a:off x="8284464" y="251460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EKF + GPS + vision geo-tag</a:t>
            </a:r>
          </a:p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Snake planner · ROS2 · simulator</a:t>
            </a:r>
          </a:p>
        </p:txBody>
      </p:sp>
      <p:sp>
        <p:nvSpPr>
          <p:cNvPr id="38" name="rr38"/>
          <p:cNvSpPr/>
          <p:nvPr/>
        </p:nvSpPr>
        <p:spPr>
          <a:xfrm>
            <a:off x="548640" y="370332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9" name="bar38"/>
          <p:cNvSpPr/>
          <p:nvPr/>
        </p:nvSpPr>
        <p:spPr>
          <a:xfrm>
            <a:off x="548640" y="370332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rr40"/>
          <p:cNvSpPr/>
          <p:nvPr/>
        </p:nvSpPr>
        <p:spPr>
          <a:xfrm>
            <a:off x="768096" y="397764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x41"/>
          <p:cNvSpPr txBox="1"/>
          <p:nvPr/>
        </p:nvSpPr>
        <p:spPr>
          <a:xfrm>
            <a:off x="768096" y="399592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42" name="tx42"/>
          <p:cNvSpPr txBox="1"/>
          <p:nvPr/>
        </p:nvSpPr>
        <p:spPr>
          <a:xfrm>
            <a:off x="1371600" y="401421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Software Tooling</a:t>
            </a:r>
          </a:p>
        </p:txBody>
      </p:sp>
      <p:sp>
        <p:nvSpPr>
          <p:cNvPr id="43" name="tx43"/>
          <p:cNvSpPr txBox="1"/>
          <p:nvPr/>
        </p:nvSpPr>
        <p:spPr>
          <a:xfrm>
            <a:off x="786384" y="466344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Live dashboard + Telegram</a:t>
            </a:r>
          </a:p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CI pipeline · black-box logging</a:t>
            </a:r>
          </a:p>
        </p:txBody>
      </p:sp>
      <p:sp>
        <p:nvSpPr>
          <p:cNvPr id="44" name="rr44"/>
          <p:cNvSpPr/>
          <p:nvPr/>
        </p:nvSpPr>
        <p:spPr>
          <a:xfrm>
            <a:off x="4297680" y="370332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5" name="bar44"/>
          <p:cNvSpPr/>
          <p:nvPr/>
        </p:nvSpPr>
        <p:spPr>
          <a:xfrm>
            <a:off x="4297680" y="370332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6A3EA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rr46"/>
          <p:cNvSpPr/>
          <p:nvPr/>
        </p:nvSpPr>
        <p:spPr>
          <a:xfrm>
            <a:off x="4517136" y="397764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6A3EA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x47"/>
          <p:cNvSpPr txBox="1"/>
          <p:nvPr/>
        </p:nvSpPr>
        <p:spPr>
          <a:xfrm>
            <a:off x="4517136" y="399592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48" name="tx48"/>
          <p:cNvSpPr txBox="1"/>
          <p:nvPr/>
        </p:nvSpPr>
        <p:spPr>
          <a:xfrm>
            <a:off x="5120640" y="401421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Hardware Design</a:t>
            </a:r>
          </a:p>
        </p:txBody>
      </p:sp>
      <p:sp>
        <p:nvSpPr>
          <p:cNvPr id="49" name="tx49"/>
          <p:cNvSpPr txBox="1"/>
          <p:nvPr/>
        </p:nvSpPr>
        <p:spPr>
          <a:xfrm>
            <a:off x="4535424" y="466344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Verified circuit + wiring v2</a:t>
            </a:r>
          </a:p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110-part costed BOM (+15 audit)</a:t>
            </a:r>
          </a:p>
        </p:txBody>
      </p:sp>
      <p:sp>
        <p:nvSpPr>
          <p:cNvPr id="50" name="rr50"/>
          <p:cNvSpPr/>
          <p:nvPr/>
        </p:nvSpPr>
        <p:spPr>
          <a:xfrm>
            <a:off x="8046720" y="370332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51" name="bar50"/>
          <p:cNvSpPr/>
          <p:nvPr/>
        </p:nvSpPr>
        <p:spPr>
          <a:xfrm>
            <a:off x="8046720" y="370332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C62828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rr52"/>
          <p:cNvSpPr/>
          <p:nvPr/>
        </p:nvSpPr>
        <p:spPr>
          <a:xfrm>
            <a:off x="8266176" y="397764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C62828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tx53"/>
          <p:cNvSpPr txBox="1"/>
          <p:nvPr/>
        </p:nvSpPr>
        <p:spPr>
          <a:xfrm>
            <a:off x="8266176" y="399592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54" name="tx54"/>
          <p:cNvSpPr txBox="1"/>
          <p:nvPr/>
        </p:nvSpPr>
        <p:spPr>
          <a:xfrm>
            <a:off x="8869680" y="4014216"/>
            <a:ext cx="256032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Field Reliability</a:t>
            </a:r>
          </a:p>
        </p:txBody>
      </p:sp>
      <p:sp>
        <p:nvSpPr>
          <p:cNvPr id="55" name="tx55"/>
          <p:cNvSpPr txBox="1"/>
          <p:nvPr/>
        </p:nvSpPr>
        <p:spPr>
          <a:xfrm>
            <a:off x="8284464" y="4663440"/>
            <a:ext cx="310896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10 real field risks engineered</a:t>
            </a:r>
          </a:p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Heat, stall, comms-loss, sealing</a:t>
            </a:r>
          </a:p>
        </p:txBody>
      </p:sp>
      <p:sp>
        <p:nvSpPr>
          <p:cNvPr id="56" name="tx56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i="1" dirty="0">
                <a:solidFill>
                  <a:srgbClr val="5B6B63"/>
                </a:solidFill>
                <a:latin typeface="Calibri"/>
              </a:rPr>
              <a:t>Built end-to-end by our 4-member team — software validated in simulation; hardware integration is next.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POC HYPOTHESIS &amp; METRICS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What we will prove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00200"/>
            <a:ext cx="11064240" cy="960120"/>
          </a:xfrm>
          <a:prstGeom prst="roundRect">
            <a:avLst>
              <a:gd name="adj" fmla="val 10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</p:spPr>
        <p:txBody>
          <a:bodyPr/>
          <a:lstStyle/>
          <a:p/>
        </p:txBody>
      </p:sp>
      <p:sp>
        <p:nvSpPr>
          <p:cNvPr id="21" name="tx21"/>
          <p:cNvSpPr txBox="1"/>
          <p:nvPr/>
        </p:nvSpPr>
        <p:spPr>
          <a:xfrm>
            <a:off x="822960" y="1737360"/>
            <a:ext cx="10515600" cy="73152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F7A3D"/>
                </a:solidFill>
                <a:latin typeface="Calibri"/>
              </a:rPr>
              <a:t>Hypothesis:  </a:t>
            </a:r>
            <a:r>
              <a:rPr lang="en-US" sz="1300" dirty="0">
                <a:solidFill>
                  <a:srgbClr val="17241E"/>
                </a:solidFill>
                <a:latin typeface="Calibri"/>
              </a:rPr>
              <a:t>per-plant sensing + targeted dosing cuts fertiliser/chemical use sharply — with no yield loss.</a:t>
            </a:r>
          </a:p>
        </p:txBody>
      </p:sp>
      <p:sp>
        <p:nvSpPr>
          <p:cNvPr id="22" name="rr22"/>
          <p:cNvSpPr/>
          <p:nvPr/>
        </p:nvSpPr>
        <p:spPr>
          <a:xfrm>
            <a:off x="548640" y="283464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3" name="bar22"/>
          <p:cNvSpPr/>
          <p:nvPr/>
        </p:nvSpPr>
        <p:spPr>
          <a:xfrm>
            <a:off x="548640" y="283464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x24"/>
          <p:cNvSpPr txBox="1"/>
          <p:nvPr/>
        </p:nvSpPr>
        <p:spPr>
          <a:xfrm>
            <a:off x="786384" y="309067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Input reduction</a:t>
            </a:r>
          </a:p>
        </p:txBody>
      </p:sp>
      <p:sp>
        <p:nvSpPr>
          <p:cNvPr id="25" name="tx25"/>
          <p:cNvSpPr txBox="1"/>
          <p:nvPr/>
        </p:nvSpPr>
        <p:spPr>
          <a:xfrm>
            <a:off x="786384" y="3794760"/>
            <a:ext cx="3108960" cy="9601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fertiliser &amp; pesticide saved vs hand-broadcasting</a:t>
            </a:r>
          </a:p>
        </p:txBody>
      </p:sp>
      <p:sp>
        <p:nvSpPr>
          <p:cNvPr id="26" name="rr26"/>
          <p:cNvSpPr/>
          <p:nvPr/>
        </p:nvSpPr>
        <p:spPr>
          <a:xfrm>
            <a:off x="4297680" y="283464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7" name="bar26"/>
          <p:cNvSpPr/>
          <p:nvPr/>
        </p:nvSpPr>
        <p:spPr>
          <a:xfrm>
            <a:off x="4297680" y="283464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x28"/>
          <p:cNvSpPr txBox="1"/>
          <p:nvPr/>
        </p:nvSpPr>
        <p:spPr>
          <a:xfrm>
            <a:off x="4535424" y="309067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Detection accuracy</a:t>
            </a:r>
          </a:p>
        </p:txBody>
      </p:sp>
      <p:sp>
        <p:nvSpPr>
          <p:cNvPr id="29" name="tx29"/>
          <p:cNvSpPr txBox="1"/>
          <p:nvPr/>
        </p:nvSpPr>
        <p:spPr>
          <a:xfrm>
            <a:off x="4535424" y="3794760"/>
            <a:ext cx="3108960" cy="9601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weed/disease precision &amp; recall; dosing placement (cm)</a:t>
            </a:r>
          </a:p>
        </p:txBody>
      </p:sp>
      <p:sp>
        <p:nvSpPr>
          <p:cNvPr id="30" name="rr30"/>
          <p:cNvSpPr/>
          <p:nvPr/>
        </p:nvSpPr>
        <p:spPr>
          <a:xfrm>
            <a:off x="8046720" y="283464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1" name="bar30"/>
          <p:cNvSpPr/>
          <p:nvPr/>
        </p:nvSpPr>
        <p:spPr>
          <a:xfrm>
            <a:off x="8046720" y="2834640"/>
            <a:ext cx="3566160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x32"/>
          <p:cNvSpPr txBox="1"/>
          <p:nvPr/>
        </p:nvSpPr>
        <p:spPr>
          <a:xfrm>
            <a:off x="8284464" y="3090672"/>
            <a:ext cx="3145536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Coverage &amp; economics</a:t>
            </a:r>
          </a:p>
        </p:txBody>
      </p:sp>
      <p:sp>
        <p:nvSpPr>
          <p:cNvPr id="33" name="tx33"/>
          <p:cNvSpPr txBox="1"/>
          <p:nvPr/>
        </p:nvSpPr>
        <p:spPr>
          <a:xfrm>
            <a:off x="8284464" y="3794760"/>
            <a:ext cx="3108960" cy="9601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area per charge; cost saving per acre per season</a:t>
            </a:r>
          </a:p>
        </p:txBody>
      </p:sp>
      <p:sp>
        <p:nvSpPr>
          <p:cNvPr id="34" name="rr34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14000"/>
            </a:avLst>
          </a:prstGeom>
          <a:solidFill>
            <a:srgbClr val="0F4C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x35"/>
          <p:cNvSpPr txBox="1"/>
          <p:nvPr/>
        </p:nvSpPr>
        <p:spPr>
          <a:xfrm>
            <a:off x="822960" y="5257800"/>
            <a:ext cx="10515600" cy="64008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2A900"/>
                </a:solidFill>
                <a:latin typeface="Calibri"/>
              </a:rPr>
              <a:t>Targets to prove in pilot:  </a:t>
            </a:r>
            <a:r>
              <a:rPr lang="en-US" sz="1250" dirty="0">
                <a:solidFill>
                  <a:srgbClr val="FFFFFF"/>
                </a:solidFill>
                <a:latin typeface="Calibri"/>
              </a:rPr>
              <a:t>30–50% input reduction  ·  &gt;85% detection accuracy.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PROJECTED IMPACT &amp; SCALE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The numbers we're chasing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0020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tx21"/>
          <p:cNvSpPr txBox="1"/>
          <p:nvPr/>
        </p:nvSpPr>
        <p:spPr>
          <a:xfrm>
            <a:off x="685800" y="1691640"/>
            <a:ext cx="32918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F4C2A"/>
                </a:solidFill>
                <a:latin typeface="Calibri"/>
              </a:rPr>
              <a:t>Fertiliser / acre (kg)</a:t>
            </a:r>
          </a:p>
        </p:txBody>
      </p:sp>
      <p:sp>
        <p:nvSpPr>
          <p:cNvPr id="22" name="r22"/>
          <p:cNvSpPr/>
          <p:nvPr/>
        </p:nvSpPr>
        <p:spPr>
          <a:xfrm>
            <a:off x="822960" y="3671316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822960" y="3182112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822960" y="2692908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822960" y="4160520"/>
            <a:ext cx="3108960" cy="13716"/>
          </a:xfrm>
          <a:prstGeom prst="rect">
            <a:avLst/>
          </a:prstGeom>
          <a:solidFill>
            <a:srgbClr val="AEBDB0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rr26"/>
          <p:cNvSpPr/>
          <p:nvPr/>
        </p:nvSpPr>
        <p:spPr>
          <a:xfrm>
            <a:off x="1211580" y="2381597"/>
            <a:ext cx="777240" cy="1778923"/>
          </a:xfrm>
          <a:prstGeom prst="roundRect">
            <a:avLst>
              <a:gd name="adj" fmla="val 12000"/>
            </a:avLst>
          </a:prstGeom>
          <a:solidFill>
            <a:srgbClr val="E0934B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x27"/>
          <p:cNvSpPr txBox="1"/>
          <p:nvPr/>
        </p:nvSpPr>
        <p:spPr>
          <a:xfrm>
            <a:off x="822960" y="2107277"/>
            <a:ext cx="155448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100</a:t>
            </a:r>
          </a:p>
        </p:txBody>
      </p:sp>
      <p:sp>
        <p:nvSpPr>
          <p:cNvPr id="28" name="tx28"/>
          <p:cNvSpPr txBox="1"/>
          <p:nvPr/>
        </p:nvSpPr>
        <p:spPr>
          <a:xfrm>
            <a:off x="822960" y="4197096"/>
            <a:ext cx="15544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Broadcast</a:t>
            </a:r>
          </a:p>
        </p:txBody>
      </p:sp>
      <p:sp>
        <p:nvSpPr>
          <p:cNvPr id="29" name="rr29"/>
          <p:cNvSpPr/>
          <p:nvPr/>
        </p:nvSpPr>
        <p:spPr>
          <a:xfrm>
            <a:off x="2766060" y="3182112"/>
            <a:ext cx="777240" cy="978408"/>
          </a:xfrm>
          <a:prstGeom prst="roundRect">
            <a:avLst>
              <a:gd name="adj" fmla="val 12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2377440" y="2907792"/>
            <a:ext cx="155448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55</a:t>
            </a:r>
          </a:p>
        </p:txBody>
      </p:sp>
      <p:sp>
        <p:nvSpPr>
          <p:cNvPr id="31" name="tx31"/>
          <p:cNvSpPr txBox="1"/>
          <p:nvPr/>
        </p:nvSpPr>
        <p:spPr>
          <a:xfrm>
            <a:off x="2377440" y="4197096"/>
            <a:ext cx="15544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</a:t>
            </a:r>
          </a:p>
        </p:txBody>
      </p:sp>
      <p:sp>
        <p:nvSpPr>
          <p:cNvPr id="32" name="rr32"/>
          <p:cNvSpPr/>
          <p:nvPr/>
        </p:nvSpPr>
        <p:spPr>
          <a:xfrm>
            <a:off x="4297680" y="160020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3" name="tx33"/>
          <p:cNvSpPr txBox="1"/>
          <p:nvPr/>
        </p:nvSpPr>
        <p:spPr>
          <a:xfrm>
            <a:off x="4434840" y="1691640"/>
            <a:ext cx="32918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F4C2A"/>
                </a:solidFill>
                <a:latin typeface="Calibri"/>
              </a:rPr>
              <a:t>Cost / acre / season (₹)</a:t>
            </a:r>
          </a:p>
        </p:txBody>
      </p:sp>
      <p:sp>
        <p:nvSpPr>
          <p:cNvPr id="34" name="r34"/>
          <p:cNvSpPr/>
          <p:nvPr/>
        </p:nvSpPr>
        <p:spPr>
          <a:xfrm>
            <a:off x="4572000" y="3671316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r35"/>
          <p:cNvSpPr/>
          <p:nvPr/>
        </p:nvSpPr>
        <p:spPr>
          <a:xfrm>
            <a:off x="4572000" y="3182112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4572000" y="2692908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7"/>
          <p:cNvSpPr/>
          <p:nvPr/>
        </p:nvSpPr>
        <p:spPr>
          <a:xfrm>
            <a:off x="4572000" y="4160520"/>
            <a:ext cx="3108960" cy="13716"/>
          </a:xfrm>
          <a:prstGeom prst="rect">
            <a:avLst/>
          </a:prstGeom>
          <a:solidFill>
            <a:srgbClr val="AEBDB0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rr38"/>
          <p:cNvSpPr/>
          <p:nvPr/>
        </p:nvSpPr>
        <p:spPr>
          <a:xfrm>
            <a:off x="4960620" y="2381597"/>
            <a:ext cx="777240" cy="1778923"/>
          </a:xfrm>
          <a:prstGeom prst="roundRect">
            <a:avLst>
              <a:gd name="adj" fmla="val 12000"/>
            </a:avLst>
          </a:prstGeom>
          <a:solidFill>
            <a:srgbClr val="E0934B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x39"/>
          <p:cNvSpPr txBox="1"/>
          <p:nvPr/>
        </p:nvSpPr>
        <p:spPr>
          <a:xfrm>
            <a:off x="4572000" y="2107277"/>
            <a:ext cx="155448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6,000</a:t>
            </a:r>
          </a:p>
        </p:txBody>
      </p:sp>
      <p:sp>
        <p:nvSpPr>
          <p:cNvPr id="40" name="tx40"/>
          <p:cNvSpPr txBox="1"/>
          <p:nvPr/>
        </p:nvSpPr>
        <p:spPr>
          <a:xfrm>
            <a:off x="4572000" y="4197096"/>
            <a:ext cx="15544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Before</a:t>
            </a:r>
          </a:p>
        </p:txBody>
      </p:sp>
      <p:sp>
        <p:nvSpPr>
          <p:cNvPr id="41" name="rr41"/>
          <p:cNvSpPr/>
          <p:nvPr/>
        </p:nvSpPr>
        <p:spPr>
          <a:xfrm>
            <a:off x="6515100" y="3093166"/>
            <a:ext cx="777240" cy="1067354"/>
          </a:xfrm>
          <a:prstGeom prst="roundRect">
            <a:avLst>
              <a:gd name="adj" fmla="val 12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x42"/>
          <p:cNvSpPr txBox="1"/>
          <p:nvPr/>
        </p:nvSpPr>
        <p:spPr>
          <a:xfrm>
            <a:off x="6126480" y="2818846"/>
            <a:ext cx="155448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3,600</a:t>
            </a:r>
          </a:p>
        </p:txBody>
      </p:sp>
      <p:sp>
        <p:nvSpPr>
          <p:cNvPr id="43" name="tx43"/>
          <p:cNvSpPr txBox="1"/>
          <p:nvPr/>
        </p:nvSpPr>
        <p:spPr>
          <a:xfrm>
            <a:off x="6126480" y="4197096"/>
            <a:ext cx="155448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With</a:t>
            </a:r>
          </a:p>
        </p:txBody>
      </p:sp>
      <p:sp>
        <p:nvSpPr>
          <p:cNvPr id="44" name="rr44"/>
          <p:cNvSpPr/>
          <p:nvPr/>
        </p:nvSpPr>
        <p:spPr>
          <a:xfrm>
            <a:off x="8046720" y="160020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5" name="tx45"/>
          <p:cNvSpPr txBox="1"/>
          <p:nvPr/>
        </p:nvSpPr>
        <p:spPr>
          <a:xfrm>
            <a:off x="8183880" y="1691640"/>
            <a:ext cx="329184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F4C2A"/>
                </a:solidFill>
                <a:latin typeface="Calibri"/>
              </a:rPr>
              <a:t>Farms served (3-yr)</a:t>
            </a:r>
          </a:p>
        </p:txBody>
      </p:sp>
      <p:sp>
        <p:nvSpPr>
          <p:cNvPr id="46" name="r46"/>
          <p:cNvSpPr/>
          <p:nvPr/>
        </p:nvSpPr>
        <p:spPr>
          <a:xfrm>
            <a:off x="8321040" y="3671316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r47"/>
          <p:cNvSpPr/>
          <p:nvPr/>
        </p:nvSpPr>
        <p:spPr>
          <a:xfrm>
            <a:off x="8321040" y="3182112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r48"/>
          <p:cNvSpPr/>
          <p:nvPr/>
        </p:nvSpPr>
        <p:spPr>
          <a:xfrm>
            <a:off x="8321040" y="2692908"/>
            <a:ext cx="3108960" cy="9144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r49"/>
          <p:cNvSpPr/>
          <p:nvPr/>
        </p:nvSpPr>
        <p:spPr>
          <a:xfrm>
            <a:off x="8321040" y="4160520"/>
            <a:ext cx="3108960" cy="13716"/>
          </a:xfrm>
          <a:prstGeom prst="rect">
            <a:avLst/>
          </a:prstGeom>
          <a:solidFill>
            <a:srgbClr val="AEBDB0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rr50"/>
          <p:cNvSpPr/>
          <p:nvPr/>
        </p:nvSpPr>
        <p:spPr>
          <a:xfrm>
            <a:off x="8580120" y="4114800"/>
            <a:ext cx="518160" cy="45720"/>
          </a:xfrm>
          <a:prstGeom prst="roundRect">
            <a:avLst>
              <a:gd name="adj" fmla="val 12000"/>
            </a:avLst>
          </a:prstGeom>
          <a:solidFill>
            <a:srgbClr val="9CCC9F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x51"/>
          <p:cNvSpPr txBox="1"/>
          <p:nvPr/>
        </p:nvSpPr>
        <p:spPr>
          <a:xfrm>
            <a:off x="8321040" y="3840480"/>
            <a:ext cx="103632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10</a:t>
            </a:r>
          </a:p>
        </p:txBody>
      </p:sp>
      <p:sp>
        <p:nvSpPr>
          <p:cNvPr id="52" name="tx52"/>
          <p:cNvSpPr txBox="1"/>
          <p:nvPr/>
        </p:nvSpPr>
        <p:spPr>
          <a:xfrm>
            <a:off x="8321040" y="4197096"/>
            <a:ext cx="103632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Yr1</a:t>
            </a:r>
          </a:p>
        </p:txBody>
      </p:sp>
      <p:sp>
        <p:nvSpPr>
          <p:cNvPr id="53" name="rr53"/>
          <p:cNvSpPr/>
          <p:nvPr/>
        </p:nvSpPr>
        <p:spPr>
          <a:xfrm>
            <a:off x="9616440" y="3804736"/>
            <a:ext cx="518160" cy="355784"/>
          </a:xfrm>
          <a:prstGeom prst="roundRect">
            <a:avLst>
              <a:gd name="adj" fmla="val 12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tx54"/>
          <p:cNvSpPr txBox="1"/>
          <p:nvPr/>
        </p:nvSpPr>
        <p:spPr>
          <a:xfrm>
            <a:off x="9357360" y="3530416"/>
            <a:ext cx="103632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80</a:t>
            </a:r>
          </a:p>
        </p:txBody>
      </p:sp>
      <p:sp>
        <p:nvSpPr>
          <p:cNvPr id="55" name="tx55"/>
          <p:cNvSpPr txBox="1"/>
          <p:nvPr/>
        </p:nvSpPr>
        <p:spPr>
          <a:xfrm>
            <a:off x="9357360" y="4197096"/>
            <a:ext cx="103632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Yr2</a:t>
            </a:r>
          </a:p>
        </p:txBody>
      </p:sp>
      <p:sp>
        <p:nvSpPr>
          <p:cNvPr id="56" name="rr56"/>
          <p:cNvSpPr/>
          <p:nvPr/>
        </p:nvSpPr>
        <p:spPr>
          <a:xfrm>
            <a:off x="10652760" y="2381597"/>
            <a:ext cx="518160" cy="1778923"/>
          </a:xfrm>
          <a:prstGeom prst="roundRect">
            <a:avLst>
              <a:gd name="adj" fmla="val 12000"/>
            </a:avLst>
          </a:prstGeom>
          <a:solidFill>
            <a:srgbClr val="0F4C2A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tx57"/>
          <p:cNvSpPr txBox="1"/>
          <p:nvPr/>
        </p:nvSpPr>
        <p:spPr>
          <a:xfrm>
            <a:off x="10393680" y="2107277"/>
            <a:ext cx="1036320" cy="256032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400</a:t>
            </a:r>
          </a:p>
        </p:txBody>
      </p:sp>
      <p:sp>
        <p:nvSpPr>
          <p:cNvPr id="58" name="tx58"/>
          <p:cNvSpPr txBox="1"/>
          <p:nvPr/>
        </p:nvSpPr>
        <p:spPr>
          <a:xfrm>
            <a:off x="10393680" y="4197096"/>
            <a:ext cx="103632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Yr3</a:t>
            </a:r>
          </a:p>
        </p:txBody>
      </p:sp>
      <p:sp>
        <p:nvSpPr>
          <p:cNvPr id="59" name="rr59"/>
          <p:cNvSpPr/>
          <p:nvPr/>
        </p:nvSpPr>
        <p:spPr>
          <a:xfrm>
            <a:off x="548640" y="4846320"/>
            <a:ext cx="356616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60" name="tx60"/>
          <p:cNvSpPr txBox="1"/>
          <p:nvPr/>
        </p:nvSpPr>
        <p:spPr>
          <a:xfrm>
            <a:off x="768096" y="4974336"/>
            <a:ext cx="3200400" cy="329184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AI detection accuracy</a:t>
            </a:r>
          </a:p>
        </p:txBody>
      </p:sp>
      <p:sp>
        <p:nvSpPr>
          <p:cNvPr id="61" name="tx61"/>
          <p:cNvSpPr txBox="1"/>
          <p:nvPr/>
        </p:nvSpPr>
        <p:spPr>
          <a:xfrm>
            <a:off x="768096" y="5248656"/>
            <a:ext cx="32004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0E8F86"/>
                </a:solidFill>
                <a:latin typeface="Calibri"/>
              </a:rPr>
              <a:t>88%</a:t>
            </a:r>
          </a:p>
        </p:txBody>
      </p:sp>
      <p:sp>
        <p:nvSpPr>
          <p:cNvPr id="62" name="rr62"/>
          <p:cNvSpPr/>
          <p:nvPr/>
        </p:nvSpPr>
        <p:spPr>
          <a:xfrm>
            <a:off x="786384" y="5669280"/>
            <a:ext cx="3090672" cy="128016"/>
          </a:xfrm>
          <a:prstGeom prst="roundRect">
            <a:avLst>
              <a:gd name="adj" fmla="val 50000"/>
            </a:avLst>
          </a:prstGeom>
          <a:solidFill>
            <a:srgbClr val="E9EFEA"/>
          </a:solidFill>
          <a:ln>
            <a:noFill/>
          </a:ln>
        </p:spPr>
        <p:txBody>
          <a:bodyPr/>
          <a:lstStyle/>
          <a:p/>
        </p:txBody>
      </p:sp>
      <p:sp>
        <p:nvSpPr>
          <p:cNvPr id="63" name="rr63"/>
          <p:cNvSpPr/>
          <p:nvPr/>
        </p:nvSpPr>
        <p:spPr>
          <a:xfrm>
            <a:off x="786384" y="5669280"/>
            <a:ext cx="2719791" cy="128016"/>
          </a:xfrm>
          <a:prstGeom prst="roundRect">
            <a:avLst>
              <a:gd name="adj" fmla="val 5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64" name="rr64"/>
          <p:cNvSpPr/>
          <p:nvPr/>
        </p:nvSpPr>
        <p:spPr>
          <a:xfrm>
            <a:off x="4297680" y="4846320"/>
            <a:ext cx="356616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65" name="tx65"/>
          <p:cNvSpPr txBox="1"/>
          <p:nvPr/>
        </p:nvSpPr>
        <p:spPr>
          <a:xfrm>
            <a:off x="4517136" y="4974336"/>
            <a:ext cx="3200400" cy="329184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Fertiliser reduction</a:t>
            </a:r>
          </a:p>
        </p:txBody>
      </p:sp>
      <p:sp>
        <p:nvSpPr>
          <p:cNvPr id="66" name="tx66"/>
          <p:cNvSpPr txBox="1"/>
          <p:nvPr/>
        </p:nvSpPr>
        <p:spPr>
          <a:xfrm>
            <a:off x="4517136" y="5248656"/>
            <a:ext cx="32004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F7A3D"/>
                </a:solidFill>
                <a:latin typeface="Calibri"/>
              </a:rPr>
              <a:t>45%</a:t>
            </a:r>
          </a:p>
        </p:txBody>
      </p:sp>
      <p:sp>
        <p:nvSpPr>
          <p:cNvPr id="67" name="rr67"/>
          <p:cNvSpPr/>
          <p:nvPr/>
        </p:nvSpPr>
        <p:spPr>
          <a:xfrm>
            <a:off x="4535424" y="5669280"/>
            <a:ext cx="3090672" cy="128016"/>
          </a:xfrm>
          <a:prstGeom prst="roundRect">
            <a:avLst>
              <a:gd name="adj" fmla="val 50000"/>
            </a:avLst>
          </a:prstGeom>
          <a:solidFill>
            <a:srgbClr val="E9EFEA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rr68"/>
          <p:cNvSpPr/>
          <p:nvPr/>
        </p:nvSpPr>
        <p:spPr>
          <a:xfrm>
            <a:off x="4535424" y="5669280"/>
            <a:ext cx="1390802" cy="128016"/>
          </a:xfrm>
          <a:prstGeom prst="roundRect">
            <a:avLst>
              <a:gd name="adj" fmla="val 5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rr69"/>
          <p:cNvSpPr/>
          <p:nvPr/>
        </p:nvSpPr>
        <p:spPr>
          <a:xfrm>
            <a:off x="8046720" y="4846320"/>
            <a:ext cx="356616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70" name="tx70"/>
          <p:cNvSpPr txBox="1"/>
          <p:nvPr/>
        </p:nvSpPr>
        <p:spPr>
          <a:xfrm>
            <a:off x="8266176" y="4974336"/>
            <a:ext cx="3200400" cy="329184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7241E"/>
                </a:solidFill>
                <a:latin typeface="Calibri"/>
              </a:rPr>
              <a:t>Cost saving / acre</a:t>
            </a:r>
          </a:p>
        </p:txBody>
      </p:sp>
      <p:sp>
        <p:nvSpPr>
          <p:cNvPr id="71" name="tx71"/>
          <p:cNvSpPr txBox="1"/>
          <p:nvPr/>
        </p:nvSpPr>
        <p:spPr>
          <a:xfrm>
            <a:off x="8266176" y="5248656"/>
            <a:ext cx="32004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rgbClr val="EF6C00"/>
                </a:solidFill>
                <a:latin typeface="Calibri"/>
              </a:rPr>
              <a:t>40%</a:t>
            </a:r>
          </a:p>
        </p:txBody>
      </p:sp>
      <p:sp>
        <p:nvSpPr>
          <p:cNvPr id="72" name="rr72"/>
          <p:cNvSpPr/>
          <p:nvPr/>
        </p:nvSpPr>
        <p:spPr>
          <a:xfrm>
            <a:off x="8284464" y="5669280"/>
            <a:ext cx="3090672" cy="128016"/>
          </a:xfrm>
          <a:prstGeom prst="roundRect">
            <a:avLst>
              <a:gd name="adj" fmla="val 50000"/>
            </a:avLst>
          </a:prstGeom>
          <a:solidFill>
            <a:srgbClr val="E9EFEA"/>
          </a:solidFill>
          <a:ln>
            <a:noFill/>
          </a:ln>
        </p:spPr>
        <p:txBody>
          <a:bodyPr/>
          <a:lstStyle/>
          <a:p/>
        </p:txBody>
      </p:sp>
      <p:sp>
        <p:nvSpPr>
          <p:cNvPr id="73" name="rr73"/>
          <p:cNvSpPr/>
          <p:nvPr/>
        </p:nvSpPr>
        <p:spPr>
          <a:xfrm>
            <a:off x="8284464" y="5669280"/>
            <a:ext cx="1236268" cy="128016"/>
          </a:xfrm>
          <a:prstGeom prst="roundRect">
            <a:avLst>
              <a:gd name="adj" fmla="val 5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74" name="tx74"/>
          <p:cNvSpPr txBox="1"/>
          <p:nvPr/>
        </p:nvSpPr>
        <p:spPr>
          <a:xfrm>
            <a:off x="548640" y="6035040"/>
            <a:ext cx="110642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i="1" dirty="0">
                <a:solidFill>
                  <a:srgbClr val="5B6B63"/>
                </a:solidFill>
                <a:latin typeface="Calibri"/>
              </a:rPr>
              <a:t>Projected from our simulation model &amp; targets — to be validated in field pilots.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EXECUTION &amp; GO-TO-MARKET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From prototype to fleet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20"/>
          <p:cNvSpPr/>
          <p:nvPr/>
        </p:nvSpPr>
        <p:spPr>
          <a:xfrm>
            <a:off x="822960" y="2148840"/>
            <a:ext cx="10515600" cy="45720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rr21"/>
          <p:cNvSpPr/>
          <p:nvPr/>
        </p:nvSpPr>
        <p:spPr>
          <a:xfrm>
            <a:off x="1709928.0" y="1737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r22"/>
          <p:cNvSpPr/>
          <p:nvPr/>
        </p:nvSpPr>
        <p:spPr>
          <a:xfrm>
            <a:off x="548640" y="224028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3" name="bar22"/>
          <p:cNvSpPr/>
          <p:nvPr/>
        </p:nvSpPr>
        <p:spPr>
          <a:xfrm>
            <a:off x="548640" y="224028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r24"/>
          <p:cNvSpPr/>
          <p:nvPr/>
        </p:nvSpPr>
        <p:spPr>
          <a:xfrm>
            <a:off x="768096" y="25146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x25"/>
          <p:cNvSpPr txBox="1"/>
          <p:nvPr/>
        </p:nvSpPr>
        <p:spPr>
          <a:xfrm>
            <a:off x="768096" y="25328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6" name="tx26"/>
          <p:cNvSpPr txBox="1"/>
          <p:nvPr/>
        </p:nvSpPr>
        <p:spPr>
          <a:xfrm>
            <a:off x="1371600" y="255117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Hardware prototype</a:t>
            </a:r>
          </a:p>
        </p:txBody>
      </p:sp>
      <p:sp>
        <p:nvSpPr>
          <p:cNvPr id="27" name="tx27"/>
          <p:cNvSpPr txBox="1"/>
          <p:nvPr/>
        </p:nvSpPr>
        <p:spPr>
          <a:xfrm>
            <a:off x="786384" y="320040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BTS7960 drive, NPK probe, pan/tilt sprayer, LiFePO4 — ~3 months</a:t>
            </a:r>
          </a:p>
        </p:txBody>
      </p:sp>
      <p:sp>
        <p:nvSpPr>
          <p:cNvPr id="28" name="tx28"/>
          <p:cNvSpPr txBox="1"/>
          <p:nvPr/>
        </p:nvSpPr>
        <p:spPr>
          <a:xfrm>
            <a:off x="786384" y="2340864"/>
            <a:ext cx="2157984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150" dirty="0">
                <a:solidFill>
                  <a:srgbClr val="1F7A3D"/>
                </a:solidFill>
                <a:latin typeface="Calibri"/>
              </a:rPr>
              <a:t>BUILD</a:t>
            </a:r>
          </a:p>
        </p:txBody>
      </p:sp>
      <p:sp>
        <p:nvSpPr>
          <p:cNvPr id="29" name="rr29"/>
          <p:cNvSpPr/>
          <p:nvPr/>
        </p:nvSpPr>
        <p:spPr>
          <a:xfrm>
            <a:off x="4507992.0" y="1737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r30"/>
          <p:cNvSpPr/>
          <p:nvPr/>
        </p:nvSpPr>
        <p:spPr>
          <a:xfrm>
            <a:off x="3346704" y="224028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1" name="bar30"/>
          <p:cNvSpPr/>
          <p:nvPr/>
        </p:nvSpPr>
        <p:spPr>
          <a:xfrm>
            <a:off x="3346704" y="224028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rr32"/>
          <p:cNvSpPr/>
          <p:nvPr/>
        </p:nvSpPr>
        <p:spPr>
          <a:xfrm>
            <a:off x="3566160" y="25146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x33"/>
          <p:cNvSpPr txBox="1"/>
          <p:nvPr/>
        </p:nvSpPr>
        <p:spPr>
          <a:xfrm>
            <a:off x="3566160" y="25328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tx34"/>
          <p:cNvSpPr txBox="1"/>
          <p:nvPr/>
        </p:nvSpPr>
        <p:spPr>
          <a:xfrm>
            <a:off x="4169664" y="255117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Pilot on 5–10 farms</a:t>
            </a:r>
          </a:p>
        </p:txBody>
      </p:sp>
      <p:sp>
        <p:nvSpPr>
          <p:cNvPr id="35" name="tx35"/>
          <p:cNvSpPr txBox="1"/>
          <p:nvPr/>
        </p:nvSpPr>
        <p:spPr>
          <a:xfrm>
            <a:off x="3584448" y="320040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measure input savings, accuracy &amp; uptime</a:t>
            </a:r>
          </a:p>
        </p:txBody>
      </p:sp>
      <p:sp>
        <p:nvSpPr>
          <p:cNvPr id="36" name="tx36"/>
          <p:cNvSpPr txBox="1"/>
          <p:nvPr/>
        </p:nvSpPr>
        <p:spPr>
          <a:xfrm>
            <a:off x="3584448" y="2340864"/>
            <a:ext cx="2157984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150" dirty="0">
                <a:solidFill>
                  <a:srgbClr val="0E8F86"/>
                </a:solidFill>
                <a:latin typeface="Calibri"/>
              </a:rPr>
              <a:t>TEST</a:t>
            </a:r>
          </a:p>
        </p:txBody>
      </p:sp>
      <p:sp>
        <p:nvSpPr>
          <p:cNvPr id="37" name="rr37"/>
          <p:cNvSpPr/>
          <p:nvPr/>
        </p:nvSpPr>
        <p:spPr>
          <a:xfrm>
            <a:off x="7306056.0" y="1737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rr38"/>
          <p:cNvSpPr/>
          <p:nvPr/>
        </p:nvSpPr>
        <p:spPr>
          <a:xfrm>
            <a:off x="6144768" y="224028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9" name="bar38"/>
          <p:cNvSpPr/>
          <p:nvPr/>
        </p:nvSpPr>
        <p:spPr>
          <a:xfrm>
            <a:off x="6144768" y="224028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rr40"/>
          <p:cNvSpPr/>
          <p:nvPr/>
        </p:nvSpPr>
        <p:spPr>
          <a:xfrm>
            <a:off x="6364224" y="25146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x41"/>
          <p:cNvSpPr txBox="1"/>
          <p:nvPr/>
        </p:nvSpPr>
        <p:spPr>
          <a:xfrm>
            <a:off x="6364224" y="25328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x42"/>
          <p:cNvSpPr txBox="1"/>
          <p:nvPr/>
        </p:nvSpPr>
        <p:spPr>
          <a:xfrm>
            <a:off x="6967728" y="255117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Harden from field data</a:t>
            </a:r>
          </a:p>
        </p:txBody>
      </p:sp>
      <p:sp>
        <p:nvSpPr>
          <p:cNvPr id="43" name="tx43"/>
          <p:cNvSpPr txBox="1"/>
          <p:nvPr/>
        </p:nvSpPr>
        <p:spPr>
          <a:xfrm>
            <a:off x="6382512" y="320040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tune dosing + AI; seal for dust &amp; 40–45 °C heat</a:t>
            </a:r>
          </a:p>
        </p:txBody>
      </p:sp>
      <p:sp>
        <p:nvSpPr>
          <p:cNvPr id="44" name="tx44"/>
          <p:cNvSpPr txBox="1"/>
          <p:nvPr/>
        </p:nvSpPr>
        <p:spPr>
          <a:xfrm>
            <a:off x="6382512" y="2340864"/>
            <a:ext cx="2157984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150" dirty="0">
                <a:solidFill>
                  <a:srgbClr val="EF6C00"/>
                </a:solidFill>
                <a:latin typeface="Calibri"/>
              </a:rPr>
              <a:t>ITERATE</a:t>
            </a:r>
          </a:p>
        </p:txBody>
      </p:sp>
      <p:sp>
        <p:nvSpPr>
          <p:cNvPr id="45" name="rr45"/>
          <p:cNvSpPr/>
          <p:nvPr/>
        </p:nvSpPr>
        <p:spPr>
          <a:xfrm>
            <a:off x="10104120.0" y="1737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rr46"/>
          <p:cNvSpPr/>
          <p:nvPr/>
        </p:nvSpPr>
        <p:spPr>
          <a:xfrm>
            <a:off x="8942832" y="2240280"/>
            <a:ext cx="2615184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7" name="bar46"/>
          <p:cNvSpPr/>
          <p:nvPr/>
        </p:nvSpPr>
        <p:spPr>
          <a:xfrm>
            <a:off x="8942832" y="2240280"/>
            <a:ext cx="2615184" cy="109728"/>
          </a:xfrm>
          <a:prstGeom prst="round2SameRect">
            <a:avLst>
              <a:gd name="adj1" fmla="val 60000"/>
              <a:gd name="adj2" fmla="val 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rr48"/>
          <p:cNvSpPr/>
          <p:nvPr/>
        </p:nvSpPr>
        <p:spPr>
          <a:xfrm>
            <a:off x="9162288" y="25146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tx49"/>
          <p:cNvSpPr txBox="1"/>
          <p:nvPr/>
        </p:nvSpPr>
        <p:spPr>
          <a:xfrm>
            <a:off x="9162288" y="2532888"/>
            <a:ext cx="457200" cy="45720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0" name="tx50"/>
          <p:cNvSpPr txBox="1"/>
          <p:nvPr/>
        </p:nvSpPr>
        <p:spPr>
          <a:xfrm>
            <a:off x="9765792" y="2551176"/>
            <a:ext cx="1609344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FPO / CHC roll-out</a:t>
            </a:r>
          </a:p>
        </p:txBody>
      </p:sp>
      <p:sp>
        <p:nvSpPr>
          <p:cNvPr id="51" name="tx51"/>
          <p:cNvSpPr txBox="1"/>
          <p:nvPr/>
        </p:nvSpPr>
        <p:spPr>
          <a:xfrm>
            <a:off x="9180576" y="3200400"/>
            <a:ext cx="2157984" cy="1600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201168" indent="-201168" algn="l">
              <a:spcBef>
                <a:spcPts val="0"/>
              </a:spcBef>
              <a:spcAft>
                <a:spcPts val="140"/>
              </a:spcAft>
              <a:buFont typeface="Arial"/>
              <a:buChar char="•"/>
            </a:pPr>
            <a:r>
              <a:rPr lang="en-US" sz="1050" dirty="0">
                <a:solidFill>
                  <a:srgbClr val="5B6B63"/>
                </a:solidFill>
                <a:latin typeface="Calibri"/>
              </a:rPr>
              <a:t>SMAM/AIF support → Rover-as-a-Service + data subscription</a:t>
            </a:r>
          </a:p>
        </p:txBody>
      </p:sp>
      <p:sp>
        <p:nvSpPr>
          <p:cNvPr id="52" name="tx52"/>
          <p:cNvSpPr txBox="1"/>
          <p:nvPr/>
        </p:nvSpPr>
        <p:spPr>
          <a:xfrm>
            <a:off x="9180576" y="2340864"/>
            <a:ext cx="2157984" cy="2743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150" dirty="0">
                <a:solidFill>
                  <a:srgbClr val="3F51B5"/>
                </a:solidFill>
                <a:latin typeface="Calibri"/>
              </a:rPr>
              <a:t>SCALE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TEAM OF 4 &amp; IMPACT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Built end-to-end at IIT Bombay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45920"/>
            <a:ext cx="261518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rr21"/>
          <p:cNvSpPr/>
          <p:nvPr/>
        </p:nvSpPr>
        <p:spPr>
          <a:xfrm>
            <a:off x="1444752.0" y="1920240"/>
            <a:ext cx="822960" cy="822960"/>
          </a:xfrm>
          <a:prstGeom prst="roundRect">
            <a:avLst>
              <a:gd name="adj" fmla="val 30000"/>
            </a:avLst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x22"/>
          <p:cNvSpPr txBox="1"/>
          <p:nvPr/>
        </p:nvSpPr>
        <p:spPr>
          <a:xfrm>
            <a:off x="1444752.0" y="1938528"/>
            <a:ext cx="822960" cy="82296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HK</a:t>
            </a:r>
          </a:p>
        </p:txBody>
      </p:sp>
      <p:sp>
        <p:nvSpPr>
          <p:cNvPr id="23" name="tx23"/>
          <p:cNvSpPr txBox="1"/>
          <p:nvPr/>
        </p:nvSpPr>
        <p:spPr>
          <a:xfrm>
            <a:off x="685800" y="2880360"/>
            <a:ext cx="2340864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Hitanshu Kapadiya</a:t>
            </a:r>
          </a:p>
        </p:txBody>
      </p:sp>
      <p:sp>
        <p:nvSpPr>
          <p:cNvPr id="24" name="tx24"/>
          <p:cNvSpPr txBox="1"/>
          <p:nvPr/>
        </p:nvSpPr>
        <p:spPr>
          <a:xfrm>
            <a:off x="685800" y="3337560"/>
            <a:ext cx="2340864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Mechanical Engineering</a:t>
            </a:r>
          </a:p>
        </p:txBody>
      </p:sp>
      <p:sp>
        <p:nvSpPr>
          <p:cNvPr id="25" name="rr25"/>
          <p:cNvSpPr/>
          <p:nvPr/>
        </p:nvSpPr>
        <p:spPr>
          <a:xfrm>
            <a:off x="3346704" y="1645920"/>
            <a:ext cx="261518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6" name="rr26"/>
          <p:cNvSpPr/>
          <p:nvPr/>
        </p:nvSpPr>
        <p:spPr>
          <a:xfrm>
            <a:off x="4242816.0" y="1920240"/>
            <a:ext cx="822960" cy="822960"/>
          </a:xfrm>
          <a:prstGeom prst="roundRect">
            <a:avLst>
              <a:gd name="adj" fmla="val 30000"/>
            </a:avLst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x27"/>
          <p:cNvSpPr txBox="1"/>
          <p:nvPr/>
        </p:nvSpPr>
        <p:spPr>
          <a:xfrm>
            <a:off x="4242816.0" y="1938528"/>
            <a:ext cx="822960" cy="82296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VG</a:t>
            </a:r>
          </a:p>
        </p:txBody>
      </p:sp>
      <p:sp>
        <p:nvSpPr>
          <p:cNvPr id="28" name="tx28"/>
          <p:cNvSpPr txBox="1"/>
          <p:nvPr/>
        </p:nvSpPr>
        <p:spPr>
          <a:xfrm>
            <a:off x="3483864" y="2880360"/>
            <a:ext cx="2340864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Vivek Gupta</a:t>
            </a:r>
          </a:p>
        </p:txBody>
      </p:sp>
      <p:sp>
        <p:nvSpPr>
          <p:cNvPr id="29" name="tx29"/>
          <p:cNvSpPr txBox="1"/>
          <p:nvPr/>
        </p:nvSpPr>
        <p:spPr>
          <a:xfrm>
            <a:off x="3483864" y="3337560"/>
            <a:ext cx="2340864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Mechanical Engineering</a:t>
            </a:r>
          </a:p>
        </p:txBody>
      </p:sp>
      <p:sp>
        <p:nvSpPr>
          <p:cNvPr id="30" name="rr30"/>
          <p:cNvSpPr/>
          <p:nvPr/>
        </p:nvSpPr>
        <p:spPr>
          <a:xfrm>
            <a:off x="6144768" y="1645920"/>
            <a:ext cx="261518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1" name="rr31"/>
          <p:cNvSpPr/>
          <p:nvPr/>
        </p:nvSpPr>
        <p:spPr>
          <a:xfrm>
            <a:off x="7040880.0" y="1920240"/>
            <a:ext cx="822960" cy="822960"/>
          </a:xfrm>
          <a:prstGeom prst="roundRect">
            <a:avLst>
              <a:gd name="adj" fmla="val 30000"/>
            </a:avLst>
          </a:prstGeom>
          <a:solidFill>
            <a:srgbClr val="3F51B5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x32"/>
          <p:cNvSpPr txBox="1"/>
          <p:nvPr/>
        </p:nvSpPr>
        <p:spPr>
          <a:xfrm>
            <a:off x="7040880.0" y="1938528"/>
            <a:ext cx="822960" cy="82296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33" name="tx33"/>
          <p:cNvSpPr txBox="1"/>
          <p:nvPr/>
        </p:nvSpPr>
        <p:spPr>
          <a:xfrm>
            <a:off x="6281928" y="2880360"/>
            <a:ext cx="2340864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Shreyash Wagh</a:t>
            </a:r>
          </a:p>
        </p:txBody>
      </p:sp>
      <p:sp>
        <p:nvSpPr>
          <p:cNvPr id="34" name="tx34"/>
          <p:cNvSpPr txBox="1"/>
          <p:nvPr/>
        </p:nvSpPr>
        <p:spPr>
          <a:xfrm>
            <a:off x="6281928" y="3337560"/>
            <a:ext cx="2340864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Mechanical Engineering</a:t>
            </a:r>
          </a:p>
        </p:txBody>
      </p:sp>
      <p:sp>
        <p:nvSpPr>
          <p:cNvPr id="35" name="rr35"/>
          <p:cNvSpPr/>
          <p:nvPr/>
        </p:nvSpPr>
        <p:spPr>
          <a:xfrm>
            <a:off x="8942832" y="1645920"/>
            <a:ext cx="261518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6" name="rr36"/>
          <p:cNvSpPr/>
          <p:nvPr/>
        </p:nvSpPr>
        <p:spPr>
          <a:xfrm>
            <a:off x="9838944.0" y="1920240"/>
            <a:ext cx="822960" cy="822960"/>
          </a:xfrm>
          <a:prstGeom prst="roundRect">
            <a:avLst>
              <a:gd name="adj" fmla="val 30000"/>
            </a:avLst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x37"/>
          <p:cNvSpPr txBox="1"/>
          <p:nvPr/>
        </p:nvSpPr>
        <p:spPr>
          <a:xfrm>
            <a:off x="9838944.0" y="1938528"/>
            <a:ext cx="822960" cy="82296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PN</a:t>
            </a:r>
          </a:p>
        </p:txBody>
      </p:sp>
      <p:sp>
        <p:nvSpPr>
          <p:cNvPr id="38" name="tx38"/>
          <p:cNvSpPr txBox="1"/>
          <p:nvPr/>
        </p:nvSpPr>
        <p:spPr>
          <a:xfrm>
            <a:off x="9079992" y="2880360"/>
            <a:ext cx="2340864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"/>
              </a:spcAft>
              <a:buNone/>
            </a:pPr>
            <a:r>
              <a:rPr lang="en-US" sz="1200" b="1" dirty="0">
                <a:solidFill>
                  <a:srgbClr val="17241E"/>
                </a:solidFill>
                <a:latin typeface="Calibri"/>
              </a:rPr>
              <a:t>Pritish Nandy</a:t>
            </a:r>
          </a:p>
        </p:txBody>
      </p:sp>
      <p:sp>
        <p:nvSpPr>
          <p:cNvPr id="39" name="tx39"/>
          <p:cNvSpPr txBox="1"/>
          <p:nvPr/>
        </p:nvSpPr>
        <p:spPr>
          <a:xfrm>
            <a:off x="9079992" y="3337560"/>
            <a:ext cx="2340864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Aerospace Engineering</a:t>
            </a:r>
          </a:p>
        </p:txBody>
      </p:sp>
      <p:sp>
        <p:nvSpPr>
          <p:cNvPr id="40" name="rr40"/>
          <p:cNvSpPr/>
          <p:nvPr/>
        </p:nvSpPr>
        <p:spPr>
          <a:xfrm>
            <a:off x="548640" y="4160520"/>
            <a:ext cx="11064240" cy="1783080"/>
          </a:xfrm>
          <a:prstGeom prst="roundRect">
            <a:avLst>
              <a:gd name="adj" fmla="val 7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41" name="tx41"/>
          <p:cNvSpPr txBox="1"/>
          <p:nvPr/>
        </p:nvSpPr>
        <p:spPr>
          <a:xfrm>
            <a:off x="868680" y="4343400"/>
            <a:ext cx="10515600" cy="14630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80"/>
              </a:spcAft>
              <a:buNone/>
            </a:pPr>
            <a:r>
              <a:rPr lang="en-US" sz="1200" b="1" dirty="0">
                <a:solidFill>
                  <a:srgbClr val="1F7A3D"/>
                </a:solidFill>
                <a:latin typeface="Calibri"/>
              </a:rPr>
              <a:t>Why us  </a:t>
            </a:r>
            <a:r>
              <a:rPr lang="en-US" sz="1150" dirty="0">
                <a:solidFill>
                  <a:srgbClr val="17241E"/>
                </a:solidFill>
                <a:latin typeface="Calibri"/>
              </a:rPr>
              <a:t>— an IIT Bombay team of 4 that built the full software stack, circuit design and mechanical fabrication end-to-end.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F7A3D"/>
                </a:solidFill>
                <a:latin typeface="Calibri"/>
              </a:rPr>
              <a:t>Impact  </a:t>
            </a:r>
            <a:r>
              <a:rPr lang="en-US" sz="1150" dirty="0">
                <a:solidFill>
                  <a:srgbClr val="17241E"/>
                </a:solidFill>
                <a:latin typeface="Calibri"/>
              </a:rPr>
              <a:t>— lower input cost, less runoff, healthier soil and higher net income: affordable precision farming for every smallholder.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EDF3EE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x10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spc="200" dirty="0">
                <a:solidFill>
                  <a:srgbClr val="1F7A3D"/>
                </a:solidFill>
                <a:latin typeface="Calibri"/>
              </a:rPr>
              <a:t>BUDGET &amp; BUILD TIERS</a:t>
            </a:r>
          </a:p>
        </p:txBody>
      </p:sp>
      <p:sp>
        <p:nvSpPr>
          <p:cNvPr id="11" name="tx11"/>
          <p:cNvSpPr txBox="1"/>
          <p:nvPr/>
        </p:nvSpPr>
        <p:spPr>
          <a:xfrm>
            <a:off x="530352" y="658368"/>
            <a:ext cx="9601200" cy="640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17241E"/>
                </a:solidFill>
                <a:latin typeface="Calibri"/>
              </a:rPr>
              <a:t>Affordable, modular, costed</a:t>
            </a:r>
          </a:p>
        </p:txBody>
      </p:sp>
      <p:sp>
        <p:nvSpPr>
          <p:cNvPr id="12" name="r12"/>
          <p:cNvSpPr/>
          <p:nvPr/>
        </p:nvSpPr>
        <p:spPr>
          <a:xfrm>
            <a:off x="566928" y="1316736"/>
            <a:ext cx="822960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x13"/>
          <p:cNvSpPr txBox="1"/>
          <p:nvPr/>
        </p:nvSpPr>
        <p:spPr>
          <a:xfrm>
            <a:off x="9784080" y="457200"/>
            <a:ext cx="22860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4C2A"/>
                </a:solidFill>
                <a:latin typeface="Calibri"/>
              </a:rPr>
              <a:t>AgriRover</a:t>
            </a:r>
          </a:p>
        </p:txBody>
      </p:sp>
      <p:sp>
        <p:nvSpPr>
          <p:cNvPr id="14" name="rr14"/>
          <p:cNvSpPr/>
          <p:nvPr/>
        </p:nvSpPr>
        <p:spPr>
          <a:xfrm>
            <a:off x="11475720" y="4937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rr20"/>
          <p:cNvSpPr/>
          <p:nvPr/>
        </p:nvSpPr>
        <p:spPr>
          <a:xfrm>
            <a:off x="548640" y="1645920"/>
            <a:ext cx="7315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1" name="r21"/>
          <p:cNvSpPr/>
          <p:nvPr/>
        </p:nvSpPr>
        <p:spPr>
          <a:xfrm>
            <a:off x="548640" y="1646834"/>
            <a:ext cx="128016" cy="1278331"/>
          </a:xfrm>
          <a:prstGeom prst="rect">
            <a:avLst/>
          </a:prstGeom>
          <a:solidFill>
            <a:srgbClr val="1F7A3D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x22"/>
          <p:cNvSpPr txBox="1"/>
          <p:nvPr/>
        </p:nvSpPr>
        <p:spPr>
          <a:xfrm>
            <a:off x="868680" y="1792224"/>
            <a:ext cx="4572000" cy="10058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Core / demo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ESP32 + moisture + NPK + relay dosing + power/drive</a:t>
            </a:r>
          </a:p>
        </p:txBody>
      </p:sp>
      <p:sp>
        <p:nvSpPr>
          <p:cNvPr id="23" name="tx23"/>
          <p:cNvSpPr txBox="1"/>
          <p:nvPr/>
        </p:nvSpPr>
        <p:spPr>
          <a:xfrm>
            <a:off x="5212080" y="1792224"/>
            <a:ext cx="2514600" cy="10058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F7A3D"/>
                </a:solidFill>
                <a:latin typeface="Calibri"/>
              </a:rPr>
              <a:t>₹8,000 – 14,000</a:t>
            </a:r>
          </a:p>
        </p:txBody>
      </p:sp>
      <p:sp>
        <p:nvSpPr>
          <p:cNvPr id="24" name="rr24"/>
          <p:cNvSpPr/>
          <p:nvPr/>
        </p:nvSpPr>
        <p:spPr>
          <a:xfrm>
            <a:off x="548640" y="3090672"/>
            <a:ext cx="7315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548640" y="3091586"/>
            <a:ext cx="128016" cy="1278331"/>
          </a:xfrm>
          <a:prstGeom prst="rect">
            <a:avLst/>
          </a:prstGeom>
          <a:solidFill>
            <a:srgbClr val="0E8F86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x26"/>
          <p:cNvSpPr txBox="1"/>
          <p:nvPr/>
        </p:nvSpPr>
        <p:spPr>
          <a:xfrm>
            <a:off x="868680" y="3236976"/>
            <a:ext cx="4572000" cy="10058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Core + Navigation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adds GPS, encoders, INA219, OLED, safety</a:t>
            </a:r>
          </a:p>
        </p:txBody>
      </p:sp>
      <p:sp>
        <p:nvSpPr>
          <p:cNvPr id="27" name="tx27"/>
          <p:cNvSpPr txBox="1"/>
          <p:nvPr/>
        </p:nvSpPr>
        <p:spPr>
          <a:xfrm>
            <a:off x="5212080" y="3236976"/>
            <a:ext cx="2514600" cy="10058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0E8F86"/>
                </a:solidFill>
                <a:latin typeface="Calibri"/>
              </a:rPr>
              <a:t>₹12,000 – 20,000</a:t>
            </a:r>
          </a:p>
        </p:txBody>
      </p:sp>
      <p:sp>
        <p:nvSpPr>
          <p:cNvPr id="28" name="rr28"/>
          <p:cNvSpPr/>
          <p:nvPr/>
        </p:nvSpPr>
        <p:spPr>
          <a:xfrm>
            <a:off x="548640" y="4535424"/>
            <a:ext cx="7315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548640" y="4536338"/>
            <a:ext cx="128016" cy="1278331"/>
          </a:xfrm>
          <a:prstGeom prst="rect">
            <a:avLst/>
          </a:prstGeom>
          <a:solidFill>
            <a:srgbClr val="0F4C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x30"/>
          <p:cNvSpPr txBox="1"/>
          <p:nvPr/>
        </p:nvSpPr>
        <p:spPr>
          <a:xfrm>
            <a:off x="868680" y="4681728"/>
            <a:ext cx="4572000" cy="10058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"/>
              </a:spcAft>
              <a:buNone/>
            </a:pPr>
            <a:r>
              <a:rPr lang="en-US" sz="1350" b="1" dirty="0">
                <a:solidFill>
                  <a:srgbClr val="17241E"/>
                </a:solidFill>
                <a:latin typeface="Calibri"/>
              </a:rPr>
              <a:t>Full AI build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everything — within the ₹47K cap</a:t>
            </a:r>
          </a:p>
        </p:txBody>
      </p:sp>
      <p:sp>
        <p:nvSpPr>
          <p:cNvPr id="31" name="tx31"/>
          <p:cNvSpPr txBox="1"/>
          <p:nvPr/>
        </p:nvSpPr>
        <p:spPr>
          <a:xfrm>
            <a:off x="5212080" y="4681728"/>
            <a:ext cx="2514600" cy="10058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0F4C2A"/>
                </a:solidFill>
                <a:latin typeface="Calibri"/>
              </a:rPr>
              <a:t>₹27,000 – 48,000</a:t>
            </a:r>
          </a:p>
        </p:txBody>
      </p:sp>
      <p:sp>
        <p:nvSpPr>
          <p:cNvPr id="32" name="rr32"/>
          <p:cNvSpPr/>
          <p:nvPr/>
        </p:nvSpPr>
        <p:spPr>
          <a:xfrm>
            <a:off x="8092440" y="1645920"/>
            <a:ext cx="3520440" cy="4059936"/>
          </a:xfrm>
          <a:prstGeom prst="roundRect">
            <a:avLst>
              <a:gd name="adj" fmla="val 6000"/>
            </a:avLst>
          </a:prstGeom>
          <a:solidFill>
            <a:srgbClr val="F3F8F1"/>
          </a:solidFill>
          <a:ln w="6350">
            <a:solidFill>
              <a:srgbClr val="E3EBE5"/>
            </a:solidFill>
          </a:ln>
          <a:effectLst>
            <a:outerShdw blurRad="90000" dist="34000" dir="5400000" rotWithShape="0">
              <a:srgbClr val="16241C">
                <a:alpha val="16000"/>
              </a:srgbClr>
            </a:outerShdw>
          </a:effectLst>
        </p:spPr>
        <p:txBody>
          <a:bodyPr/>
          <a:lstStyle/>
          <a:p/>
        </p:txBody>
      </p:sp>
      <p:sp>
        <p:nvSpPr>
          <p:cNvPr id="33" name="tx33"/>
          <p:cNvSpPr txBox="1"/>
          <p:nvPr/>
        </p:nvSpPr>
        <p:spPr>
          <a:xfrm>
            <a:off x="8366760" y="1874520"/>
            <a:ext cx="3017520" cy="36576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250" b="1" dirty="0">
                <a:solidFill>
                  <a:srgbClr val="1F7A3D"/>
                </a:solidFill>
                <a:latin typeface="Calibri"/>
              </a:rPr>
              <a:t>Notes</a:t>
            </a:r>
          </a:p>
          <a:p>
            <a:pPr marL="219456" indent="-219456" algn="l">
              <a:spcBef>
                <a:spcPts val="0"/>
              </a:spcBef>
              <a:spcAft>
                <a:spcPts val="160"/>
              </a:spcAft>
              <a:buFont typeface="Arial"/>
              <a:buChar char="•"/>
            </a:pPr>
            <a:r>
              <a:rPr lang="en-US" sz="1050" dirty="0">
                <a:solidFill>
                  <a:srgbClr val="17241E"/>
                </a:solidFill>
                <a:latin typeface="Calibri"/>
              </a:rPr>
              <a:t>Off-the-shelf parts; software is free.</a:t>
            </a:r>
          </a:p>
          <a:p>
            <a:pPr marL="219456" indent="-219456" algn="l">
              <a:spcBef>
                <a:spcPts val="0"/>
              </a:spcBef>
              <a:spcAft>
                <a:spcPts val="160"/>
              </a:spcAft>
              <a:buFont typeface="Arial"/>
              <a:buChar char="•"/>
            </a:pPr>
            <a:r>
              <a:rPr lang="en-US" sz="1050" dirty="0">
                <a:solidFill>
                  <a:srgbClr val="17241E"/>
                </a:solidFill>
                <a:latin typeface="Calibri"/>
              </a:rPr>
              <a:t>3D-printed parts are PETG, not bought.</a:t>
            </a:r>
          </a:p>
          <a:p>
            <a:pPr marL="219456" indent="-219456" algn="l">
              <a:spcBef>
                <a:spcPts val="0"/>
              </a:spcBef>
              <a:spcAft>
                <a:spcPts val="160"/>
              </a:spcAft>
              <a:buFont typeface="Arial"/>
              <a:buChar char="•"/>
            </a:pPr>
            <a:r>
              <a:rPr lang="en-US" sz="1050" dirty="0">
                <a:solidFill>
                  <a:srgbClr val="17241E"/>
                </a:solidFill>
                <a:latin typeface="Calibri"/>
              </a:rPr>
              <a:t>Modular — start at demo tier, scale up.</a:t>
            </a:r>
          </a:p>
          <a:p>
            <a:pPr marL="219456" indent="-219456" algn="l"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1050" i="1" dirty="0">
                <a:solidFill>
                  <a:srgbClr val="5B6B63"/>
                </a:solidFill>
                <a:latin typeface="Calibri"/>
              </a:rPr>
              <a:t>Verify prices before ordering.</a:t>
            </a:r>
          </a:p>
        </p:txBody>
      </p:sp>
      <p:sp>
        <p:nvSpPr>
          <p:cNvPr id="200" name="r200"/>
          <p:cNvSpPr/>
          <p:nvPr/>
        </p:nvSpPr>
        <p:spPr>
          <a:xfrm>
            <a:off x="548640" y="6419088"/>
            <a:ext cx="11064240" cy="12802"/>
          </a:xfrm>
          <a:prstGeom prst="rect">
            <a:avLst/>
          </a:prstGeom>
          <a:solidFill>
            <a:srgbClr val="E3EBE5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x201"/>
          <p:cNvSpPr txBox="1"/>
          <p:nvPr/>
        </p:nvSpPr>
        <p:spPr>
          <a:xfrm>
            <a:off x="548640" y="6455664"/>
            <a:ext cx="822960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B6B63"/>
                </a:solidFill>
                <a:latin typeface="Calibri"/>
              </a:rPr>
              <a:t>AgriRover  ·  IITB–Groww INV.ENT  ·  Track A</a:t>
            </a:r>
          </a:p>
        </p:txBody>
      </p:sp>
      <p:sp>
        <p:nvSpPr>
          <p:cNvPr id="202" name="tx202"/>
          <p:cNvSpPr txBox="1"/>
          <p:nvPr/>
        </p:nvSpPr>
        <p:spPr>
          <a:xfrm>
            <a:off x="10607040" y="6455664"/>
            <a:ext cx="1005840" cy="292608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5B6B6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4C2A"/>
            </a:gs>
            <a:gs pos="100000">
              <a:srgbClr val="0F4C2A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her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F4C2A"/>
              </a:gs>
              <a:gs pos="100000">
                <a:srgbClr val="1F7A3D"/>
              </a:gs>
            </a:gsLst>
            <a:lin ang="27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31" name="tx31"/>
          <p:cNvSpPr txBox="1"/>
          <p:nvPr/>
        </p:nvSpPr>
        <p:spPr>
          <a:xfrm>
            <a:off x="822960" y="731520"/>
            <a:ext cx="10058400" cy="822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32" name="tx32"/>
          <p:cNvSpPr txBox="1"/>
          <p:nvPr/>
        </p:nvSpPr>
        <p:spPr>
          <a:xfrm>
            <a:off x="822960" y="1783080"/>
            <a:ext cx="1005840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CDE7D2"/>
                </a:solidFill>
                <a:latin typeface="Calibri"/>
              </a:rPr>
              <a:t>Precision farming for every small farm.</a:t>
            </a:r>
          </a:p>
        </p:txBody>
      </p:sp>
      <p:sp>
        <p:nvSpPr>
          <p:cNvPr id="33" name="rr33"/>
          <p:cNvSpPr/>
          <p:nvPr/>
        </p:nvSpPr>
        <p:spPr>
          <a:xfrm>
            <a:off x="822960" y="2651760"/>
            <a:ext cx="10332720" cy="1417320"/>
          </a:xfrm>
          <a:prstGeom prst="roundRect">
            <a:avLst>
              <a:gd name="adj" fmla="val 8000"/>
            </a:avLst>
          </a:prstGeom>
          <a:solidFill>
            <a:srgbClr val="11592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x34"/>
          <p:cNvSpPr txBox="1"/>
          <p:nvPr/>
        </p:nvSpPr>
        <p:spPr>
          <a:xfrm>
            <a:off x="1097280" y="2788920"/>
            <a:ext cx="9784080" cy="118872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b="1" spc="200" dirty="0">
                <a:solidFill>
                  <a:srgbClr val="F2A900"/>
                </a:solidFill>
                <a:latin typeface="Calibri"/>
              </a:rPr>
              <a:t>OUR ASK</a:t>
            </a:r>
          </a:p>
          <a:p>
            <a:pPr marL="256032" indent="-256032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Mentorship &amp; a pilot  </a:t>
            </a:r>
            <a:r>
              <a:rPr lang="en-US" sz="1300" dirty="0">
                <a:solidFill>
                  <a:srgbClr val="E6F2E9"/>
                </a:solidFill>
                <a:latin typeface="Calibri"/>
              </a:rPr>
              <a:t>— field access via an FPO / Custom Hiring Centre</a:t>
            </a:r>
          </a:p>
          <a:p>
            <a:pPr marL="256032" indent="-256032" algn="l"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Seed support  </a:t>
            </a:r>
            <a:r>
              <a:rPr lang="en-US" sz="1300" dirty="0">
                <a:solidFill>
                  <a:srgbClr val="E6F2E9"/>
                </a:solidFill>
                <a:latin typeface="Calibri"/>
              </a:rPr>
              <a:t>— to build the hardware prototype and run the first pilots</a:t>
            </a:r>
          </a:p>
        </p:txBody>
      </p:sp>
      <p:sp>
        <p:nvSpPr>
          <p:cNvPr id="35" name="tx35"/>
          <p:cNvSpPr txBox="1"/>
          <p:nvPr/>
        </p:nvSpPr>
        <p:spPr>
          <a:xfrm>
            <a:off x="822960" y="4343400"/>
            <a:ext cx="10332720" cy="4572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/>
              </a:rPr>
              <a:t>Hitanshu Kapadiya · Vivek Gupta · Shreyash Wagh · Pritish Nandy</a:t>
            </a:r>
          </a:p>
        </p:txBody>
      </p:sp>
      <p:sp>
        <p:nvSpPr>
          <p:cNvPr id="36" name="tx36"/>
          <p:cNvSpPr txBox="1"/>
          <p:nvPr/>
        </p:nvSpPr>
        <p:spPr>
          <a:xfrm>
            <a:off x="822960" y="4892040"/>
            <a:ext cx="1033272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2A900"/>
                </a:solidFill>
                <a:latin typeface="Calibri"/>
              </a:rPr>
              <a:t>IIT Bombay  ·  IITB–Groww INV.ENT  ·  Track A</a:t>
            </a:r>
          </a:p>
        </p:txBody>
      </p:sp>
      <p:sp>
        <p:nvSpPr>
          <p:cNvPr id="37" name="rr37"/>
          <p:cNvSpPr/>
          <p:nvPr/>
        </p:nvSpPr>
        <p:spPr>
          <a:xfrm>
            <a:off x="822960" y="5486400"/>
            <a:ext cx="822960" cy="822960"/>
          </a:xfrm>
          <a:prstGeom prst="roundRect">
            <a:avLst>
              <a:gd name="adj" fmla="val 28000"/>
            </a:avLst>
          </a:prstGeom>
          <a:solidFill>
            <a:srgbClr val="F2A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x38"/>
          <p:cNvSpPr txBox="1"/>
          <p:nvPr/>
        </p:nvSpPr>
        <p:spPr>
          <a:xfrm>
            <a:off x="841248" y="5504688"/>
            <a:ext cx="77724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0F4C2A"/>
                </a:solidFill>
                <a:latin typeface="Calibri"/>
              </a:rPr>
              <a:t>A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AgriRover">
  <a:themeElements>
    <a:clrScheme name="AgriRover">
      <a:dk1>
        <a:sysClr val="windowText" lastClr="000000"/>
      </a:dk1>
      <a:lt1>
        <a:sysClr val="window" lastClr="FFFFFF"/>
      </a:lt1>
      <a:dk2>
        <a:srgbClr val="0F4C2A"/>
      </a:dk2>
      <a:lt2>
        <a:srgbClr val="F3F8F1"/>
      </a:lt2>
      <a:accent1>
        <a:srgbClr val="1F7A3D"/>
      </a:accent1>
      <a:accent2>
        <a:srgbClr val="0E8F86"/>
      </a:accent2>
      <a:accent3>
        <a:srgbClr val="F2A900"/>
      </a:accent3>
      <a:accent4>
        <a:srgbClr val="3F51B5"/>
      </a:accent4>
      <a:accent5>
        <a:srgbClr val="EF6C00"/>
      </a:accent5>
      <a:accent6>
        <a:srgbClr val="6A3EA1"/>
      </a:accent6>
      <a:hlink>
        <a:srgbClr val="0563C1"/>
      </a:hlink>
      <a:folHlink>
        <a:srgbClr val="954F72"/>
      </a:folHlink>
    </a:clrScheme>
    <a:fontScheme name="AgriRover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AgriRov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